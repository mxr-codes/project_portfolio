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handoutMasters/handoutMaster1.xml" ContentType="application/vnd.openxmlformats-officedocument.presentationml.handoutMaster+xml"/>
  <Override PartName="/ppt/media/image3.webp" ContentType="image/webp"/>
  <Override PartName="/ppt/media/image4.webp" ContentType="image/webp"/>
  <Override PartName="/ppt/media/image5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276" r:id="rId3"/>
    <p:sldId id="279" r:id="rId4"/>
    <p:sldId id="308" r:id="rId5"/>
    <p:sldId id="334" r:id="rId6"/>
    <p:sldId id="328" r:id="rId7"/>
    <p:sldId id="335" r:id="rId8"/>
    <p:sldId id="283" r:id="rId9"/>
    <p:sldId id="329" r:id="rId10"/>
    <p:sldId id="339" r:id="rId11"/>
    <p:sldId id="338" r:id="rId12"/>
    <p:sldId id="330" r:id="rId13"/>
    <p:sldId id="285" r:id="rId14"/>
    <p:sldId id="331" r:id="rId15"/>
    <p:sldId id="340" r:id="rId16"/>
    <p:sldId id="341" r:id="rId17"/>
    <p:sldId id="342" r:id="rId18"/>
    <p:sldId id="344" r:id="rId19"/>
    <p:sldId id="332" r:id="rId20"/>
    <p:sldId id="345" r:id="rId21"/>
    <p:sldId id="346" r:id="rId22"/>
    <p:sldId id="349" r:id="rId23"/>
    <p:sldId id="347" r:id="rId24"/>
    <p:sldId id="333" r:id="rId25"/>
    <p:sldId id="348" r:id="rId26"/>
    <p:sldId id="337" r:id="rId27"/>
    <p:sldId id="297" r:id="rId28"/>
  </p:sldIdLst>
  <p:sldSz cx="12192000" cy="6858000"/>
  <p:notesSz cx="6858000" cy="9144000"/>
  <p:embeddedFontLst>
    <p:embeddedFont>
      <p:font typeface="黑体" panose="02010609060101010101" charset="-122"/>
      <p:regular r:id="rId34"/>
    </p:embeddedFont>
    <p:embeddedFont>
      <p:font typeface="Montserrat" panose="00000500000000000000"/>
      <p:regular r:id="rId35"/>
    </p:embeddedFont>
    <p:embeddedFont>
      <p:font typeface="MiSans Light" panose="00000400000000000000" charset="-122"/>
      <p:regular r:id="rId36"/>
    </p:embeddedFont>
    <p:embeddedFont>
      <p:font typeface="MiSans Heavy" panose="00000A00000000000000" charset="-122"/>
      <p:bold r:id="rId37"/>
    </p:embeddedFont>
    <p:embeddedFont>
      <p:font typeface="Montserrat ExtraBold" panose="00000900000000000000" charset="0"/>
      <p:bold r:id="rId38"/>
    </p:embeddedFont>
    <p:embeddedFont>
      <p:font typeface="华文细黑" panose="02010600040101010101" pitchFamily="2" charset="-122"/>
      <p:regular r:id="rId39"/>
    </p:embeddedFont>
  </p:embeddedFontLst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61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  <p15:guide id="3" pos="7108" userDrawn="1">
          <p15:clr>
            <a:srgbClr val="A4A3A4"/>
          </p15:clr>
        </p15:guide>
        <p15:guide id="4" pos="405" userDrawn="1">
          <p15:clr>
            <a:srgbClr val="A4A3A4"/>
          </p15:clr>
        </p15:guide>
        <p15:guide id="5" orient="horz" pos="379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3333FF"/>
    <a:srgbClr val="F4F4F4"/>
    <a:srgbClr val="0657CA"/>
    <a:srgbClr val="DDBC6C"/>
    <a:srgbClr val="175083"/>
    <a:srgbClr val="CAA956"/>
    <a:srgbClr val="F1DDCB"/>
    <a:srgbClr val="FFF9F2"/>
    <a:srgbClr val="8A4C2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292" autoAdjust="0"/>
    <p:restoredTop sz="94660"/>
  </p:normalViewPr>
  <p:slideViewPr>
    <p:cSldViewPr snapToGrid="0" showGuides="1">
      <p:cViewPr>
        <p:scale>
          <a:sx n="33" d="100"/>
          <a:sy n="33" d="100"/>
        </p:scale>
        <p:origin x="1620" y="1584"/>
      </p:cViewPr>
      <p:guideLst>
        <p:guide pos="3961"/>
        <p:guide orient="horz" pos="2160"/>
        <p:guide pos="7108"/>
        <p:guide pos="405"/>
        <p:guide orient="horz" pos="379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0" Type="http://schemas.openxmlformats.org/officeDocument/2006/relationships/tags" Target="tags/tag187.xml"/><Relationship Id="rId4" Type="http://schemas.openxmlformats.org/officeDocument/2006/relationships/slide" Target="slides/slide2.xml"/><Relationship Id="rId39" Type="http://schemas.openxmlformats.org/officeDocument/2006/relationships/font" Target="fonts/font6.fntdata"/><Relationship Id="rId38" Type="http://schemas.openxmlformats.org/officeDocument/2006/relationships/font" Target="fonts/font5.fntdata"/><Relationship Id="rId37" Type="http://schemas.openxmlformats.org/officeDocument/2006/relationships/font" Target="fonts/font4.fntdata"/><Relationship Id="rId36" Type="http://schemas.openxmlformats.org/officeDocument/2006/relationships/font" Target="fonts/font3.fntdata"/><Relationship Id="rId35" Type="http://schemas.openxmlformats.org/officeDocument/2006/relationships/font" Target="fonts/font2.fntdata"/><Relationship Id="rId34" Type="http://schemas.openxmlformats.org/officeDocument/2006/relationships/font" Target="fonts/font1.fntdata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黑体" panose="02010609060101010101" charset="-122"/>
              </a:rPr>
            </a:fld>
            <a:endParaRPr lang="zh-CN" altLang="en-US">
              <a:cs typeface="黑体" panose="02010609060101010101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黑体" panose="02010609060101010101" charset="-122"/>
              </a:rPr>
            </a:fld>
            <a:endParaRPr lang="zh-CN" altLang="en-US">
              <a:cs typeface="黑体" panose="02010609060101010101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黑体" panose="02010609060101010101" charset="-122"/>
        <a:ea typeface="黑体" panose="02010609060101010101" charset="-122"/>
        <a:cs typeface="黑体" panose="02010609060101010101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cs typeface="黑体" panose="02010609060101010101" charset="-122"/>
              </a:defRPr>
            </a:lvl1pPr>
          </a:lstStyle>
          <a:p>
            <a:fld id="{297C79FE-DCC0-4620-A566-16CA7A0CE41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cs typeface="黑体" panose="02010609060101010101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cs typeface="黑体" panose="02010609060101010101" charset="-122"/>
              </a:defRPr>
            </a:lvl1pPr>
          </a:lstStyle>
          <a:p>
            <a:fld id="{515A922F-1294-4387-9CB3-FCC8465D972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黑体" panose="02010609060101010101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黑体" panose="02010609060101010101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hemeOverride" Target="../theme/themeOverride1.xml"/><Relationship Id="rId2" Type="http://schemas.openxmlformats.org/officeDocument/2006/relationships/tags" Target="../tags/tag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5" Type="http://schemas.openxmlformats.org/officeDocument/2006/relationships/slideLayout" Target="../slideLayouts/slideLayout2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58.xml"/><Relationship Id="rId20" Type="http://schemas.openxmlformats.org/officeDocument/2006/relationships/tags" Target="../tags/tag57.xml"/><Relationship Id="rId2" Type="http://schemas.openxmlformats.org/officeDocument/2006/relationships/tags" Target="../tags/tag39.xml"/><Relationship Id="rId19" Type="http://schemas.openxmlformats.org/officeDocument/2006/relationships/tags" Target="../tags/tag56.xml"/><Relationship Id="rId18" Type="http://schemas.openxmlformats.org/officeDocument/2006/relationships/tags" Target="../tags/tag55.xml"/><Relationship Id="rId17" Type="http://schemas.openxmlformats.org/officeDocument/2006/relationships/tags" Target="../tags/tag54.xml"/><Relationship Id="rId16" Type="http://schemas.openxmlformats.org/officeDocument/2006/relationships/tags" Target="../tags/tag53.xml"/><Relationship Id="rId15" Type="http://schemas.openxmlformats.org/officeDocument/2006/relationships/tags" Target="../tags/tag52.xml"/><Relationship Id="rId14" Type="http://schemas.openxmlformats.org/officeDocument/2006/relationships/tags" Target="../tags/tag51.xml"/><Relationship Id="rId13" Type="http://schemas.openxmlformats.org/officeDocument/2006/relationships/tags" Target="../tags/tag50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5.xml"/><Relationship Id="rId8" Type="http://schemas.openxmlformats.org/officeDocument/2006/relationships/tags" Target="../tags/tag64.xml"/><Relationship Id="rId7" Type="http://schemas.openxmlformats.org/officeDocument/2006/relationships/image" Target="../media/image2.jpeg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60.xml"/><Relationship Id="rId29" Type="http://schemas.openxmlformats.org/officeDocument/2006/relationships/tags" Target="../tags/tag82.xml"/><Relationship Id="rId28" Type="http://schemas.openxmlformats.org/officeDocument/2006/relationships/tags" Target="../tags/tag81.xml"/><Relationship Id="rId27" Type="http://schemas.openxmlformats.org/officeDocument/2006/relationships/tags" Target="../tags/tag80.xml"/><Relationship Id="rId26" Type="http://schemas.openxmlformats.org/officeDocument/2006/relationships/tags" Target="../tags/tag79.xml"/><Relationship Id="rId25" Type="http://schemas.openxmlformats.org/officeDocument/2006/relationships/image" Target="../media/image5.webp"/><Relationship Id="rId24" Type="http://schemas.openxmlformats.org/officeDocument/2006/relationships/tags" Target="../tags/tag78.xml"/><Relationship Id="rId23" Type="http://schemas.openxmlformats.org/officeDocument/2006/relationships/tags" Target="../tags/tag77.xml"/><Relationship Id="rId22" Type="http://schemas.openxmlformats.org/officeDocument/2006/relationships/tags" Target="../tags/tag76.xml"/><Relationship Id="rId21" Type="http://schemas.openxmlformats.org/officeDocument/2006/relationships/tags" Target="../tags/tag75.xml"/><Relationship Id="rId20" Type="http://schemas.openxmlformats.org/officeDocument/2006/relationships/tags" Target="../tags/tag74.xml"/><Relationship Id="rId2" Type="http://schemas.openxmlformats.org/officeDocument/2006/relationships/tags" Target="../tags/tag59.xml"/><Relationship Id="rId19" Type="http://schemas.openxmlformats.org/officeDocument/2006/relationships/image" Target="../media/image4.webp"/><Relationship Id="rId18" Type="http://schemas.openxmlformats.org/officeDocument/2006/relationships/tags" Target="../tags/tag73.xml"/><Relationship Id="rId17" Type="http://schemas.openxmlformats.org/officeDocument/2006/relationships/tags" Target="../tags/tag72.xml"/><Relationship Id="rId16" Type="http://schemas.openxmlformats.org/officeDocument/2006/relationships/tags" Target="../tags/tag71.xml"/><Relationship Id="rId15" Type="http://schemas.openxmlformats.org/officeDocument/2006/relationships/tags" Target="../tags/tag70.xml"/><Relationship Id="rId14" Type="http://schemas.openxmlformats.org/officeDocument/2006/relationships/tags" Target="../tags/tag69.xml"/><Relationship Id="rId13" Type="http://schemas.openxmlformats.org/officeDocument/2006/relationships/image" Target="../media/image3.webp"/><Relationship Id="rId12" Type="http://schemas.openxmlformats.org/officeDocument/2006/relationships/tags" Target="../tags/tag68.xml"/><Relationship Id="rId11" Type="http://schemas.openxmlformats.org/officeDocument/2006/relationships/tags" Target="../tags/tag67.xml"/><Relationship Id="rId10" Type="http://schemas.openxmlformats.org/officeDocument/2006/relationships/tags" Target="../tags/tag66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91.xml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tags" Target="../tags/tag88.xml"/><Relationship Id="rId5" Type="http://schemas.openxmlformats.org/officeDocument/2006/relationships/tags" Target="../tags/tag87.xml"/><Relationship Id="rId4" Type="http://schemas.openxmlformats.org/officeDocument/2006/relationships/tags" Target="../tags/tag86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117.xml"/><Relationship Id="rId34" Type="http://schemas.openxmlformats.org/officeDocument/2006/relationships/tags" Target="../tags/tag116.xml"/><Relationship Id="rId33" Type="http://schemas.openxmlformats.org/officeDocument/2006/relationships/tags" Target="../tags/tag115.xml"/><Relationship Id="rId32" Type="http://schemas.openxmlformats.org/officeDocument/2006/relationships/tags" Target="../tags/tag114.xml"/><Relationship Id="rId31" Type="http://schemas.openxmlformats.org/officeDocument/2006/relationships/tags" Target="../tags/tag113.xml"/><Relationship Id="rId30" Type="http://schemas.openxmlformats.org/officeDocument/2006/relationships/tags" Target="../tags/tag112.xml"/><Relationship Id="rId3" Type="http://schemas.openxmlformats.org/officeDocument/2006/relationships/tags" Target="../tags/tag85.xml"/><Relationship Id="rId29" Type="http://schemas.openxmlformats.org/officeDocument/2006/relationships/tags" Target="../tags/tag111.xml"/><Relationship Id="rId28" Type="http://schemas.openxmlformats.org/officeDocument/2006/relationships/tags" Target="../tags/tag110.xml"/><Relationship Id="rId27" Type="http://schemas.openxmlformats.org/officeDocument/2006/relationships/tags" Target="../tags/tag109.xml"/><Relationship Id="rId26" Type="http://schemas.openxmlformats.org/officeDocument/2006/relationships/tags" Target="../tags/tag108.xml"/><Relationship Id="rId25" Type="http://schemas.openxmlformats.org/officeDocument/2006/relationships/tags" Target="../tags/tag107.xml"/><Relationship Id="rId24" Type="http://schemas.openxmlformats.org/officeDocument/2006/relationships/tags" Target="../tags/tag106.xml"/><Relationship Id="rId23" Type="http://schemas.openxmlformats.org/officeDocument/2006/relationships/tags" Target="../tags/tag105.xml"/><Relationship Id="rId22" Type="http://schemas.openxmlformats.org/officeDocument/2006/relationships/tags" Target="../tags/tag104.xml"/><Relationship Id="rId21" Type="http://schemas.openxmlformats.org/officeDocument/2006/relationships/tags" Target="../tags/tag103.xml"/><Relationship Id="rId20" Type="http://schemas.openxmlformats.org/officeDocument/2006/relationships/tags" Target="../tags/tag102.xml"/><Relationship Id="rId2" Type="http://schemas.openxmlformats.org/officeDocument/2006/relationships/tags" Target="../tags/tag84.xml"/><Relationship Id="rId19" Type="http://schemas.openxmlformats.org/officeDocument/2006/relationships/tags" Target="../tags/tag101.xml"/><Relationship Id="rId18" Type="http://schemas.openxmlformats.org/officeDocument/2006/relationships/tags" Target="../tags/tag100.xml"/><Relationship Id="rId17" Type="http://schemas.openxmlformats.org/officeDocument/2006/relationships/tags" Target="../tags/tag99.xml"/><Relationship Id="rId16" Type="http://schemas.openxmlformats.org/officeDocument/2006/relationships/tags" Target="../tags/tag98.xml"/><Relationship Id="rId15" Type="http://schemas.openxmlformats.org/officeDocument/2006/relationships/tags" Target="../tags/tag97.xml"/><Relationship Id="rId14" Type="http://schemas.openxmlformats.org/officeDocument/2006/relationships/tags" Target="../tags/tag96.xml"/><Relationship Id="rId13" Type="http://schemas.openxmlformats.org/officeDocument/2006/relationships/tags" Target="../tags/tag95.xml"/><Relationship Id="rId12" Type="http://schemas.openxmlformats.org/officeDocument/2006/relationships/tags" Target="../tags/tag94.xml"/><Relationship Id="rId11" Type="http://schemas.openxmlformats.org/officeDocument/2006/relationships/tags" Target="../tags/tag93.xml"/><Relationship Id="rId10" Type="http://schemas.openxmlformats.org/officeDocument/2006/relationships/tags" Target="../tags/tag92.xml"/><Relationship Id="rId1" Type="http://schemas.openxmlformats.org/officeDocument/2006/relationships/tags" Target="../tags/tag8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25.xml"/><Relationship Id="rId8" Type="http://schemas.openxmlformats.org/officeDocument/2006/relationships/tags" Target="../tags/tag124.xml"/><Relationship Id="rId7" Type="http://schemas.openxmlformats.org/officeDocument/2006/relationships/tags" Target="../tags/tag123.xml"/><Relationship Id="rId6" Type="http://schemas.openxmlformats.org/officeDocument/2006/relationships/tags" Target="../tags/tag122.xml"/><Relationship Id="rId5" Type="http://schemas.openxmlformats.org/officeDocument/2006/relationships/tags" Target="../tags/tag121.xml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openxmlformats.org/officeDocument/2006/relationships/tags" Target="../tags/tag118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29.xml"/><Relationship Id="rId12" Type="http://schemas.openxmlformats.org/officeDocument/2006/relationships/tags" Target="../tags/tag128.xml"/><Relationship Id="rId11" Type="http://schemas.openxmlformats.org/officeDocument/2006/relationships/tags" Target="../tags/tag127.xml"/><Relationship Id="rId10" Type="http://schemas.openxmlformats.org/officeDocument/2006/relationships/tags" Target="../tags/tag126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13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41.xml"/><Relationship Id="rId12" Type="http://schemas.openxmlformats.org/officeDocument/2006/relationships/tags" Target="../tags/tag140.xml"/><Relationship Id="rId11" Type="http://schemas.openxmlformats.org/officeDocument/2006/relationships/tags" Target="../tags/tag139.xml"/><Relationship Id="rId10" Type="http://schemas.openxmlformats.org/officeDocument/2006/relationships/tags" Target="../tags/tag138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49.xml"/><Relationship Id="rId8" Type="http://schemas.openxmlformats.org/officeDocument/2006/relationships/tags" Target="../tags/tag148.xml"/><Relationship Id="rId7" Type="http://schemas.openxmlformats.org/officeDocument/2006/relationships/tags" Target="../tags/tag147.xml"/><Relationship Id="rId6" Type="http://schemas.openxmlformats.org/officeDocument/2006/relationships/tags" Target="../tags/tag146.xml"/><Relationship Id="rId5" Type="http://schemas.openxmlformats.org/officeDocument/2006/relationships/tags" Target="../tags/tag145.xml"/><Relationship Id="rId4" Type="http://schemas.openxmlformats.org/officeDocument/2006/relationships/tags" Target="../tags/tag144.xml"/><Relationship Id="rId3" Type="http://schemas.openxmlformats.org/officeDocument/2006/relationships/tags" Target="../tags/tag143.xml"/><Relationship Id="rId2" Type="http://schemas.openxmlformats.org/officeDocument/2006/relationships/tags" Target="../tags/tag14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53.xml"/><Relationship Id="rId12" Type="http://schemas.openxmlformats.org/officeDocument/2006/relationships/tags" Target="../tags/tag152.xml"/><Relationship Id="rId11" Type="http://schemas.openxmlformats.org/officeDocument/2006/relationships/tags" Target="../tags/tag151.xml"/><Relationship Id="rId10" Type="http://schemas.openxmlformats.org/officeDocument/2006/relationships/tags" Target="../tags/tag150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61.xml"/><Relationship Id="rId8" Type="http://schemas.openxmlformats.org/officeDocument/2006/relationships/tags" Target="../tags/tag160.xml"/><Relationship Id="rId7" Type="http://schemas.openxmlformats.org/officeDocument/2006/relationships/tags" Target="../tags/tag159.xml"/><Relationship Id="rId6" Type="http://schemas.openxmlformats.org/officeDocument/2006/relationships/tags" Target="../tags/tag158.xml"/><Relationship Id="rId5" Type="http://schemas.openxmlformats.org/officeDocument/2006/relationships/tags" Target="../tags/tag157.xml"/><Relationship Id="rId4" Type="http://schemas.openxmlformats.org/officeDocument/2006/relationships/tags" Target="../tags/tag156.xml"/><Relationship Id="rId3" Type="http://schemas.openxmlformats.org/officeDocument/2006/relationships/tags" Target="../tags/tag155.xml"/><Relationship Id="rId2" Type="http://schemas.openxmlformats.org/officeDocument/2006/relationships/tags" Target="../tags/tag154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165.xml"/><Relationship Id="rId12" Type="http://schemas.openxmlformats.org/officeDocument/2006/relationships/tags" Target="../tags/tag164.xml"/><Relationship Id="rId11" Type="http://schemas.openxmlformats.org/officeDocument/2006/relationships/tags" Target="../tags/tag163.xml"/><Relationship Id="rId10" Type="http://schemas.openxmlformats.org/officeDocument/2006/relationships/tags" Target="../tags/tag162.xml"/><Relationship Id="rId1" Type="http://schemas.openxmlformats.org/officeDocument/2006/relationships/image" Target="../media/image1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1.jpe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.jpe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6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173.xml"/><Relationship Id="rId8" Type="http://schemas.openxmlformats.org/officeDocument/2006/relationships/tags" Target="../tags/tag172.xml"/><Relationship Id="rId7" Type="http://schemas.openxmlformats.org/officeDocument/2006/relationships/tags" Target="../tags/tag171.xml"/><Relationship Id="rId6" Type="http://schemas.openxmlformats.org/officeDocument/2006/relationships/tags" Target="../tags/tag170.xml"/><Relationship Id="rId5" Type="http://schemas.openxmlformats.org/officeDocument/2006/relationships/tags" Target="../tags/tag169.xml"/><Relationship Id="rId4" Type="http://schemas.openxmlformats.org/officeDocument/2006/relationships/tags" Target="../tags/tag168.xml"/><Relationship Id="rId3" Type="http://schemas.openxmlformats.org/officeDocument/2006/relationships/tags" Target="../tags/tag167.xml"/><Relationship Id="rId22" Type="http://schemas.openxmlformats.org/officeDocument/2006/relationships/slideLayout" Target="../slideLayouts/slideLayout2.xml"/><Relationship Id="rId21" Type="http://schemas.openxmlformats.org/officeDocument/2006/relationships/tags" Target="../tags/tag185.xml"/><Relationship Id="rId20" Type="http://schemas.openxmlformats.org/officeDocument/2006/relationships/tags" Target="../tags/tag184.xml"/><Relationship Id="rId2" Type="http://schemas.openxmlformats.org/officeDocument/2006/relationships/tags" Target="../tags/tag166.xml"/><Relationship Id="rId19" Type="http://schemas.openxmlformats.org/officeDocument/2006/relationships/tags" Target="../tags/tag183.xml"/><Relationship Id="rId18" Type="http://schemas.openxmlformats.org/officeDocument/2006/relationships/tags" Target="../tags/tag182.xml"/><Relationship Id="rId17" Type="http://schemas.openxmlformats.org/officeDocument/2006/relationships/tags" Target="../tags/tag181.xml"/><Relationship Id="rId16" Type="http://schemas.openxmlformats.org/officeDocument/2006/relationships/tags" Target="../tags/tag180.xml"/><Relationship Id="rId15" Type="http://schemas.openxmlformats.org/officeDocument/2006/relationships/tags" Target="../tags/tag179.xml"/><Relationship Id="rId14" Type="http://schemas.openxmlformats.org/officeDocument/2006/relationships/tags" Target="../tags/tag178.xml"/><Relationship Id="rId13" Type="http://schemas.openxmlformats.org/officeDocument/2006/relationships/tags" Target="../tags/tag177.xml"/><Relationship Id="rId12" Type="http://schemas.openxmlformats.org/officeDocument/2006/relationships/tags" Target="../tags/tag176.xml"/><Relationship Id="rId11" Type="http://schemas.openxmlformats.org/officeDocument/2006/relationships/tags" Target="../tags/tag175.xml"/><Relationship Id="rId10" Type="http://schemas.openxmlformats.org/officeDocument/2006/relationships/tags" Target="../tags/tag174.xml"/><Relationship Id="rId1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6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10" name="组合 9"/>
          <p:cNvGrpSpPr/>
          <p:nvPr/>
        </p:nvGrpSpPr>
        <p:grpSpPr>
          <a:xfrm>
            <a:off x="2858135" y="3886200"/>
            <a:ext cx="6402070" cy="612140"/>
            <a:chOff x="4501" y="6120"/>
            <a:chExt cx="10082" cy="964"/>
          </a:xfrm>
        </p:grpSpPr>
        <p:sp>
          <p:nvSpPr>
            <p:cNvPr id="4" name="矩形: 圆角 3"/>
            <p:cNvSpPr/>
            <p:nvPr/>
          </p:nvSpPr>
          <p:spPr>
            <a:xfrm>
              <a:off x="4501" y="6120"/>
              <a:ext cx="10082" cy="96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9890" y="6241"/>
              <a:ext cx="4127" cy="72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200" y="6287"/>
              <a:ext cx="2768" cy="62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zh-CN" altLang="en-US" sz="2000" dirty="0">
                  <a:solidFill>
                    <a:schemeClr val="bg1"/>
                  </a:solidFill>
                  <a:cs typeface="黑体" panose="02010609060101010101" charset="-122"/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  <a:cs typeface="黑体" panose="02010609060101010101" charset="-122"/>
                </a:rPr>
                <a:t>11</a:t>
              </a:r>
              <a:r>
                <a:rPr lang="zh-CN" altLang="en-US" sz="2000" dirty="0">
                  <a:solidFill>
                    <a:schemeClr val="bg1"/>
                  </a:solidFill>
                  <a:cs typeface="黑体" panose="02010609060101010101" charset="-122"/>
                </a:rPr>
                <a:t>组</a:t>
              </a:r>
              <a:endParaRPr lang="zh-CN" altLang="en-US" sz="2000" dirty="0">
                <a:solidFill>
                  <a:schemeClr val="bg1"/>
                </a:solidFill>
                <a:cs typeface="黑体" panose="02010609060101010101" charset="-122"/>
              </a:endParaRPr>
            </a:p>
          </p:txBody>
        </p:sp>
        <p:sp>
          <p:nvSpPr>
            <p:cNvPr id="7" name="文本框 6"/>
            <p:cNvSpPr txBox="1"/>
            <p:nvPr>
              <p:custDataLst>
                <p:tags r:id="rId2"/>
              </p:custDataLst>
            </p:nvPr>
          </p:nvSpPr>
          <p:spPr>
            <a:xfrm>
              <a:off x="10681" y="6360"/>
              <a:ext cx="2545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1600" dirty="0">
                  <a:solidFill>
                    <a:srgbClr val="3333FF"/>
                  </a:solidFill>
                  <a:latin typeface="+mj-lt"/>
                  <a:ea typeface="+mj-ea"/>
                  <a:cs typeface="黑体" panose="02010609060101010101" charset="-122"/>
                </a:rPr>
                <a:t>汇报人：马</a:t>
              </a:r>
              <a:r>
                <a:rPr lang="zh-CN" altLang="en-US" sz="1600" dirty="0">
                  <a:solidFill>
                    <a:srgbClr val="3333FF"/>
                  </a:solidFill>
                  <a:latin typeface="+mj-lt"/>
                  <a:ea typeface="+mj-ea"/>
                  <a:cs typeface="黑体" panose="02010609060101010101" charset="-122"/>
                </a:rPr>
                <a:t>欣锐</a:t>
              </a:r>
              <a:endParaRPr lang="zh-CN" altLang="en-US" sz="1600" dirty="0">
                <a:solidFill>
                  <a:srgbClr val="3333FF"/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  <p:cxnSp>
          <p:nvCxnSpPr>
            <p:cNvPr id="9" name="直接箭头连接符 8"/>
            <p:cNvCxnSpPr/>
            <p:nvPr/>
          </p:nvCxnSpPr>
          <p:spPr>
            <a:xfrm flipV="1">
              <a:off x="7498" y="6606"/>
              <a:ext cx="1326" cy="1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/>
          <p:cNvSpPr txBox="1"/>
          <p:nvPr/>
        </p:nvSpPr>
        <p:spPr>
          <a:xfrm>
            <a:off x="3366135" y="1431290"/>
            <a:ext cx="5398770" cy="110680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zh-CN" altLang="en-US" sz="6600" dirty="0">
                <a:solidFill>
                  <a:schemeClr val="bg2">
                    <a:lumMod val="25000"/>
                  </a:schemeClr>
                </a:solidFill>
                <a:cs typeface="黑体" panose="02010609060101010101" charset="-122"/>
              </a:rPr>
              <a:t>智能分拣系统</a:t>
            </a:r>
            <a:endParaRPr lang="zh-CN" altLang="en-US" sz="6600" dirty="0">
              <a:solidFill>
                <a:schemeClr val="bg2">
                  <a:lumMod val="25000"/>
                </a:schemeClr>
              </a:solidFill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961528" y="2265175"/>
            <a:ext cx="8126069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答辩汇报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图片 72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" r="2834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1" name="矩形 10"/>
          <p:cNvSpPr/>
          <p:nvPr/>
        </p:nvSpPr>
        <p:spPr>
          <a:xfrm>
            <a:off x="719959" y="2406869"/>
            <a:ext cx="10752083" cy="3615558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/>
          <p:cNvSpPr/>
          <p:nvPr/>
        </p:nvSpPr>
        <p:spPr>
          <a:xfrm>
            <a:off x="4976830" y="730666"/>
            <a:ext cx="2095465" cy="12985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6600" dirty="0">
                <a:solidFill>
                  <a:schemeClr val="accent1"/>
                </a:solidFill>
                <a:latin typeface="+mj-ea"/>
                <a:ea typeface="+mj-ea"/>
              </a:rPr>
              <a:t>目录</a:t>
            </a:r>
            <a:endParaRPr kumimoji="1" lang="zh-CN" altLang="en-US" sz="6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4338600" y="2186470"/>
            <a:ext cx="3371925" cy="441333"/>
            <a:chOff x="4172129" y="2218789"/>
            <a:chExt cx="2964395" cy="387994"/>
          </a:xfrm>
        </p:grpSpPr>
        <p:grpSp>
          <p:nvGrpSpPr>
            <p:cNvPr id="22" name="组合 21"/>
            <p:cNvGrpSpPr/>
            <p:nvPr/>
          </p:nvGrpSpPr>
          <p:grpSpPr>
            <a:xfrm>
              <a:off x="4172129" y="2218789"/>
              <a:ext cx="2964395" cy="387994"/>
              <a:chOff x="2942419" y="1637214"/>
              <a:chExt cx="4677532" cy="612217"/>
            </a:xfrm>
          </p:grpSpPr>
          <p:sp>
            <p:nvSpPr>
              <p:cNvPr id="20" name="矩形: 圆角 19"/>
              <p:cNvSpPr/>
              <p:nvPr/>
            </p:nvSpPr>
            <p:spPr>
              <a:xfrm>
                <a:off x="2942419" y="1637214"/>
                <a:ext cx="4677532" cy="612217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" name="矩形: 圆角 20"/>
              <p:cNvSpPr/>
              <p:nvPr/>
            </p:nvSpPr>
            <p:spPr>
              <a:xfrm>
                <a:off x="3004207" y="1680232"/>
                <a:ext cx="2227603" cy="526180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19" name="文本框 18"/>
            <p:cNvSpPr txBox="1"/>
            <p:nvPr/>
          </p:nvSpPr>
          <p:spPr>
            <a:xfrm>
              <a:off x="4326939" y="2277243"/>
              <a:ext cx="1244815" cy="307777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chemeClr val="bg2">
                      <a:lumMod val="9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dirty="0"/>
                <a:t>Contents</a:t>
              </a:r>
              <a:endParaRPr lang="zh-CN" altLang="en-US" dirty="0"/>
            </a:p>
          </p:txBody>
        </p:sp>
        <p:cxnSp>
          <p:nvCxnSpPr>
            <p:cNvPr id="23" name="直接箭头连接符 22"/>
            <p:cNvCxnSpPr>
              <a:stCxn id="25" idx="3"/>
            </p:cNvCxnSpPr>
            <p:nvPr/>
          </p:nvCxnSpPr>
          <p:spPr>
            <a:xfrm flipV="1">
              <a:off x="6549215" y="2432665"/>
              <a:ext cx="361708" cy="1659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文本框 24"/>
            <p:cNvSpPr txBox="1"/>
            <p:nvPr/>
          </p:nvSpPr>
          <p:spPr>
            <a:xfrm>
              <a:off x="5614456" y="2303519"/>
              <a:ext cx="934759" cy="2616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100">
                  <a:solidFill>
                    <a:schemeClr val="bg1"/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dirty="0"/>
                <a:t>Contents</a:t>
              </a:r>
              <a:endParaRPr lang="zh-CN" altLang="en-US" dirty="0"/>
            </a:p>
          </p:txBody>
        </p:sp>
      </p:grpSp>
      <p:sp>
        <p:nvSpPr>
          <p:cNvPr id="30" name="文本框 29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</a:endParaRPr>
          </a:p>
        </p:txBody>
      </p:sp>
      <p:grpSp>
        <p:nvGrpSpPr>
          <p:cNvPr id="45" name="组合 44"/>
          <p:cNvGrpSpPr/>
          <p:nvPr>
            <p:custDataLst>
              <p:tags r:id="rId2"/>
            </p:custDataLst>
          </p:nvPr>
        </p:nvGrpSpPr>
        <p:grpSpPr>
          <a:xfrm>
            <a:off x="1641475" y="3026410"/>
            <a:ext cx="2142490" cy="1098550"/>
            <a:chOff x="1449" y="4766"/>
            <a:chExt cx="3833" cy="1730"/>
          </a:xfrm>
        </p:grpSpPr>
        <p:sp>
          <p:nvSpPr>
            <p:cNvPr id="14" name="文本框 13"/>
            <p:cNvSpPr txBox="1"/>
            <p:nvPr>
              <p:custDataLst>
                <p:tags r:id="rId3"/>
              </p:custDataLst>
            </p:nvPr>
          </p:nvSpPr>
          <p:spPr>
            <a:xfrm>
              <a:off x="1449" y="5287"/>
              <a:ext cx="38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项目背景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15" name="文本框 14"/>
            <p:cNvSpPr txBox="1"/>
            <p:nvPr>
              <p:custDataLst>
                <p:tags r:id="rId4"/>
              </p:custDataLst>
            </p:nvPr>
          </p:nvSpPr>
          <p:spPr>
            <a:xfrm>
              <a:off x="1518" y="5984"/>
              <a:ext cx="3583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accent1"/>
                  </a:solidFill>
                </a:rPr>
                <a:t>Project Background</a:t>
              </a:r>
              <a:endParaRPr lang="en-US" altLang="zh-CN" sz="1100" dirty="0">
                <a:solidFill>
                  <a:schemeClr val="accent1"/>
                </a:solidFill>
              </a:endParaRPr>
            </a:p>
          </p:txBody>
        </p:sp>
        <p:cxnSp>
          <p:nvCxnSpPr>
            <p:cNvPr id="17" name="直接连接符 16"/>
            <p:cNvCxnSpPr/>
            <p:nvPr>
              <p:custDataLst>
                <p:tags r:id="rId5"/>
              </p:custDataLst>
            </p:nvPr>
          </p:nvCxnSpPr>
          <p:spPr>
            <a:xfrm>
              <a:off x="1662" y="6496"/>
              <a:ext cx="8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>
              <p:custDataLst>
                <p:tags r:id="rId6"/>
              </p:custDataLst>
            </p:nvPr>
          </p:nvSpPr>
          <p:spPr>
            <a:xfrm>
              <a:off x="1483" y="4766"/>
              <a:ext cx="3727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+mj-lt"/>
                </a:rPr>
                <a:t>Part One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46" name="组合 45"/>
          <p:cNvGrpSpPr/>
          <p:nvPr>
            <p:custDataLst>
              <p:tags r:id="rId7"/>
            </p:custDataLst>
          </p:nvPr>
        </p:nvGrpSpPr>
        <p:grpSpPr>
          <a:xfrm>
            <a:off x="4099560" y="3026410"/>
            <a:ext cx="2433955" cy="1098600"/>
            <a:chOff x="5672" y="4766"/>
            <a:chExt cx="3833" cy="1730"/>
          </a:xfrm>
        </p:grpSpPr>
        <p:sp>
          <p:nvSpPr>
            <p:cNvPr id="12" name="文本框 11"/>
            <p:cNvSpPr txBox="1"/>
            <p:nvPr>
              <p:custDataLst>
                <p:tags r:id="rId8"/>
              </p:custDataLst>
            </p:nvPr>
          </p:nvSpPr>
          <p:spPr>
            <a:xfrm>
              <a:off x="5672" y="5287"/>
              <a:ext cx="38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项目概述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9"/>
              </p:custDataLst>
            </p:nvPr>
          </p:nvSpPr>
          <p:spPr>
            <a:xfrm>
              <a:off x="5741" y="5984"/>
              <a:ext cx="3583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accent1"/>
                  </a:solidFill>
                </a:rPr>
                <a:t>Project Overview</a:t>
              </a:r>
              <a:endParaRPr lang="en-US" altLang="zh-CN" sz="1100" dirty="0">
                <a:solidFill>
                  <a:schemeClr val="accent1"/>
                </a:solidFill>
              </a:endParaRPr>
            </a:p>
          </p:txBody>
        </p:sp>
        <p:cxnSp>
          <p:nvCxnSpPr>
            <p:cNvPr id="32" name="直接连接符 31"/>
            <p:cNvCxnSpPr/>
            <p:nvPr>
              <p:custDataLst>
                <p:tags r:id="rId10"/>
              </p:custDataLst>
            </p:nvPr>
          </p:nvCxnSpPr>
          <p:spPr>
            <a:xfrm>
              <a:off x="5885" y="6496"/>
              <a:ext cx="8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/>
            <p:cNvSpPr txBox="1"/>
            <p:nvPr>
              <p:custDataLst>
                <p:tags r:id="rId11"/>
              </p:custDataLst>
            </p:nvPr>
          </p:nvSpPr>
          <p:spPr>
            <a:xfrm>
              <a:off x="5706" y="4766"/>
              <a:ext cx="3727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+mj-lt"/>
                </a:rPr>
                <a:t>Part Two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48" name="组合 47"/>
          <p:cNvGrpSpPr/>
          <p:nvPr>
            <p:custDataLst>
              <p:tags r:id="rId12"/>
            </p:custDataLst>
          </p:nvPr>
        </p:nvGrpSpPr>
        <p:grpSpPr>
          <a:xfrm>
            <a:off x="6503035" y="3026410"/>
            <a:ext cx="2395220" cy="1098550"/>
            <a:chOff x="9895" y="4766"/>
            <a:chExt cx="3833" cy="1730"/>
          </a:xfrm>
        </p:grpSpPr>
        <p:sp>
          <p:nvSpPr>
            <p:cNvPr id="52" name="文本框 51"/>
            <p:cNvSpPr txBox="1"/>
            <p:nvPr>
              <p:custDataLst>
                <p:tags r:id="rId13"/>
              </p:custDataLst>
            </p:nvPr>
          </p:nvSpPr>
          <p:spPr>
            <a:xfrm>
              <a:off x="9895" y="5287"/>
              <a:ext cx="38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系统框图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53" name="文本框 52"/>
            <p:cNvSpPr txBox="1"/>
            <p:nvPr>
              <p:custDataLst>
                <p:tags r:id="rId14"/>
              </p:custDataLst>
            </p:nvPr>
          </p:nvSpPr>
          <p:spPr>
            <a:xfrm>
              <a:off x="9964" y="5984"/>
              <a:ext cx="3583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100" dirty="0">
                  <a:solidFill>
                    <a:schemeClr val="accent1"/>
                  </a:solidFill>
                </a:rPr>
                <a:t>System Block Diagrams</a:t>
              </a:r>
              <a:endParaRPr lang="en-US" altLang="zh-CN" sz="1100" dirty="0">
                <a:solidFill>
                  <a:schemeClr val="accent1"/>
                </a:solidFill>
              </a:endParaRPr>
            </a:p>
          </p:txBody>
        </p:sp>
        <p:cxnSp>
          <p:nvCxnSpPr>
            <p:cNvPr id="55" name="直接连接符 54"/>
            <p:cNvCxnSpPr/>
            <p:nvPr>
              <p:custDataLst>
                <p:tags r:id="rId15"/>
              </p:custDataLst>
            </p:nvPr>
          </p:nvCxnSpPr>
          <p:spPr>
            <a:xfrm>
              <a:off x="10107" y="6496"/>
              <a:ext cx="8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文本框 55"/>
            <p:cNvSpPr txBox="1"/>
            <p:nvPr>
              <p:custDataLst>
                <p:tags r:id="rId16"/>
              </p:custDataLst>
            </p:nvPr>
          </p:nvSpPr>
          <p:spPr>
            <a:xfrm>
              <a:off x="9929" y="4766"/>
              <a:ext cx="3727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+mj-lt"/>
                </a:rPr>
                <a:t>Part Three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49" name="组合 48"/>
          <p:cNvGrpSpPr/>
          <p:nvPr/>
        </p:nvGrpSpPr>
        <p:grpSpPr>
          <a:xfrm>
            <a:off x="9008110" y="3025140"/>
            <a:ext cx="2433320" cy="1096010"/>
            <a:chOff x="14186" y="4764"/>
            <a:chExt cx="3832" cy="1726"/>
          </a:xfrm>
        </p:grpSpPr>
        <p:sp>
          <p:nvSpPr>
            <p:cNvPr id="63" name="文本框 62"/>
            <p:cNvSpPr txBox="1"/>
            <p:nvPr>
              <p:custDataLst>
                <p:tags r:id="rId17"/>
              </p:custDataLst>
            </p:nvPr>
          </p:nvSpPr>
          <p:spPr>
            <a:xfrm>
              <a:off x="14186" y="5287"/>
              <a:ext cx="3833" cy="11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  <a:sym typeface="+mn-ea"/>
                </a:rPr>
                <a:t>成员分工</a:t>
              </a:r>
              <a:endParaRPr lang="zh-CN" altLang="en-US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sym typeface="+mn-ea"/>
              </a:endParaRPr>
            </a:p>
            <a:p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  <a:sym typeface="+mn-ea"/>
                </a:rPr>
                <a:t>及</a:t>
              </a:r>
              <a:r>
                <a:rPr lang="zh-CN" altLang="en-US" sz="20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  <a:sym typeface="+mn-ea"/>
                </a:rPr>
                <a:t>职责描述</a:t>
              </a:r>
              <a:endParaRPr lang="zh-CN" altLang="en-US" sz="20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  <a:sym typeface="+mn-ea"/>
              </a:endParaRPr>
            </a:p>
          </p:txBody>
        </p:sp>
        <p:cxnSp>
          <p:nvCxnSpPr>
            <p:cNvPr id="66" name="直接连接符 65"/>
            <p:cNvCxnSpPr/>
            <p:nvPr>
              <p:custDataLst>
                <p:tags r:id="rId18"/>
              </p:custDataLst>
            </p:nvPr>
          </p:nvCxnSpPr>
          <p:spPr>
            <a:xfrm>
              <a:off x="14330" y="6490"/>
              <a:ext cx="8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文本框 66"/>
            <p:cNvSpPr txBox="1"/>
            <p:nvPr>
              <p:custDataLst>
                <p:tags r:id="rId19"/>
              </p:custDataLst>
            </p:nvPr>
          </p:nvSpPr>
          <p:spPr>
            <a:xfrm>
              <a:off x="14190" y="4764"/>
              <a:ext cx="3727" cy="58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>
                  <a:solidFill>
                    <a:schemeClr val="accent1"/>
                  </a:solidFill>
                  <a:latin typeface="+mj-lt"/>
                </a:rPr>
                <a:t>Part Four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50" name="组合 49"/>
          <p:cNvGrpSpPr/>
          <p:nvPr>
            <p:custDataLst>
              <p:tags r:id="rId20"/>
            </p:custDataLst>
          </p:nvPr>
        </p:nvGrpSpPr>
        <p:grpSpPr>
          <a:xfrm>
            <a:off x="2814320" y="4465320"/>
            <a:ext cx="2142490" cy="1098550"/>
            <a:chOff x="1449" y="4766"/>
            <a:chExt cx="3833" cy="1730"/>
          </a:xfrm>
        </p:grpSpPr>
        <p:sp>
          <p:nvSpPr>
            <p:cNvPr id="61" name="文本框 60"/>
            <p:cNvSpPr txBox="1"/>
            <p:nvPr>
              <p:custDataLst>
                <p:tags r:id="rId21"/>
              </p:custDataLst>
            </p:nvPr>
          </p:nvSpPr>
          <p:spPr>
            <a:xfrm>
              <a:off x="1449" y="5287"/>
              <a:ext cx="38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功能描述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22"/>
              </p:custDataLst>
            </p:nvPr>
          </p:nvSpPr>
          <p:spPr>
            <a:xfrm>
              <a:off x="1518" y="5984"/>
              <a:ext cx="3583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sz="1100" dirty="0">
                  <a:solidFill>
                    <a:schemeClr val="accent1"/>
                  </a:solidFill>
                </a:rPr>
                <a:t>Function Description</a:t>
              </a:r>
              <a:endParaRPr lang="en-US" altLang="zh-CN" sz="1100" dirty="0">
                <a:solidFill>
                  <a:schemeClr val="accent1"/>
                </a:solidFill>
              </a:endParaRPr>
            </a:p>
          </p:txBody>
        </p:sp>
        <p:cxnSp>
          <p:nvCxnSpPr>
            <p:cNvPr id="74" name="直接连接符 73"/>
            <p:cNvCxnSpPr/>
            <p:nvPr>
              <p:custDataLst>
                <p:tags r:id="rId23"/>
              </p:custDataLst>
            </p:nvPr>
          </p:nvCxnSpPr>
          <p:spPr>
            <a:xfrm>
              <a:off x="1662" y="6496"/>
              <a:ext cx="8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/>
            <p:cNvSpPr txBox="1"/>
            <p:nvPr>
              <p:custDataLst>
                <p:tags r:id="rId24"/>
              </p:custDataLst>
            </p:nvPr>
          </p:nvSpPr>
          <p:spPr>
            <a:xfrm>
              <a:off x="1483" y="4766"/>
              <a:ext cx="3727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accent1"/>
                  </a:solidFill>
                  <a:latin typeface="+mj-lt"/>
                </a:rPr>
                <a:t>Part Five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76" name="组合 75"/>
          <p:cNvGrpSpPr/>
          <p:nvPr>
            <p:custDataLst>
              <p:tags r:id="rId25"/>
            </p:custDataLst>
          </p:nvPr>
        </p:nvGrpSpPr>
        <p:grpSpPr>
          <a:xfrm>
            <a:off x="5349875" y="4465320"/>
            <a:ext cx="2142490" cy="1098550"/>
            <a:chOff x="1449" y="4766"/>
            <a:chExt cx="3833" cy="1730"/>
          </a:xfrm>
        </p:grpSpPr>
        <p:sp>
          <p:nvSpPr>
            <p:cNvPr id="77" name="文本框 76"/>
            <p:cNvSpPr txBox="1"/>
            <p:nvPr>
              <p:custDataLst>
                <p:tags r:id="rId26"/>
              </p:custDataLst>
            </p:nvPr>
          </p:nvSpPr>
          <p:spPr>
            <a:xfrm>
              <a:off x="1449" y="5287"/>
              <a:ext cx="38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项目展示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78" name="文本框 77"/>
            <p:cNvSpPr txBox="1"/>
            <p:nvPr>
              <p:custDataLst>
                <p:tags r:id="rId27"/>
              </p:custDataLst>
            </p:nvPr>
          </p:nvSpPr>
          <p:spPr>
            <a:xfrm>
              <a:off x="1518" y="5984"/>
              <a:ext cx="3583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sz="1100" dirty="0">
                  <a:solidFill>
                    <a:schemeClr val="accent1"/>
                  </a:solidFill>
                </a:rPr>
                <a:t>Project Display</a:t>
              </a:r>
              <a:endParaRPr lang="en-US" altLang="zh-CN" sz="1100" dirty="0">
                <a:solidFill>
                  <a:schemeClr val="accent1"/>
                </a:solidFill>
              </a:endParaRPr>
            </a:p>
          </p:txBody>
        </p:sp>
        <p:cxnSp>
          <p:nvCxnSpPr>
            <p:cNvPr id="79" name="直接连接符 78"/>
            <p:cNvCxnSpPr/>
            <p:nvPr>
              <p:custDataLst>
                <p:tags r:id="rId28"/>
              </p:custDataLst>
            </p:nvPr>
          </p:nvCxnSpPr>
          <p:spPr>
            <a:xfrm>
              <a:off x="1662" y="6496"/>
              <a:ext cx="8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/>
            <p:cNvSpPr txBox="1"/>
            <p:nvPr>
              <p:custDataLst>
                <p:tags r:id="rId29"/>
              </p:custDataLst>
            </p:nvPr>
          </p:nvSpPr>
          <p:spPr>
            <a:xfrm>
              <a:off x="1483" y="4766"/>
              <a:ext cx="3727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accent1"/>
                  </a:solidFill>
                  <a:latin typeface="+mj-lt"/>
                </a:rPr>
                <a:t>Part Six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  <p:grpSp>
        <p:nvGrpSpPr>
          <p:cNvPr id="81" name="组合 80"/>
          <p:cNvGrpSpPr/>
          <p:nvPr>
            <p:custDataLst>
              <p:tags r:id="rId30"/>
            </p:custDataLst>
          </p:nvPr>
        </p:nvGrpSpPr>
        <p:grpSpPr>
          <a:xfrm>
            <a:off x="7885430" y="4465320"/>
            <a:ext cx="2142490" cy="1098550"/>
            <a:chOff x="1449" y="4766"/>
            <a:chExt cx="3833" cy="1730"/>
          </a:xfrm>
        </p:grpSpPr>
        <p:sp>
          <p:nvSpPr>
            <p:cNvPr id="82" name="文本框 81"/>
            <p:cNvSpPr txBox="1"/>
            <p:nvPr>
              <p:custDataLst>
                <p:tags r:id="rId31"/>
              </p:custDataLst>
            </p:nvPr>
          </p:nvSpPr>
          <p:spPr>
            <a:xfrm>
              <a:off x="1449" y="5287"/>
              <a:ext cx="3833" cy="8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 sz="2800" dirty="0">
                  <a:solidFill>
                    <a:schemeClr val="bg2">
                      <a:lumMod val="25000"/>
                    </a:schemeClr>
                  </a:solidFill>
                  <a:latin typeface="+mj-ea"/>
                  <a:ea typeface="+mj-ea"/>
                </a:rPr>
                <a:t>总结</a:t>
              </a:r>
              <a:endParaRPr lang="zh-CN" altLang="en-US" sz="2800" dirty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endParaRPr>
            </a:p>
          </p:txBody>
        </p:sp>
        <p:sp>
          <p:nvSpPr>
            <p:cNvPr id="83" name="文本框 82"/>
            <p:cNvSpPr txBox="1"/>
            <p:nvPr>
              <p:custDataLst>
                <p:tags r:id="rId32"/>
              </p:custDataLst>
            </p:nvPr>
          </p:nvSpPr>
          <p:spPr>
            <a:xfrm>
              <a:off x="1518" y="5984"/>
              <a:ext cx="3583" cy="4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sz="1100" dirty="0">
                  <a:solidFill>
                    <a:schemeClr val="accent1"/>
                  </a:solidFill>
                </a:rPr>
                <a:t>Summary</a:t>
              </a:r>
              <a:endParaRPr lang="en-US" altLang="zh-CN" sz="1100" dirty="0">
                <a:solidFill>
                  <a:schemeClr val="accent1"/>
                </a:solidFill>
              </a:endParaRPr>
            </a:p>
          </p:txBody>
        </p:sp>
        <p:cxnSp>
          <p:nvCxnSpPr>
            <p:cNvPr id="84" name="直接连接符 83"/>
            <p:cNvCxnSpPr/>
            <p:nvPr>
              <p:custDataLst>
                <p:tags r:id="rId33"/>
              </p:custDataLst>
            </p:nvPr>
          </p:nvCxnSpPr>
          <p:spPr>
            <a:xfrm>
              <a:off x="1662" y="6496"/>
              <a:ext cx="862" cy="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/>
            <p:cNvSpPr txBox="1"/>
            <p:nvPr>
              <p:custDataLst>
                <p:tags r:id="rId34"/>
              </p:custDataLst>
            </p:nvPr>
          </p:nvSpPr>
          <p:spPr>
            <a:xfrm>
              <a:off x="1483" y="4766"/>
              <a:ext cx="3727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r>
                <a:rPr lang="en-US" altLang="zh-CN" dirty="0">
                  <a:solidFill>
                    <a:schemeClr val="accent1"/>
                  </a:solidFill>
                  <a:latin typeface="+mj-lt"/>
                </a:rPr>
                <a:t>Part Seven</a:t>
              </a:r>
              <a:endParaRPr lang="zh-CN" altLang="en-US" dirty="0">
                <a:solidFill>
                  <a:schemeClr val="accent1"/>
                </a:solidFill>
                <a:latin typeface="+mj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" name="组合 1"/>
          <p:cNvGrpSpPr/>
          <p:nvPr/>
        </p:nvGrpSpPr>
        <p:grpSpPr>
          <a:xfrm>
            <a:off x="2872934" y="3661544"/>
            <a:ext cx="6402302" cy="612217"/>
            <a:chOff x="2858337" y="3886428"/>
            <a:chExt cx="6402302" cy="612217"/>
          </a:xfrm>
        </p:grpSpPr>
        <p:sp>
          <p:nvSpPr>
            <p:cNvPr id="4" name="矩形: 圆角 3"/>
            <p:cNvSpPr/>
            <p:nvPr/>
          </p:nvSpPr>
          <p:spPr>
            <a:xfrm>
              <a:off x="2858337" y="3886428"/>
              <a:ext cx="6402302" cy="61221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2910045" y="3929446"/>
              <a:ext cx="3859500" cy="52618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黑体" panose="0201060906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2966" y="1761134"/>
            <a:ext cx="8126069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项目背景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5114" y="3736820"/>
            <a:ext cx="1957426" cy="4616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  <a:cs typeface="黑体" panose="02010609060101010101" charset="-122"/>
              </a:rPr>
              <a:t>Part One</a:t>
            </a:r>
            <a:endParaRPr lang="en-US" altLang="zh-CN" sz="24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789229" y="4916981"/>
            <a:ext cx="251901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278858" y="3799010"/>
            <a:ext cx="3497664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Project Background</a:t>
            </a:r>
            <a:endParaRPr lang="en-US" altLang="zh-CN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247265" y="5744210"/>
            <a:ext cx="7701915" cy="411480"/>
            <a:chOff x="4418" y="9660"/>
            <a:chExt cx="12129" cy="648"/>
          </a:xfrm>
        </p:grpSpPr>
        <p:grpSp>
          <p:nvGrpSpPr>
            <p:cNvPr id="52" name="组合 51"/>
            <p:cNvGrpSpPr/>
            <p:nvPr/>
          </p:nvGrpSpPr>
          <p:grpSpPr>
            <a:xfrm>
              <a:off x="11395" y="9670"/>
              <a:ext cx="5152" cy="638"/>
              <a:chOff x="4237960" y="6007162"/>
              <a:chExt cx="3271483" cy="405173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557309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05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5754254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06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6951198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07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418" y="9660"/>
              <a:ext cx="6534" cy="640"/>
              <a:chOff x="3360366" y="6007162"/>
              <a:chExt cx="4149077" cy="40654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3360366" y="6013594"/>
                <a:ext cx="558245" cy="40011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2000" dirty="0">
                    <a:solidFill>
                      <a:schemeClr val="accent1"/>
                    </a:solidFill>
                    <a:cs typeface="黑体" panose="02010609060101010101" charset="-122"/>
                  </a:rPr>
                  <a:t>01</a:t>
                </a:r>
                <a:endParaRPr lang="zh-CN" altLang="en-US" sz="2000" dirty="0">
                  <a:solidFill>
                    <a:schemeClr val="accent1"/>
                  </a:solidFill>
                  <a:cs typeface="黑体" panose="02010609060101010101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557309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02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5754254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03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6951198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04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2" name="矩形 21"/>
          <p:cNvSpPr/>
          <p:nvPr/>
        </p:nvSpPr>
        <p:spPr>
          <a:xfrm>
            <a:off x="718820" y="5509895"/>
            <a:ext cx="10959465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综上所述，该项目具有广阔的应用前景和持续发展的潜力</a:t>
            </a:r>
            <a:endParaRPr lang="zh-CN" altLang="en-US" sz="2400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690245" y="1684655"/>
            <a:ext cx="5211445" cy="32512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cxnSp>
        <p:nvCxnSpPr>
          <p:cNvPr id="47" name="直接连接符 46"/>
          <p:cNvCxnSpPr/>
          <p:nvPr/>
        </p:nvCxnSpPr>
        <p:spPr>
          <a:xfrm flipV="1">
            <a:off x="2362423" y="5419139"/>
            <a:ext cx="7794625" cy="444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组合 47"/>
          <p:cNvGrpSpPr/>
          <p:nvPr/>
        </p:nvGrpSpPr>
        <p:grpSpPr>
          <a:xfrm>
            <a:off x="797701" y="1855021"/>
            <a:ext cx="5010785" cy="2763520"/>
            <a:chOff x="8142066" y="976128"/>
            <a:chExt cx="5010785" cy="2763520"/>
          </a:xfrm>
        </p:grpSpPr>
        <p:sp>
          <p:nvSpPr>
            <p:cNvPr id="49" name="文本框 15"/>
            <p:cNvSpPr txBox="1"/>
            <p:nvPr>
              <p:custDataLst>
                <p:tags r:id="rId2"/>
              </p:custDataLst>
            </p:nvPr>
          </p:nvSpPr>
          <p:spPr>
            <a:xfrm>
              <a:off x="8142066" y="1490478"/>
              <a:ext cx="5010785" cy="2249170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        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该项目利用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YOLOv5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这一先进的目标检测算法，结合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Python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和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VSCODE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的高效开发环境，实现了智能分拣功能。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endParaRPr>
            </a:p>
            <a:p>
              <a:pPr>
                <a:lnSpc>
                  <a:spcPct val="130000"/>
                </a:lnSpc>
              </a:pP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 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       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项目提供了直观、易用的用户界面，提升了用户体验。这种人性化的设计有助于项目在实际应用中更好地推广和普及。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endParaRPr>
            </a:p>
          </p:txBody>
        </p:sp>
        <p:sp>
          <p:nvSpPr>
            <p:cNvPr id="50" name="文本框 49"/>
            <p:cNvSpPr txBox="1"/>
            <p:nvPr>
              <p:custDataLst>
                <p:tags r:id="rId3"/>
              </p:custDataLst>
            </p:nvPr>
          </p:nvSpPr>
          <p:spPr>
            <a:xfrm>
              <a:off x="8321136" y="976128"/>
              <a:ext cx="4606290" cy="39878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zh-CN" altLang="en-US" sz="2000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+mj-ea"/>
                  <a:cs typeface="黑体" panose="02010609060101010101" charset="-122"/>
                </a:rPr>
                <a:t>技术创新与应用前景</a:t>
              </a:r>
              <a:endParaRPr lang="zh-CN" alt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</p:grpSp>
      <p:sp>
        <p:nvSpPr>
          <p:cNvPr id="2" name="矩形 1"/>
          <p:cNvSpPr/>
          <p:nvPr/>
        </p:nvSpPr>
        <p:spPr>
          <a:xfrm>
            <a:off x="662270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项目背景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2269" y="1140346"/>
            <a:ext cx="4102476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sym typeface="+mn-ea"/>
              </a:rPr>
              <a:t>Project Background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329045" y="1684655"/>
            <a:ext cx="5349240" cy="325120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6503811" y="1853116"/>
            <a:ext cx="4995545" cy="2945765"/>
            <a:chOff x="5599526" y="976128"/>
            <a:chExt cx="4995545" cy="2945765"/>
          </a:xfrm>
        </p:grpSpPr>
        <p:sp>
          <p:nvSpPr>
            <p:cNvPr id="46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5600161" y="1312678"/>
              <a:ext cx="4994910" cy="2609215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        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随着市场需求的变化，该项目具有持续发展和优化的潜力。通过不断优化算法、提升性能、扩展功能，其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  <a:sym typeface="+mn-ea"/>
                </a:rPr>
                <a:t>多功能性使其能够满足不同领域、不同场景下的智能分拣需求。</a:t>
              </a: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  <a:sym typeface="+mn-ea"/>
                </a:rPr>
                <a:t>    </a:t>
              </a:r>
              <a:endParaRPr lang="en-US" altLang="zh-CN" dirty="0">
                <a:solidFill>
                  <a:schemeClr val="bg2">
                    <a:lumMod val="25000"/>
                  </a:schemeClr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  <a:sym typeface="+mn-ea"/>
              </a:endParaRPr>
            </a:p>
            <a:p>
              <a:pPr>
                <a:lnSpc>
                  <a:spcPct val="130000"/>
                </a:lnSpc>
              </a:pPr>
              <a:r>
                <a:rPr lang="en-US" altLang="zh-CN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  <a:sym typeface="+mn-ea"/>
                </a:rPr>
                <a:t>        </a:t>
              </a:r>
              <a:r>
                <a:rPr lang="zh-CN" altLang="en-US" dirty="0">
                  <a:solidFill>
                    <a:schemeClr val="bg2">
                      <a:lumMod val="25000"/>
                    </a:schemeClr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  <a:sym typeface="+mn-ea"/>
                </a:rPr>
                <a:t>随着人工智能的不断发展，智能分拣在物流等领域的应用将越来越广泛，具有巨大的市场潜力和商业价值</a:t>
              </a:r>
              <a:endParaRPr lang="zh-CN" altLang="en-US" dirty="0">
                <a:solidFill>
                  <a:schemeClr val="bg2">
                    <a:lumMod val="25000"/>
                  </a:schemeClr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  <a:sym typeface="+mn-ea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5"/>
              </p:custDataLst>
            </p:nvPr>
          </p:nvSpPr>
          <p:spPr>
            <a:xfrm>
              <a:off x="5599526" y="976128"/>
              <a:ext cx="4995545" cy="39878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p>
              <a:pPr algn="ctr"/>
              <a:r>
                <a:rPr lang="zh-CN" altLang="en-US" sz="2000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+mj-ea"/>
                  <a:cs typeface="黑体" panose="02010609060101010101" charset="-122"/>
                </a:rPr>
                <a:t>持续发展与优化</a:t>
              </a:r>
              <a:endParaRPr lang="zh-CN" altLang="en-US" sz="2000" dirty="0">
                <a:solidFill>
                  <a:schemeClr val="tx2">
                    <a:lumMod val="75000"/>
                  </a:schemeClr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" name="组合 1"/>
          <p:cNvGrpSpPr/>
          <p:nvPr/>
        </p:nvGrpSpPr>
        <p:grpSpPr>
          <a:xfrm>
            <a:off x="2872934" y="3661544"/>
            <a:ext cx="6402302" cy="612217"/>
            <a:chOff x="2858337" y="3886428"/>
            <a:chExt cx="6402302" cy="612217"/>
          </a:xfrm>
        </p:grpSpPr>
        <p:sp>
          <p:nvSpPr>
            <p:cNvPr id="4" name="矩形: 圆角 3"/>
            <p:cNvSpPr/>
            <p:nvPr/>
          </p:nvSpPr>
          <p:spPr>
            <a:xfrm>
              <a:off x="2858337" y="3886428"/>
              <a:ext cx="6402302" cy="61221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2910045" y="3929446"/>
              <a:ext cx="3859500" cy="52618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黑体" panose="0201060906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2966" y="1761134"/>
            <a:ext cx="8126069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项目概述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5114" y="3736820"/>
            <a:ext cx="1957426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  <a:cs typeface="黑体" panose="02010609060101010101" charset="-122"/>
              </a:rPr>
              <a:t>Part Two</a:t>
            </a:r>
            <a:endParaRPr lang="en-US" altLang="zh-CN" sz="24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789229" y="4916981"/>
            <a:ext cx="251901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278858" y="3799010"/>
            <a:ext cx="3497664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Project Overview</a:t>
            </a:r>
            <a:endParaRPr lang="en-US" altLang="zh-CN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247265" y="5744210"/>
            <a:ext cx="7701915" cy="411480"/>
            <a:chOff x="4418" y="9660"/>
            <a:chExt cx="12129" cy="648"/>
          </a:xfrm>
        </p:grpSpPr>
        <p:grpSp>
          <p:nvGrpSpPr>
            <p:cNvPr id="52" name="组合 51"/>
            <p:cNvGrpSpPr/>
            <p:nvPr/>
          </p:nvGrpSpPr>
          <p:grpSpPr>
            <a:xfrm>
              <a:off x="11395" y="9670"/>
              <a:ext cx="5152" cy="638"/>
              <a:chOff x="4237960" y="6007162"/>
              <a:chExt cx="3271483" cy="405173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557309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05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5754254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06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6951198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07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418" y="9660"/>
              <a:ext cx="6534" cy="640"/>
              <a:chOff x="3360366" y="6007162"/>
              <a:chExt cx="4149077" cy="40654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3360366" y="6068858"/>
                <a:ext cx="558245" cy="33730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01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557309" y="6007181"/>
                <a:ext cx="558245" cy="398919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>
                  <a:buClrTx/>
                  <a:buSzTx/>
                  <a:buFontTx/>
                </a:pPr>
                <a:r>
                  <a:rPr lang="en-US" altLang="zh-CN" sz="2000" dirty="0">
                    <a:solidFill>
                      <a:schemeClr val="accent1"/>
                    </a:solidFill>
                    <a:cs typeface="黑体" panose="02010609060101010101" charset="-122"/>
                  </a:rPr>
                  <a:t>02</a:t>
                </a:r>
                <a:endParaRPr lang="en-US" altLang="zh-CN" sz="2000" dirty="0">
                  <a:solidFill>
                    <a:schemeClr val="accent1"/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5754254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03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6951198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04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2" name="矩形 11"/>
          <p:cNvSpPr/>
          <p:nvPr/>
        </p:nvSpPr>
        <p:spPr>
          <a:xfrm>
            <a:off x="699770" y="2221230"/>
            <a:ext cx="10760710" cy="768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本次实训项目致力于开发一个基于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YOLOv5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的智能分拣系统。该项目采用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Python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语言作为主要开发语言，并利用</a:t>
            </a:r>
            <a:r>
              <a:rPr lang="en-US" altLang="zh-CN" sz="20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VSCODE</a:t>
            </a:r>
            <a:r>
              <a:rPr lang="zh-CN" altLang="en-US" sz="20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作为集成开发环境，以实现高效、智能的物体检测和分拣功能。</a:t>
            </a:r>
            <a:endParaRPr lang="zh-CN" altLang="en-US" sz="20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783590" y="3049204"/>
            <a:ext cx="10728643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5" name="组合 34"/>
          <p:cNvGrpSpPr/>
          <p:nvPr>
            <p:custDataLst>
              <p:tags r:id="rId2"/>
            </p:custDataLst>
          </p:nvPr>
        </p:nvGrpSpPr>
        <p:grpSpPr>
          <a:xfrm>
            <a:off x="783199" y="4044320"/>
            <a:ext cx="2030112" cy="1912318"/>
            <a:chOff x="700014" y="4212939"/>
            <a:chExt cx="2030112" cy="1912318"/>
          </a:xfrm>
        </p:grpSpPr>
        <p:cxnSp>
          <p:nvCxnSpPr>
            <p:cNvPr id="29" name="直接连接符 28"/>
            <p:cNvCxnSpPr/>
            <p:nvPr>
              <p:custDataLst>
                <p:tags r:id="rId3"/>
              </p:custDataLst>
            </p:nvPr>
          </p:nvCxnSpPr>
          <p:spPr>
            <a:xfrm>
              <a:off x="783604" y="4794497"/>
              <a:ext cx="1685713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15"/>
            <p:cNvSpPr txBox="1"/>
            <p:nvPr>
              <p:custDataLst>
                <p:tags r:id="rId4"/>
              </p:custDataLst>
            </p:nvPr>
          </p:nvSpPr>
          <p:spPr>
            <a:xfrm>
              <a:off x="700014" y="4915582"/>
              <a:ext cx="2030112" cy="1209675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利用</a:t>
              </a:r>
              <a:r>
                <a:rPr lang="en-US" altLang="zh-CN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OpenCV</a:t>
              </a: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库对视频进行抽帧处理，提取关键帧图像，进而构建用于模型训练的数据集。</a:t>
              </a:r>
              <a:endPara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5"/>
              </p:custDataLst>
            </p:nvPr>
          </p:nvSpPr>
          <p:spPr>
            <a:xfrm>
              <a:off x="700014" y="4212939"/>
              <a:ext cx="2029460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  <a:latin typeface="+mj-lt"/>
                  <a:ea typeface="+mj-ea"/>
                  <a:cs typeface="黑体" panose="02010609060101010101" charset="-122"/>
                </a:rPr>
                <a:t>数据集构建</a:t>
              </a:r>
              <a:endParaRPr lang="zh-CN" altLang="en-US" sz="2400" dirty="0">
                <a:solidFill>
                  <a:schemeClr val="accent1"/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</p:grpSp>
      <p:grpSp>
        <p:nvGrpSpPr>
          <p:cNvPr id="36" name="组合 35"/>
          <p:cNvGrpSpPr/>
          <p:nvPr>
            <p:custDataLst>
              <p:tags r:id="rId6"/>
            </p:custDataLst>
          </p:nvPr>
        </p:nvGrpSpPr>
        <p:grpSpPr>
          <a:xfrm>
            <a:off x="2901324" y="4044320"/>
            <a:ext cx="2433320" cy="1912620"/>
            <a:chOff x="700014" y="4212939"/>
            <a:chExt cx="2433320" cy="1912620"/>
          </a:xfrm>
        </p:grpSpPr>
        <p:cxnSp>
          <p:nvCxnSpPr>
            <p:cNvPr id="37" name="直接连接符 36"/>
            <p:cNvCxnSpPr/>
            <p:nvPr>
              <p:custDataLst>
                <p:tags r:id="rId7"/>
              </p:custDataLst>
            </p:nvPr>
          </p:nvCxnSpPr>
          <p:spPr>
            <a:xfrm>
              <a:off x="783604" y="4794497"/>
              <a:ext cx="1685713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文本框 15"/>
            <p:cNvSpPr txBox="1"/>
            <p:nvPr>
              <p:custDataLst>
                <p:tags r:id="rId8"/>
              </p:custDataLst>
            </p:nvPr>
          </p:nvSpPr>
          <p:spPr>
            <a:xfrm>
              <a:off x="700014" y="4915884"/>
              <a:ext cx="2304415" cy="1209675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根据具体需求，使用</a:t>
              </a:r>
              <a:r>
                <a:rPr lang="en-US" altLang="zh-CN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YOLOv5</a:t>
              </a: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框架进行模型的自定义训练，以提高物体检测的准确性和效率。</a:t>
              </a:r>
              <a:endPara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9"/>
              </p:custDataLst>
            </p:nvPr>
          </p:nvSpPr>
          <p:spPr>
            <a:xfrm>
              <a:off x="700014" y="4212939"/>
              <a:ext cx="2433320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  <a:latin typeface="+mj-lt"/>
                  <a:ea typeface="+mj-ea"/>
                  <a:cs typeface="黑体" panose="02010609060101010101" charset="-122"/>
                </a:rPr>
                <a:t>自定义模型训练</a:t>
              </a:r>
              <a:endParaRPr lang="zh-CN" altLang="en-US" sz="2400" dirty="0">
                <a:solidFill>
                  <a:schemeClr val="accent1"/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10"/>
            </p:custDataLst>
          </p:nvPr>
        </p:nvGrpSpPr>
        <p:grpSpPr>
          <a:xfrm>
            <a:off x="5359174" y="4044320"/>
            <a:ext cx="2045352" cy="1919938"/>
            <a:chOff x="700014" y="4212939"/>
            <a:chExt cx="2045352" cy="1919938"/>
          </a:xfrm>
        </p:grpSpPr>
        <p:cxnSp>
          <p:nvCxnSpPr>
            <p:cNvPr id="41" name="直接连接符 40"/>
            <p:cNvCxnSpPr/>
            <p:nvPr>
              <p:custDataLst>
                <p:tags r:id="rId11"/>
              </p:custDataLst>
            </p:nvPr>
          </p:nvCxnSpPr>
          <p:spPr>
            <a:xfrm>
              <a:off x="783604" y="4798307"/>
              <a:ext cx="1685713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15"/>
            <p:cNvSpPr txBox="1"/>
            <p:nvPr>
              <p:custDataLst>
                <p:tags r:id="rId12"/>
              </p:custDataLst>
            </p:nvPr>
          </p:nvSpPr>
          <p:spPr>
            <a:xfrm>
              <a:off x="715254" y="4923202"/>
              <a:ext cx="2030112" cy="1209675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采用</a:t>
              </a:r>
              <a:r>
                <a:rPr lang="en-US" altLang="zh-CN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Pyside6</a:t>
              </a: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框架和</a:t>
              </a: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  <a:sym typeface="+mn-ea"/>
                </a:rPr>
                <a:t>信号与槽机制</a:t>
              </a: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设计</a:t>
              </a: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  <a:sym typeface="+mn-ea"/>
                </a:rPr>
                <a:t>实现直观、易用的</a:t>
              </a: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用户界面与交互功能。</a:t>
              </a:r>
              <a:endPara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13"/>
              </p:custDataLst>
            </p:nvPr>
          </p:nvSpPr>
          <p:spPr>
            <a:xfrm>
              <a:off x="700014" y="4212939"/>
              <a:ext cx="2000250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en-US" altLang="zh-CN" sz="2400" dirty="0">
                  <a:solidFill>
                    <a:schemeClr val="accent1"/>
                  </a:solidFill>
                  <a:latin typeface="+mj-lt"/>
                  <a:ea typeface="+mj-ea"/>
                  <a:cs typeface="黑体" panose="02010609060101010101" charset="-122"/>
                </a:rPr>
                <a:t>UI</a:t>
              </a:r>
              <a:r>
                <a:rPr lang="zh-CN" altLang="en-US" sz="2400" dirty="0">
                  <a:solidFill>
                    <a:schemeClr val="accent1"/>
                  </a:solidFill>
                  <a:latin typeface="+mj-lt"/>
                  <a:ea typeface="+mj-ea"/>
                  <a:cs typeface="黑体" panose="02010609060101010101" charset="-122"/>
                </a:rPr>
                <a:t>页面绘制</a:t>
              </a:r>
              <a:endParaRPr lang="zh-CN" altLang="en-US" sz="2400" dirty="0">
                <a:solidFill>
                  <a:schemeClr val="accent1"/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</p:grpSp>
      <p:grpSp>
        <p:nvGrpSpPr>
          <p:cNvPr id="44" name="组合 43"/>
          <p:cNvGrpSpPr/>
          <p:nvPr>
            <p:custDataLst>
              <p:tags r:id="rId14"/>
            </p:custDataLst>
          </p:nvPr>
        </p:nvGrpSpPr>
        <p:grpSpPr>
          <a:xfrm>
            <a:off x="7474760" y="4044320"/>
            <a:ext cx="2122805" cy="1912318"/>
            <a:chOff x="700014" y="4212939"/>
            <a:chExt cx="2122805" cy="1912318"/>
          </a:xfrm>
        </p:grpSpPr>
        <p:cxnSp>
          <p:nvCxnSpPr>
            <p:cNvPr id="45" name="直接连接符 44"/>
            <p:cNvCxnSpPr/>
            <p:nvPr>
              <p:custDataLst>
                <p:tags r:id="rId15"/>
              </p:custDataLst>
            </p:nvPr>
          </p:nvCxnSpPr>
          <p:spPr>
            <a:xfrm>
              <a:off x="783604" y="4794497"/>
              <a:ext cx="1685713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文本框 15"/>
            <p:cNvSpPr txBox="1"/>
            <p:nvPr>
              <p:custDataLst>
                <p:tags r:id="rId16"/>
              </p:custDataLst>
            </p:nvPr>
          </p:nvSpPr>
          <p:spPr>
            <a:xfrm>
              <a:off x="739384" y="4915582"/>
              <a:ext cx="2030112" cy="1209675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实现图片、摄像头和视频三种模式下的物体检测功能，满足多样化的应用场景需求。</a:t>
              </a:r>
              <a:endPara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17"/>
              </p:custDataLst>
            </p:nvPr>
          </p:nvSpPr>
          <p:spPr>
            <a:xfrm>
              <a:off x="700014" y="4212939"/>
              <a:ext cx="2122805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r>
                <a:rPr lang="zh-CN" altLang="en-US" sz="2400" dirty="0">
                  <a:solidFill>
                    <a:schemeClr val="accent1"/>
                  </a:solidFill>
                  <a:latin typeface="+mj-lt"/>
                  <a:ea typeface="+mj-ea"/>
                  <a:cs typeface="黑体" panose="02010609060101010101" charset="-122"/>
                </a:rPr>
                <a:t>检测功能</a:t>
              </a:r>
              <a:endParaRPr lang="zh-CN" altLang="en-US" sz="2400" dirty="0">
                <a:solidFill>
                  <a:schemeClr val="accent1"/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</p:grpSp>
      <p:sp>
        <p:nvSpPr>
          <p:cNvPr id="48" name="矩形 47"/>
          <p:cNvSpPr/>
          <p:nvPr/>
        </p:nvSpPr>
        <p:spPr>
          <a:xfrm>
            <a:off x="700014" y="1780980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项目简介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718211" y="3432791"/>
            <a:ext cx="524933" cy="368871"/>
            <a:chOff x="795867" y="5926667"/>
            <a:chExt cx="626533" cy="440265"/>
          </a:xfrm>
        </p:grpSpPr>
        <p:sp>
          <p:nvSpPr>
            <p:cNvPr id="53" name="椭圆 52"/>
            <p:cNvSpPr/>
            <p:nvPr/>
          </p:nvSpPr>
          <p:spPr>
            <a:xfrm>
              <a:off x="982135" y="5926667"/>
              <a:ext cx="440265" cy="440265"/>
            </a:xfrm>
            <a:prstGeom prst="ellipse">
              <a:avLst/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cxnSp>
          <p:nvCxnSpPr>
            <p:cNvPr id="54" name="直接箭头连接符 53"/>
            <p:cNvCxnSpPr/>
            <p:nvPr/>
          </p:nvCxnSpPr>
          <p:spPr>
            <a:xfrm>
              <a:off x="795867" y="6149065"/>
              <a:ext cx="427689" cy="0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718483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项目概述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8482" y="1140346"/>
            <a:ext cx="4593882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rgbClr val="3B3838"/>
                </a:solidFill>
                <a:sym typeface="+mn-ea"/>
              </a:rPr>
              <a:t>Project Overview</a:t>
            </a:r>
            <a:endParaRPr lang="en-US" altLang="zh-CN" dirty="0">
              <a:solidFill>
                <a:srgbClr val="3B3838"/>
              </a:solidFill>
              <a:sym typeface="+mn-ea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258814" y="3439600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实现功能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grpSp>
        <p:nvGrpSpPr>
          <p:cNvPr id="5" name="组合 4"/>
          <p:cNvGrpSpPr/>
          <p:nvPr>
            <p:custDataLst>
              <p:tags r:id="rId18"/>
            </p:custDataLst>
          </p:nvPr>
        </p:nvGrpSpPr>
        <p:grpSpPr>
          <a:xfrm>
            <a:off x="9628045" y="4044320"/>
            <a:ext cx="2122805" cy="1907238"/>
            <a:chOff x="700014" y="4212939"/>
            <a:chExt cx="2122805" cy="1907238"/>
          </a:xfrm>
        </p:grpSpPr>
        <p:cxnSp>
          <p:nvCxnSpPr>
            <p:cNvPr id="6" name="直接连接符 5"/>
            <p:cNvCxnSpPr/>
            <p:nvPr>
              <p:custDataLst>
                <p:tags r:id="rId19"/>
              </p:custDataLst>
            </p:nvPr>
          </p:nvCxnSpPr>
          <p:spPr>
            <a:xfrm>
              <a:off x="783604" y="4791957"/>
              <a:ext cx="1685713" cy="0"/>
            </a:xfrm>
            <a:prstGeom prst="line">
              <a:avLst/>
            </a:prstGeom>
            <a:ln w="12700">
              <a:solidFill>
                <a:schemeClr val="accent2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15"/>
            <p:cNvSpPr txBox="1"/>
            <p:nvPr>
              <p:custDataLst>
                <p:tags r:id="rId20"/>
              </p:custDataLst>
            </p:nvPr>
          </p:nvSpPr>
          <p:spPr>
            <a:xfrm>
              <a:off x="700014" y="4910502"/>
              <a:ext cx="2030112" cy="1209675"/>
            </a:xfrm>
            <a:prstGeom prst="rect">
              <a:avLst/>
            </a:prstGeom>
            <a:noFill/>
          </p:spPr>
          <p:txBody>
            <a:bodyPr vert="horz" wrap="square">
              <a:spAutoFit/>
            </a:bodyPr>
            <a:p>
              <a:pPr>
                <a:lnSpc>
                  <a:spcPct val="130000"/>
                </a:lnSpc>
              </a:pPr>
              <a:r>
                <a:rPr lang="zh-CN" altLang="en-US" sz="14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rPr>
                <a:t>开发视频爬虫功能，用于从网络上自动获取和下载相关视频资源，进一步丰富数据集。</a:t>
              </a:r>
              <a:endPara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21"/>
              </p:custDataLst>
            </p:nvPr>
          </p:nvSpPr>
          <p:spPr>
            <a:xfrm>
              <a:off x="700014" y="4212939"/>
              <a:ext cx="2122805" cy="46037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p>
              <a:r>
                <a:rPr lang="zh-CN" altLang="en-US" sz="2400" dirty="0">
                  <a:solidFill>
                    <a:schemeClr val="accent1"/>
                  </a:solidFill>
                  <a:latin typeface="+mj-lt"/>
                  <a:ea typeface="+mj-ea"/>
                  <a:cs typeface="黑体" panose="02010609060101010101" charset="-122"/>
                </a:rPr>
                <a:t>视频爬虫</a:t>
              </a:r>
              <a:endParaRPr lang="zh-CN" altLang="en-US" sz="2400" dirty="0">
                <a:solidFill>
                  <a:schemeClr val="accent1"/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54" name="组合 53"/>
          <p:cNvGrpSpPr/>
          <p:nvPr>
            <p:custDataLst>
              <p:tags r:id="rId2"/>
            </p:custDataLst>
          </p:nvPr>
        </p:nvGrpSpPr>
        <p:grpSpPr>
          <a:xfrm>
            <a:off x="734891" y="2320266"/>
            <a:ext cx="2352254" cy="2783368"/>
            <a:chOff x="1067" y="3780"/>
            <a:chExt cx="3704" cy="4383"/>
          </a:xfrm>
        </p:grpSpPr>
        <p:grpSp>
          <p:nvGrpSpPr>
            <p:cNvPr id="28" name="组合 27"/>
            <p:cNvGrpSpPr/>
            <p:nvPr>
              <p:custDataLst>
                <p:tags r:id="rId3"/>
              </p:custDataLst>
            </p:nvPr>
          </p:nvGrpSpPr>
          <p:grpSpPr>
            <a:xfrm>
              <a:off x="1067" y="7273"/>
              <a:ext cx="3489" cy="890"/>
              <a:chOff x="677741" y="4869654"/>
              <a:chExt cx="2215270" cy="565150"/>
            </a:xfrm>
          </p:grpSpPr>
          <p:sp>
            <p:nvSpPr>
              <p:cNvPr id="25" name="矩形 24"/>
              <p:cNvSpPr/>
              <p:nvPr>
                <p:custDataLst>
                  <p:tags r:id="rId4"/>
                </p:custDataLst>
              </p:nvPr>
            </p:nvSpPr>
            <p:spPr>
              <a:xfrm>
                <a:off x="677741" y="4869654"/>
                <a:ext cx="2215270" cy="5651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0000"/>
                  </a:lnSpc>
                </a:pPr>
                <a:r>
                  <a:rPr lang="zh-CN" altLang="en-US" sz="2800" dirty="0">
                    <a:solidFill>
                      <a:schemeClr val="accent1"/>
                    </a:solidFill>
                    <a:latin typeface="+mj-ea"/>
                    <a:ea typeface="+mj-ea"/>
                    <a:cs typeface="黑体" panose="02010609060101010101" charset="-122"/>
                  </a:rPr>
                  <a:t>智能化</a:t>
                </a:r>
                <a:endParaRPr lang="zh-CN" altLang="en-US" sz="2800" dirty="0">
                  <a:solidFill>
                    <a:schemeClr val="accent1"/>
                  </a:solidFill>
                  <a:latin typeface="+mj-ea"/>
                  <a:ea typeface="+mj-ea"/>
                  <a:cs typeface="黑体" panose="02010609060101010101" charset="-122"/>
                </a:endParaRPr>
              </a:p>
            </p:txBody>
          </p:sp>
          <p:cxnSp>
            <p:nvCxnSpPr>
              <p:cNvPr id="26" name="直接连接符 25"/>
              <p:cNvCxnSpPr/>
              <p:nvPr>
                <p:custDataLst>
                  <p:tags r:id="rId5"/>
                </p:custDataLst>
              </p:nvPr>
            </p:nvCxnSpPr>
            <p:spPr>
              <a:xfrm>
                <a:off x="794852" y="5434435"/>
                <a:ext cx="333861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3" name="图片 62" descr="D:/桌面/实训/ppt pic/1.jpeg1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 rotWithShape="1">
            <a:blip r:embed="rId7"/>
            <a:srcRect l="18472" r="18472"/>
            <a:stretch>
              <a:fillRect/>
            </a:stretch>
          </p:blipFill>
          <p:spPr>
            <a:xfrm>
              <a:off x="1118" y="3780"/>
              <a:ext cx="3654" cy="3246"/>
            </a:xfrm>
            <a:custGeom>
              <a:avLst/>
              <a:gdLst>
                <a:gd name="connsiteX0" fmla="*/ 0 w 2320220"/>
                <a:gd name="connsiteY0" fmla="*/ 0 h 2061387"/>
                <a:gd name="connsiteX1" fmla="*/ 2320220 w 2320220"/>
                <a:gd name="connsiteY1" fmla="*/ 0 h 2061387"/>
                <a:gd name="connsiteX2" fmla="*/ 2320220 w 2320220"/>
                <a:gd name="connsiteY2" fmla="*/ 2061387 h 2061387"/>
                <a:gd name="connsiteX3" fmla="*/ 0 w 2320220"/>
                <a:gd name="connsiteY3" fmla="*/ 2061387 h 2061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220" h="2061387">
                  <a:moveTo>
                    <a:pt x="0" y="0"/>
                  </a:moveTo>
                  <a:lnTo>
                    <a:pt x="2320220" y="0"/>
                  </a:lnTo>
                  <a:lnTo>
                    <a:pt x="2320220" y="2061387"/>
                  </a:lnTo>
                  <a:lnTo>
                    <a:pt x="0" y="2061387"/>
                  </a:lnTo>
                  <a:close/>
                </a:path>
              </a:pathLst>
            </a:custGeom>
          </p:spPr>
        </p:pic>
      </p:grpSp>
      <p:sp>
        <p:nvSpPr>
          <p:cNvPr id="3" name="矩形 2"/>
          <p:cNvSpPr/>
          <p:nvPr/>
        </p:nvSpPr>
        <p:spPr>
          <a:xfrm>
            <a:off x="718483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项目概述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18482" y="1140346"/>
            <a:ext cx="4593882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rgbClr val="3B3838"/>
                </a:solidFill>
                <a:sym typeface="+mn-ea"/>
              </a:rPr>
              <a:t>Project Overview</a:t>
            </a:r>
            <a:endParaRPr lang="en-US" altLang="zh-CN" dirty="0">
              <a:solidFill>
                <a:srgbClr val="3B3838"/>
              </a:solidFill>
              <a:sym typeface="+mn-ea"/>
            </a:endParaRPr>
          </a:p>
        </p:txBody>
      </p:sp>
      <p:grpSp>
        <p:nvGrpSpPr>
          <p:cNvPr id="55" name="组合 54"/>
          <p:cNvGrpSpPr/>
          <p:nvPr>
            <p:custDataLst>
              <p:tags r:id="rId8"/>
            </p:custDataLst>
          </p:nvPr>
        </p:nvGrpSpPr>
        <p:grpSpPr>
          <a:xfrm>
            <a:off x="9230360" y="2320290"/>
            <a:ext cx="2352675" cy="2783205"/>
            <a:chOff x="1067" y="3780"/>
            <a:chExt cx="3705" cy="4383"/>
          </a:xfrm>
        </p:grpSpPr>
        <p:grpSp>
          <p:nvGrpSpPr>
            <p:cNvPr id="56" name="组合 55"/>
            <p:cNvGrpSpPr/>
            <p:nvPr>
              <p:custDataLst>
                <p:tags r:id="rId9"/>
              </p:custDataLst>
            </p:nvPr>
          </p:nvGrpSpPr>
          <p:grpSpPr>
            <a:xfrm>
              <a:off x="1067" y="7273"/>
              <a:ext cx="3489" cy="890"/>
              <a:chOff x="677741" y="4869654"/>
              <a:chExt cx="2215270" cy="565358"/>
            </a:xfrm>
          </p:grpSpPr>
          <p:sp>
            <p:nvSpPr>
              <p:cNvPr id="57" name="矩形 56"/>
              <p:cNvSpPr/>
              <p:nvPr>
                <p:custDataLst>
                  <p:tags r:id="rId10"/>
                </p:custDataLst>
              </p:nvPr>
            </p:nvSpPr>
            <p:spPr>
              <a:xfrm>
                <a:off x="677741" y="4869654"/>
                <a:ext cx="2215270" cy="5653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algn="just">
                  <a:lnSpc>
                    <a:spcPct val="110000"/>
                  </a:lnSpc>
                </a:pPr>
                <a:r>
                  <a:rPr lang="zh-CN" altLang="en-US" sz="2800" dirty="0">
                    <a:solidFill>
                      <a:schemeClr val="accent1"/>
                    </a:solidFill>
                    <a:latin typeface="+mj-ea"/>
                    <a:ea typeface="+mj-ea"/>
                    <a:cs typeface="黑体" panose="02010609060101010101" charset="-122"/>
                  </a:rPr>
                  <a:t>可拓展性</a:t>
                </a:r>
                <a:endParaRPr lang="zh-CN" altLang="en-US" sz="2800" dirty="0">
                  <a:solidFill>
                    <a:schemeClr val="accent1"/>
                  </a:solidFill>
                  <a:latin typeface="+mj-ea"/>
                  <a:ea typeface="+mj-ea"/>
                  <a:cs typeface="黑体" panose="02010609060101010101" charset="-122"/>
                </a:endParaRPr>
              </a:p>
            </p:txBody>
          </p:sp>
          <p:cxnSp>
            <p:nvCxnSpPr>
              <p:cNvPr id="58" name="直接连接符 57"/>
              <p:cNvCxnSpPr/>
              <p:nvPr>
                <p:custDataLst>
                  <p:tags r:id="rId11"/>
                </p:custDataLst>
              </p:nvPr>
            </p:nvCxnSpPr>
            <p:spPr>
              <a:xfrm>
                <a:off x="710406" y="5433742"/>
                <a:ext cx="333861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59" name="图片 58" descr="D:/桌面/实训/ppt pic/4.jpg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 rotWithShape="1">
            <a:blip r:embed="rId13"/>
            <a:srcRect l="18946" r="18946"/>
            <a:stretch>
              <a:fillRect/>
            </a:stretch>
          </p:blipFill>
          <p:spPr>
            <a:xfrm>
              <a:off x="1118" y="3780"/>
              <a:ext cx="3654" cy="3246"/>
            </a:xfrm>
            <a:custGeom>
              <a:avLst/>
              <a:gdLst>
                <a:gd name="connsiteX0" fmla="*/ 0 w 2320220"/>
                <a:gd name="connsiteY0" fmla="*/ 0 h 2061387"/>
                <a:gd name="connsiteX1" fmla="*/ 2320220 w 2320220"/>
                <a:gd name="connsiteY1" fmla="*/ 0 h 2061387"/>
                <a:gd name="connsiteX2" fmla="*/ 2320220 w 2320220"/>
                <a:gd name="connsiteY2" fmla="*/ 2061387 h 2061387"/>
                <a:gd name="connsiteX3" fmla="*/ 0 w 2320220"/>
                <a:gd name="connsiteY3" fmla="*/ 2061387 h 2061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220" h="2061387">
                  <a:moveTo>
                    <a:pt x="0" y="0"/>
                  </a:moveTo>
                  <a:lnTo>
                    <a:pt x="2320220" y="0"/>
                  </a:lnTo>
                  <a:lnTo>
                    <a:pt x="2320220" y="2061387"/>
                  </a:lnTo>
                  <a:lnTo>
                    <a:pt x="0" y="2061387"/>
                  </a:lnTo>
                  <a:close/>
                </a:path>
              </a:pathLst>
            </a:custGeom>
          </p:spPr>
        </p:pic>
      </p:grpSp>
      <p:grpSp>
        <p:nvGrpSpPr>
          <p:cNvPr id="60" name="组合 59"/>
          <p:cNvGrpSpPr/>
          <p:nvPr>
            <p:custDataLst>
              <p:tags r:id="rId14"/>
            </p:custDataLst>
          </p:nvPr>
        </p:nvGrpSpPr>
        <p:grpSpPr>
          <a:xfrm>
            <a:off x="3545205" y="2320290"/>
            <a:ext cx="2352675" cy="2783205"/>
            <a:chOff x="1067" y="3780"/>
            <a:chExt cx="3705" cy="4383"/>
          </a:xfrm>
        </p:grpSpPr>
        <p:grpSp>
          <p:nvGrpSpPr>
            <p:cNvPr id="61" name="组合 60"/>
            <p:cNvGrpSpPr/>
            <p:nvPr>
              <p:custDataLst>
                <p:tags r:id="rId15"/>
              </p:custDataLst>
            </p:nvPr>
          </p:nvGrpSpPr>
          <p:grpSpPr>
            <a:xfrm>
              <a:off x="1067" y="7273"/>
              <a:ext cx="3489" cy="890"/>
              <a:chOff x="677741" y="4869654"/>
              <a:chExt cx="2215270" cy="565358"/>
            </a:xfrm>
          </p:grpSpPr>
          <p:sp>
            <p:nvSpPr>
              <p:cNvPr id="62" name="矩形 61"/>
              <p:cNvSpPr/>
              <p:nvPr>
                <p:custDataLst>
                  <p:tags r:id="rId16"/>
                </p:custDataLst>
              </p:nvPr>
            </p:nvSpPr>
            <p:spPr>
              <a:xfrm>
                <a:off x="677741" y="4869654"/>
                <a:ext cx="2215270" cy="5653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algn="just">
                  <a:lnSpc>
                    <a:spcPct val="110000"/>
                  </a:lnSpc>
                </a:pPr>
                <a:r>
                  <a:rPr lang="zh-CN" altLang="en-US" sz="2800" dirty="0">
                    <a:solidFill>
                      <a:schemeClr val="accent1"/>
                    </a:solidFill>
                    <a:latin typeface="+mj-ea"/>
                    <a:ea typeface="+mj-ea"/>
                    <a:cs typeface="黑体" panose="02010609060101010101" charset="-122"/>
                  </a:rPr>
                  <a:t>多样化</a:t>
                </a:r>
                <a:endParaRPr lang="zh-CN" altLang="en-US" sz="2800" dirty="0">
                  <a:solidFill>
                    <a:schemeClr val="accent1"/>
                  </a:solidFill>
                  <a:latin typeface="+mj-ea"/>
                  <a:ea typeface="+mj-ea"/>
                  <a:cs typeface="黑体" panose="02010609060101010101" charset="-122"/>
                </a:endParaRPr>
              </a:p>
            </p:txBody>
          </p:sp>
          <p:cxnSp>
            <p:nvCxnSpPr>
              <p:cNvPr id="67" name="直接连接符 66"/>
              <p:cNvCxnSpPr/>
              <p:nvPr>
                <p:custDataLst>
                  <p:tags r:id="rId17"/>
                </p:custDataLst>
              </p:nvPr>
            </p:nvCxnSpPr>
            <p:spPr>
              <a:xfrm>
                <a:off x="794852" y="5433742"/>
                <a:ext cx="333861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8" name="图片 67" descr="D:/桌面/实训/ppt pic/2.jpg2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 rotWithShape="1">
            <a:blip r:embed="rId19"/>
            <a:srcRect l="2711" r="2711"/>
            <a:stretch>
              <a:fillRect/>
            </a:stretch>
          </p:blipFill>
          <p:spPr>
            <a:xfrm>
              <a:off x="1118" y="3780"/>
              <a:ext cx="3654" cy="3246"/>
            </a:xfrm>
            <a:custGeom>
              <a:avLst/>
              <a:gdLst>
                <a:gd name="connsiteX0" fmla="*/ 0 w 2320220"/>
                <a:gd name="connsiteY0" fmla="*/ 0 h 2061387"/>
                <a:gd name="connsiteX1" fmla="*/ 2320220 w 2320220"/>
                <a:gd name="connsiteY1" fmla="*/ 0 h 2061387"/>
                <a:gd name="connsiteX2" fmla="*/ 2320220 w 2320220"/>
                <a:gd name="connsiteY2" fmla="*/ 2061387 h 2061387"/>
                <a:gd name="connsiteX3" fmla="*/ 0 w 2320220"/>
                <a:gd name="connsiteY3" fmla="*/ 2061387 h 2061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220" h="2061387">
                  <a:moveTo>
                    <a:pt x="0" y="0"/>
                  </a:moveTo>
                  <a:lnTo>
                    <a:pt x="2320220" y="0"/>
                  </a:lnTo>
                  <a:lnTo>
                    <a:pt x="2320220" y="2061387"/>
                  </a:lnTo>
                  <a:lnTo>
                    <a:pt x="0" y="2061387"/>
                  </a:lnTo>
                  <a:close/>
                </a:path>
              </a:pathLst>
            </a:custGeom>
          </p:spPr>
        </p:pic>
      </p:grpSp>
      <p:grpSp>
        <p:nvGrpSpPr>
          <p:cNvPr id="69" name="组合 68"/>
          <p:cNvGrpSpPr/>
          <p:nvPr>
            <p:custDataLst>
              <p:tags r:id="rId20"/>
            </p:custDataLst>
          </p:nvPr>
        </p:nvGrpSpPr>
        <p:grpSpPr>
          <a:xfrm>
            <a:off x="6403975" y="2320925"/>
            <a:ext cx="2352675" cy="2783205"/>
            <a:chOff x="1067" y="3780"/>
            <a:chExt cx="3705" cy="4383"/>
          </a:xfrm>
        </p:grpSpPr>
        <p:grpSp>
          <p:nvGrpSpPr>
            <p:cNvPr id="70" name="组合 69"/>
            <p:cNvGrpSpPr/>
            <p:nvPr>
              <p:custDataLst>
                <p:tags r:id="rId21"/>
              </p:custDataLst>
            </p:nvPr>
          </p:nvGrpSpPr>
          <p:grpSpPr>
            <a:xfrm>
              <a:off x="1067" y="7273"/>
              <a:ext cx="3489" cy="890"/>
              <a:chOff x="677741" y="4869654"/>
              <a:chExt cx="2215270" cy="565358"/>
            </a:xfrm>
          </p:grpSpPr>
          <p:sp>
            <p:nvSpPr>
              <p:cNvPr id="71" name="矩形 70"/>
              <p:cNvSpPr/>
              <p:nvPr>
                <p:custDataLst>
                  <p:tags r:id="rId22"/>
                </p:custDataLst>
              </p:nvPr>
            </p:nvSpPr>
            <p:spPr>
              <a:xfrm>
                <a:off x="677741" y="4869654"/>
                <a:ext cx="2215270" cy="5653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algn="just">
                  <a:lnSpc>
                    <a:spcPct val="110000"/>
                  </a:lnSpc>
                </a:pPr>
                <a:r>
                  <a:rPr lang="zh-CN" altLang="en-US" sz="2800" dirty="0">
                    <a:solidFill>
                      <a:schemeClr val="accent1"/>
                    </a:solidFill>
                    <a:latin typeface="+mj-ea"/>
                    <a:ea typeface="+mj-ea"/>
                    <a:cs typeface="黑体" panose="02010609060101010101" charset="-122"/>
                  </a:rPr>
                  <a:t>用户友好性</a:t>
                </a:r>
                <a:endParaRPr lang="zh-CN" altLang="en-US" sz="2800" dirty="0">
                  <a:solidFill>
                    <a:schemeClr val="accent1"/>
                  </a:solidFill>
                  <a:latin typeface="+mj-ea"/>
                  <a:ea typeface="+mj-ea"/>
                  <a:cs typeface="黑体" panose="02010609060101010101" charset="-122"/>
                </a:endParaRPr>
              </a:p>
            </p:txBody>
          </p:sp>
          <p:cxnSp>
            <p:nvCxnSpPr>
              <p:cNvPr id="72" name="直接连接符 71"/>
              <p:cNvCxnSpPr/>
              <p:nvPr>
                <p:custDataLst>
                  <p:tags r:id="rId23"/>
                </p:custDataLst>
              </p:nvPr>
            </p:nvCxnSpPr>
            <p:spPr>
              <a:xfrm>
                <a:off x="794852" y="5433742"/>
                <a:ext cx="333861" cy="0"/>
              </a:xfrm>
              <a:prstGeom prst="line">
                <a:avLst/>
              </a:prstGeom>
              <a:ln>
                <a:solidFill>
                  <a:schemeClr val="accent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73" name="图片 72" descr="D:/桌面/实训/ppt pic/3.jpg3"/>
            <p:cNvPicPr>
              <a:picLocks noChangeAspect="1"/>
            </p:cNvPicPr>
            <p:nvPr>
              <p:custDataLst>
                <p:tags r:id="rId24"/>
              </p:custDataLst>
            </p:nvPr>
          </p:nvPicPr>
          <p:blipFill rotWithShape="1">
            <a:blip r:embed="rId25"/>
            <a:srcRect l="-14" t="5597" r="14" b="5597"/>
            <a:stretch>
              <a:fillRect/>
            </a:stretch>
          </p:blipFill>
          <p:spPr>
            <a:xfrm>
              <a:off x="1118" y="3780"/>
              <a:ext cx="3654" cy="3246"/>
            </a:xfrm>
            <a:custGeom>
              <a:avLst/>
              <a:gdLst>
                <a:gd name="connsiteX0" fmla="*/ 0 w 2320220"/>
                <a:gd name="connsiteY0" fmla="*/ 0 h 2061387"/>
                <a:gd name="connsiteX1" fmla="*/ 2320220 w 2320220"/>
                <a:gd name="connsiteY1" fmla="*/ 0 h 2061387"/>
                <a:gd name="connsiteX2" fmla="*/ 2320220 w 2320220"/>
                <a:gd name="connsiteY2" fmla="*/ 2061387 h 2061387"/>
                <a:gd name="connsiteX3" fmla="*/ 0 w 2320220"/>
                <a:gd name="connsiteY3" fmla="*/ 2061387 h 2061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20220" h="2061387">
                  <a:moveTo>
                    <a:pt x="0" y="0"/>
                  </a:moveTo>
                  <a:lnTo>
                    <a:pt x="2320220" y="0"/>
                  </a:lnTo>
                  <a:lnTo>
                    <a:pt x="2320220" y="2061387"/>
                  </a:lnTo>
                  <a:lnTo>
                    <a:pt x="0" y="2061387"/>
                  </a:lnTo>
                  <a:close/>
                </a:path>
              </a:pathLst>
            </a:custGeom>
          </p:spPr>
        </p:pic>
      </p:grpSp>
      <p:sp>
        <p:nvSpPr>
          <p:cNvPr id="74" name="矩形 73"/>
          <p:cNvSpPr/>
          <p:nvPr/>
        </p:nvSpPr>
        <p:spPr>
          <a:xfrm>
            <a:off x="750814" y="1796855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rgbClr val="3B3838"/>
                </a:solidFill>
                <a:latin typeface="+mj-ea"/>
                <a:ea typeface="+mj-ea"/>
                <a:cs typeface="黑体" panose="02010609060101010101" charset="-122"/>
              </a:rPr>
              <a:t>项目特点</a:t>
            </a:r>
            <a:endParaRPr lang="zh-CN" altLang="en-US" dirty="0">
              <a:solidFill>
                <a:srgbClr val="3B3838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75" name="文本框 15"/>
          <p:cNvSpPr txBox="1"/>
          <p:nvPr>
            <p:custDataLst>
              <p:tags r:id="rId26"/>
            </p:custDataLst>
          </p:nvPr>
        </p:nvSpPr>
        <p:spPr>
          <a:xfrm>
            <a:off x="699770" y="5163820"/>
            <a:ext cx="2388235" cy="650240"/>
          </a:xfrm>
          <a:prstGeom prst="rect">
            <a:avLst/>
          </a:prstGeom>
          <a:noFill/>
        </p:spPr>
        <p:txBody>
          <a:bodyPr vert="horz"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基于</a:t>
            </a:r>
            <a:r>
              <a:rPr lang="en-US" altLang="zh-CN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YOLOv5</a:t>
            </a:r>
            <a:r>
              <a: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的深度学习模型，实现高效的物体检测。</a:t>
            </a:r>
            <a:endParaRPr lang="zh-CN" altLang="en-US" sz="1400" dirty="0">
              <a:solidFill>
                <a:srgbClr val="3B3838"/>
              </a:solidFill>
              <a:latin typeface="Montserrat" panose="00000500000000000000"/>
              <a:ea typeface="MiSans Light" panose="00000400000000000000" charset="-122"/>
              <a:cs typeface="黑体" panose="02010609060101010101" charset="-122"/>
            </a:endParaRPr>
          </a:p>
        </p:txBody>
      </p:sp>
      <p:sp>
        <p:nvSpPr>
          <p:cNvPr id="76" name="文本框 15"/>
          <p:cNvSpPr txBox="1"/>
          <p:nvPr>
            <p:custDataLst>
              <p:tags r:id="rId27"/>
            </p:custDataLst>
          </p:nvPr>
        </p:nvSpPr>
        <p:spPr>
          <a:xfrm>
            <a:off x="3545205" y="5163820"/>
            <a:ext cx="2534920" cy="650240"/>
          </a:xfrm>
          <a:prstGeom prst="rect">
            <a:avLst/>
          </a:prstGeom>
          <a:noFill/>
        </p:spPr>
        <p:txBody>
          <a:bodyPr vert="horz"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支持图片、摄像头和视频三种检测模式，适应不同场景需求。</a:t>
            </a:r>
            <a:endParaRPr lang="zh-CN" altLang="en-US" sz="1400" dirty="0">
              <a:solidFill>
                <a:srgbClr val="3B3838"/>
              </a:solidFill>
              <a:latin typeface="Montserrat" panose="00000500000000000000"/>
              <a:ea typeface="MiSans Light" panose="00000400000000000000" charset="-122"/>
              <a:cs typeface="黑体" panose="02010609060101010101" charset="-122"/>
            </a:endParaRPr>
          </a:p>
        </p:txBody>
      </p:sp>
      <p:sp>
        <p:nvSpPr>
          <p:cNvPr id="77" name="文本框 15"/>
          <p:cNvSpPr txBox="1"/>
          <p:nvPr>
            <p:custDataLst>
              <p:tags r:id="rId28"/>
            </p:custDataLst>
          </p:nvPr>
        </p:nvSpPr>
        <p:spPr>
          <a:xfrm>
            <a:off x="6369050" y="5164455"/>
            <a:ext cx="2235200" cy="650240"/>
          </a:xfrm>
          <a:prstGeom prst="rect">
            <a:avLst/>
          </a:prstGeom>
          <a:noFill/>
        </p:spPr>
        <p:txBody>
          <a:bodyPr vert="horz"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采用</a:t>
            </a:r>
            <a:r>
              <a:rPr lang="en-US" altLang="zh-CN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Pyside6</a:t>
            </a:r>
            <a:r>
              <a: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设计的界面简洁直观，操作便捷。</a:t>
            </a:r>
            <a:endParaRPr lang="zh-CN" altLang="en-US" sz="1400" dirty="0">
              <a:solidFill>
                <a:srgbClr val="3B3838"/>
              </a:solidFill>
              <a:latin typeface="Montserrat" panose="00000500000000000000"/>
              <a:ea typeface="MiSans Light" panose="00000400000000000000" charset="-122"/>
              <a:cs typeface="黑体" panose="02010609060101010101" charset="-122"/>
            </a:endParaRPr>
          </a:p>
        </p:txBody>
      </p:sp>
      <p:sp>
        <p:nvSpPr>
          <p:cNvPr id="78" name="文本框 15"/>
          <p:cNvSpPr txBox="1"/>
          <p:nvPr>
            <p:custDataLst>
              <p:tags r:id="rId29"/>
            </p:custDataLst>
          </p:nvPr>
        </p:nvSpPr>
        <p:spPr>
          <a:xfrm>
            <a:off x="9161780" y="5163820"/>
            <a:ext cx="2421890" cy="650240"/>
          </a:xfrm>
          <a:prstGeom prst="rect">
            <a:avLst/>
          </a:prstGeom>
          <a:noFill/>
        </p:spPr>
        <p:txBody>
          <a:bodyPr vert="horz" wrap="square">
            <a:spAutoFit/>
          </a:bodyPr>
          <a:p>
            <a:pPr>
              <a:lnSpc>
                <a:spcPct val="130000"/>
              </a:lnSpc>
            </a:pPr>
            <a:r>
              <a:rPr lang="zh-CN" altLang="en-US" sz="1400" dirty="0">
                <a:solidFill>
                  <a:srgbClr val="3B3838"/>
                </a:solidFill>
                <a:latin typeface="Montserrat" panose="00000500000000000000"/>
                <a:ea typeface="MiSans Light" panose="00000400000000000000" charset="-122"/>
                <a:cs typeface="黑体" panose="02010609060101010101" charset="-122"/>
              </a:rPr>
              <a:t>通过模型训练和视频爬虫功能，系统具备良好的实用性。</a:t>
            </a:r>
            <a:endParaRPr lang="zh-CN" altLang="en-US" sz="1400" dirty="0">
              <a:solidFill>
                <a:srgbClr val="3B3838"/>
              </a:solidFill>
              <a:latin typeface="Montserrat" panose="00000500000000000000"/>
              <a:ea typeface="MiSans Light" panose="00000400000000000000" charset="-122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" name="组合 1"/>
          <p:cNvGrpSpPr/>
          <p:nvPr/>
        </p:nvGrpSpPr>
        <p:grpSpPr>
          <a:xfrm>
            <a:off x="2872934" y="3661544"/>
            <a:ext cx="6402302" cy="612217"/>
            <a:chOff x="2858337" y="3886428"/>
            <a:chExt cx="6402302" cy="612217"/>
          </a:xfrm>
        </p:grpSpPr>
        <p:sp>
          <p:nvSpPr>
            <p:cNvPr id="4" name="矩形: 圆角 3"/>
            <p:cNvSpPr/>
            <p:nvPr/>
          </p:nvSpPr>
          <p:spPr>
            <a:xfrm>
              <a:off x="2858337" y="3886428"/>
              <a:ext cx="6402302" cy="61221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2910045" y="3929446"/>
              <a:ext cx="3859500" cy="52618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黑体" panose="0201060906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2966" y="1761134"/>
            <a:ext cx="8126069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系统框图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5114" y="3736820"/>
            <a:ext cx="1957426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  <a:cs typeface="黑体" panose="02010609060101010101" charset="-122"/>
              </a:rPr>
              <a:t>Part Three</a:t>
            </a:r>
            <a:endParaRPr lang="en-US" altLang="zh-CN" sz="24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789229" y="4916981"/>
            <a:ext cx="251901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278858" y="3799010"/>
            <a:ext cx="3497664" cy="5835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90000"/>
                  </a:schemeClr>
                </a:solidFill>
                <a:sym typeface="+mn-ea"/>
              </a:rPr>
              <a:t>System Block Diagrams</a:t>
            </a:r>
            <a:endParaRPr lang="en-US" altLang="zh-CN" dirty="0">
              <a:solidFill>
                <a:schemeClr val="bg2">
                  <a:lumMod val="90000"/>
                </a:schemeClr>
              </a:solidFill>
            </a:endParaRPr>
          </a:p>
          <a:p>
            <a:endParaRPr lang="en-US" altLang="zh-CN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285337" y="5744210"/>
            <a:ext cx="7663843" cy="411480"/>
            <a:chOff x="4478" y="9660"/>
            <a:chExt cx="12069" cy="648"/>
          </a:xfrm>
        </p:grpSpPr>
        <p:grpSp>
          <p:nvGrpSpPr>
            <p:cNvPr id="52" name="组合 51"/>
            <p:cNvGrpSpPr/>
            <p:nvPr/>
          </p:nvGrpSpPr>
          <p:grpSpPr>
            <a:xfrm>
              <a:off x="11395" y="9670"/>
              <a:ext cx="5152" cy="638"/>
              <a:chOff x="4237960" y="6007162"/>
              <a:chExt cx="3271483" cy="405173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557309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05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5754254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06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6951198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07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478" y="9660"/>
              <a:ext cx="6474" cy="640"/>
              <a:chOff x="3398438" y="6007162"/>
              <a:chExt cx="4111005" cy="406542"/>
            </a:xfrm>
          </p:grpSpPr>
          <p:sp>
            <p:nvSpPr>
              <p:cNvPr id="9" name="文本框 8"/>
              <p:cNvSpPr txBox="1"/>
              <p:nvPr/>
            </p:nvSpPr>
            <p:spPr>
              <a:xfrm>
                <a:off x="4557309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02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6951198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04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文本框 15"/>
              <p:cNvSpPr txBox="1"/>
              <p:nvPr/>
            </p:nvSpPr>
            <p:spPr>
              <a:xfrm>
                <a:off x="3398438" y="6051011"/>
                <a:ext cx="558245" cy="33730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01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</p:grpSp>
      </p:grpSp>
      <p:sp>
        <p:nvSpPr>
          <p:cNvPr id="6" name="文本框 5"/>
          <p:cNvSpPr txBox="1"/>
          <p:nvPr/>
        </p:nvSpPr>
        <p:spPr>
          <a:xfrm>
            <a:off x="4641215" y="5732860"/>
            <a:ext cx="55824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2000" dirty="0">
                <a:solidFill>
                  <a:schemeClr val="accent1"/>
                </a:solidFill>
                <a:cs typeface="黑体" panose="02010609060101010101" charset="-122"/>
              </a:rPr>
              <a:t>03</a:t>
            </a:r>
            <a:endParaRPr lang="zh-CN" altLang="en-US" sz="2000" dirty="0">
              <a:solidFill>
                <a:schemeClr val="accent1"/>
              </a:solidFill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矩形 15"/>
          <p:cNvSpPr/>
          <p:nvPr/>
        </p:nvSpPr>
        <p:spPr>
          <a:xfrm>
            <a:off x="725805" y="1632585"/>
            <a:ext cx="10726420" cy="470027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3218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系统模块组成图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218" y="1140346"/>
            <a:ext cx="4261821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System Module Component Diagram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4" name="图片 3" descr="框图"/>
          <p:cNvPicPr>
            <a:picLocks noChangeAspect="1"/>
          </p:cNvPicPr>
          <p:nvPr/>
        </p:nvPicPr>
        <p:blipFill>
          <a:blip r:embed="rId2"/>
          <a:srcRect l="1953" t="5671" r="2891" b="1890"/>
          <a:stretch>
            <a:fillRect/>
          </a:stretch>
        </p:blipFill>
        <p:spPr>
          <a:xfrm>
            <a:off x="1031875" y="1633220"/>
            <a:ext cx="10128885" cy="46996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矩形 15"/>
          <p:cNvSpPr/>
          <p:nvPr/>
        </p:nvSpPr>
        <p:spPr>
          <a:xfrm>
            <a:off x="725805" y="1632585"/>
            <a:ext cx="10726420" cy="4700270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3218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系统流程图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218" y="1140346"/>
            <a:ext cx="4261821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System Flowchart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055" y="1739265"/>
            <a:ext cx="10530205" cy="44881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3270" y="1760855"/>
            <a:ext cx="8601710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成员分工及职责描述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789229" y="4916981"/>
            <a:ext cx="251901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组合 15"/>
          <p:cNvGrpSpPr/>
          <p:nvPr/>
        </p:nvGrpSpPr>
        <p:grpSpPr>
          <a:xfrm>
            <a:off x="2872740" y="3661410"/>
            <a:ext cx="6402070" cy="612140"/>
            <a:chOff x="4524" y="5766"/>
            <a:chExt cx="10082" cy="964"/>
          </a:xfrm>
        </p:grpSpPr>
        <p:grpSp>
          <p:nvGrpSpPr>
            <p:cNvPr id="2" name="组合 1"/>
            <p:cNvGrpSpPr/>
            <p:nvPr/>
          </p:nvGrpSpPr>
          <p:grpSpPr>
            <a:xfrm>
              <a:off x="4524" y="5766"/>
              <a:ext cx="10082" cy="964"/>
              <a:chOff x="2858337" y="3886428"/>
              <a:chExt cx="6402302" cy="612217"/>
            </a:xfrm>
          </p:grpSpPr>
          <p:sp>
            <p:nvSpPr>
              <p:cNvPr id="4" name="矩形: 圆角 3"/>
              <p:cNvSpPr/>
              <p:nvPr/>
            </p:nvSpPr>
            <p:spPr>
              <a:xfrm>
                <a:off x="2858337" y="3886428"/>
                <a:ext cx="6402302" cy="612217"/>
              </a:xfrm>
              <a:prstGeom prst="roundRect">
                <a:avLst>
                  <a:gd name="adj" fmla="val 50000"/>
                </a:avLst>
              </a:prstGeom>
              <a:solidFill>
                <a:schemeClr val="accent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黑体" panose="02010609060101010101" charset="-122"/>
                </a:endParaRPr>
              </a:p>
            </p:txBody>
          </p:sp>
          <p:sp>
            <p:nvSpPr>
              <p:cNvPr id="5" name="矩形: 圆角 4"/>
              <p:cNvSpPr/>
              <p:nvPr/>
            </p:nvSpPr>
            <p:spPr>
              <a:xfrm>
                <a:off x="2910045" y="3929446"/>
                <a:ext cx="3859500" cy="526181"/>
              </a:xfrm>
              <a:prstGeom prst="roundRect">
                <a:avLst>
                  <a:gd name="adj" fmla="val 50000"/>
                </a:avLst>
              </a:prstGeom>
              <a:solidFill>
                <a:schemeClr val="bg1"/>
              </a:solidFill>
              <a:ln>
                <a:noFill/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黑体" panose="02010609060101010101" charset="-122"/>
                </a:endParaRP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10921" y="5885"/>
              <a:ext cx="3083" cy="725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400">
                  <a:solidFill>
                    <a:srgbClr val="DDBC6C"/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sz="2400" dirty="0">
                  <a:solidFill>
                    <a:schemeClr val="bg1"/>
                  </a:solidFill>
                  <a:cs typeface="黑体" panose="02010609060101010101" charset="-122"/>
                </a:rPr>
                <a:t>Part Four</a:t>
              </a:r>
              <a:endParaRPr lang="en-US" altLang="zh-CN" sz="2400" dirty="0">
                <a:solidFill>
                  <a:schemeClr val="bg1"/>
                </a:solidFill>
                <a:cs typeface="黑体" panose="02010609060101010101" charset="-122"/>
              </a:endParaRPr>
            </a:p>
          </p:txBody>
        </p:sp>
        <p:sp>
          <p:nvSpPr>
            <p:cNvPr id="34" name="文本框 33"/>
            <p:cNvSpPr txBox="1"/>
            <p:nvPr/>
          </p:nvSpPr>
          <p:spPr>
            <a:xfrm>
              <a:off x="5164" y="5983"/>
              <a:ext cx="5508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dirty="0">
                  <a:solidFill>
                    <a:schemeClr val="bg2">
                      <a:lumMod val="90000"/>
                    </a:schemeClr>
                  </a:solidFill>
                </a:rPr>
                <a:t>Division of Labor</a:t>
              </a:r>
              <a:endParaRPr lang="en-US" altLang="zh-CN" dirty="0">
                <a:solidFill>
                  <a:schemeClr val="bg2">
                    <a:lumMod val="90000"/>
                  </a:schemeClr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2247265" y="5744210"/>
            <a:ext cx="7701915" cy="411480"/>
            <a:chOff x="4418" y="9660"/>
            <a:chExt cx="12129" cy="648"/>
          </a:xfrm>
        </p:grpSpPr>
        <p:grpSp>
          <p:nvGrpSpPr>
            <p:cNvPr id="52" name="组合 51"/>
            <p:cNvGrpSpPr/>
            <p:nvPr/>
          </p:nvGrpSpPr>
          <p:grpSpPr>
            <a:xfrm>
              <a:off x="11395" y="9670"/>
              <a:ext cx="5152" cy="638"/>
              <a:chOff x="4237960" y="6007162"/>
              <a:chExt cx="3271483" cy="405173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557309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05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5754254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06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6951198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07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418" y="9660"/>
              <a:ext cx="5152" cy="640"/>
              <a:chOff x="3360366" y="6007162"/>
              <a:chExt cx="3271483" cy="40654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3360366" y="6075211"/>
                <a:ext cx="558245" cy="33730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01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557309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02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5754254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03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文本框 5"/>
          <p:cNvSpPr txBox="1"/>
          <p:nvPr/>
        </p:nvSpPr>
        <p:spPr>
          <a:xfrm>
            <a:off x="5819140" y="5726510"/>
            <a:ext cx="55824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2000" dirty="0">
                <a:solidFill>
                  <a:schemeClr val="accent1"/>
                </a:solidFill>
                <a:cs typeface="黑体" panose="02010609060101010101" charset="-122"/>
              </a:rPr>
              <a:t>04</a:t>
            </a:r>
            <a:endParaRPr lang="zh-CN" altLang="en-US" sz="2000" dirty="0">
              <a:solidFill>
                <a:schemeClr val="accent1"/>
              </a:solidFill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组合 57"/>
          <p:cNvGrpSpPr/>
          <p:nvPr>
            <p:custDataLst>
              <p:tags r:id="rId1"/>
            </p:custDataLst>
          </p:nvPr>
        </p:nvGrpSpPr>
        <p:grpSpPr>
          <a:xfrm>
            <a:off x="324485" y="1788160"/>
            <a:ext cx="6013991" cy="4100195"/>
            <a:chOff x="534" y="2734"/>
            <a:chExt cx="9471" cy="6457"/>
          </a:xfrm>
        </p:grpSpPr>
        <p:sp>
          <p:nvSpPr>
            <p:cNvPr id="83" name="矩形 82"/>
            <p:cNvSpPr/>
            <p:nvPr>
              <p:custDataLst>
                <p:tags r:id="rId2"/>
              </p:custDataLst>
            </p:nvPr>
          </p:nvSpPr>
          <p:spPr>
            <a:xfrm>
              <a:off x="534" y="7134"/>
              <a:ext cx="8656" cy="2057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82" name="矩形 81"/>
            <p:cNvSpPr/>
            <p:nvPr>
              <p:custDataLst>
                <p:tags r:id="rId3"/>
              </p:custDataLst>
            </p:nvPr>
          </p:nvSpPr>
          <p:spPr>
            <a:xfrm>
              <a:off x="534" y="2734"/>
              <a:ext cx="8656" cy="2057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grpSp>
          <p:nvGrpSpPr>
            <p:cNvPr id="24" name="组合 23"/>
            <p:cNvGrpSpPr/>
            <p:nvPr>
              <p:custDataLst>
                <p:tags r:id="rId4"/>
              </p:custDataLst>
            </p:nvPr>
          </p:nvGrpSpPr>
          <p:grpSpPr>
            <a:xfrm>
              <a:off x="3146" y="3023"/>
              <a:ext cx="6857" cy="1577"/>
              <a:chOff x="8354791" y="3314833"/>
              <a:chExt cx="4354492" cy="1000952"/>
            </a:xfrm>
          </p:grpSpPr>
          <p:sp>
            <p:nvSpPr>
              <p:cNvPr id="25" name="文本框 15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368760" y="3683440"/>
                <a:ext cx="4340523" cy="632345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>
                  <a:lnSpc>
                    <a:spcPct val="110000"/>
                  </a:lnSpc>
                </a:pPr>
                <a:r>
                  <a:rPr lang="en-US" altLang="zh-CN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1.</a:t>
                </a: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模型的训练与调试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  <a:p>
                <a:pPr>
                  <a:lnSpc>
                    <a:spcPct val="110000"/>
                  </a:lnSpc>
                </a:pPr>
                <a:r>
                  <a:rPr lang="en-US" altLang="zh-CN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2.</a:t>
                </a: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自主代码编写与测试（模型选择）</a:t>
                </a:r>
                <a:endParaRPr lang="en-US" altLang="zh-CN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8354791" y="3314833"/>
                <a:ext cx="2468936" cy="36830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333FF"/>
                    </a:solidFill>
                    <a:latin typeface="+mj-lt"/>
                    <a:ea typeface="+mj-ea"/>
                    <a:cs typeface="黑体" panose="02010609060101010101" charset="-122"/>
                  </a:rPr>
                  <a:t>黄韵璇</a:t>
                </a:r>
                <a:endParaRPr lang="zh-CN" altLang="en-US" dirty="0">
                  <a:solidFill>
                    <a:srgbClr val="3333FF"/>
                  </a:solidFill>
                  <a:latin typeface="+mj-lt"/>
                  <a:ea typeface="+mj-ea"/>
                  <a:cs typeface="黑体" panose="02010609060101010101" charset="-122"/>
                </a:endParaRPr>
              </a:p>
            </p:txBody>
          </p:sp>
        </p:grpSp>
        <p:grpSp>
          <p:nvGrpSpPr>
            <p:cNvPr id="36" name="组合 35"/>
            <p:cNvGrpSpPr/>
            <p:nvPr>
              <p:custDataLst>
                <p:tags r:id="rId7"/>
              </p:custDataLst>
            </p:nvPr>
          </p:nvGrpSpPr>
          <p:grpSpPr>
            <a:xfrm>
              <a:off x="3146" y="5084"/>
              <a:ext cx="6858" cy="1595"/>
              <a:chOff x="8354791" y="3340233"/>
              <a:chExt cx="4355127" cy="1012827"/>
            </a:xfrm>
          </p:grpSpPr>
          <p:sp>
            <p:nvSpPr>
              <p:cNvPr id="37" name="文本框 15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8369395" y="3720905"/>
                <a:ext cx="4340523" cy="632155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1.PPT设计与制作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2.自主代码编写与测试（图像检测）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</p:txBody>
          </p:sp>
          <p:sp>
            <p:nvSpPr>
              <p:cNvPr id="38" name="文本框 37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8354791" y="3340233"/>
                <a:ext cx="2468936" cy="36830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B3838"/>
                    </a:solidFill>
                    <a:latin typeface="+mj-lt"/>
                    <a:ea typeface="+mj-ea"/>
                    <a:cs typeface="黑体" panose="02010609060101010101" charset="-122"/>
                  </a:rPr>
                  <a:t>秦艺菲</a:t>
                </a:r>
                <a:endParaRPr lang="zh-CN" altLang="en-US" dirty="0">
                  <a:solidFill>
                    <a:srgbClr val="3B3838"/>
                  </a:solidFill>
                  <a:latin typeface="+mj-lt"/>
                  <a:ea typeface="+mj-ea"/>
                  <a:cs typeface="黑体" panose="02010609060101010101" charset="-122"/>
                </a:endParaRPr>
              </a:p>
            </p:txBody>
          </p:sp>
        </p:grpSp>
        <p:grpSp>
          <p:nvGrpSpPr>
            <p:cNvPr id="39" name="组合 38"/>
            <p:cNvGrpSpPr/>
            <p:nvPr>
              <p:custDataLst>
                <p:tags r:id="rId10"/>
              </p:custDataLst>
            </p:nvPr>
          </p:nvGrpSpPr>
          <p:grpSpPr>
            <a:xfrm>
              <a:off x="3146" y="7390"/>
              <a:ext cx="6859" cy="1577"/>
              <a:chOff x="8354791" y="3326898"/>
              <a:chExt cx="4355762" cy="1001606"/>
            </a:xfrm>
          </p:grpSpPr>
          <p:sp>
            <p:nvSpPr>
              <p:cNvPr id="40" name="文本框 15"/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8370030" y="3695505"/>
                <a:ext cx="4340523" cy="632999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1.UI界面样式表的设计与制作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2.自主代码编写与测试（摄像头调用）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</p:txBody>
          </p:sp>
          <p:sp>
            <p:nvSpPr>
              <p:cNvPr id="41" name="文本框 4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354791" y="3326898"/>
                <a:ext cx="2468936" cy="368300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r>
                  <a:rPr lang="zh-CN" altLang="en-US" dirty="0">
                    <a:solidFill>
                      <a:srgbClr val="3333FF"/>
                    </a:solidFill>
                    <a:latin typeface="+mj-lt"/>
                    <a:ea typeface="+mj-ea"/>
                    <a:cs typeface="黑体" panose="02010609060101010101" charset="-122"/>
                  </a:rPr>
                  <a:t>张晶</a:t>
                </a:r>
                <a:endParaRPr lang="zh-CN" altLang="en-US" dirty="0">
                  <a:solidFill>
                    <a:srgbClr val="3333FF"/>
                  </a:solidFill>
                  <a:latin typeface="+mj-lt"/>
                  <a:ea typeface="+mj-ea"/>
                  <a:cs typeface="黑体" panose="02010609060101010101" charset="-122"/>
                </a:endParaRPr>
              </a:p>
            </p:txBody>
          </p:sp>
        </p:grpSp>
        <p:sp>
          <p:nvSpPr>
            <p:cNvPr id="42" name="文本框 41"/>
            <p:cNvSpPr txBox="1"/>
            <p:nvPr>
              <p:custDataLst>
                <p:tags r:id="rId13"/>
              </p:custDataLst>
            </p:nvPr>
          </p:nvSpPr>
          <p:spPr>
            <a:xfrm>
              <a:off x="1029" y="3238"/>
              <a:ext cx="1750" cy="12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sz="4400" dirty="0">
                  <a:solidFill>
                    <a:srgbClr val="3333FF"/>
                  </a:solidFill>
                  <a:cs typeface="黑体" panose="02010609060101010101" charset="-122"/>
                </a:rPr>
                <a:t>01</a:t>
              </a:r>
              <a:endParaRPr lang="en-US" altLang="zh-CN" sz="4400" dirty="0">
                <a:solidFill>
                  <a:srgbClr val="3333FF"/>
                </a:solidFill>
                <a:cs typeface="黑体" panose="02010609060101010101" charset="-122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14"/>
              </p:custDataLst>
            </p:nvPr>
          </p:nvSpPr>
          <p:spPr>
            <a:xfrm>
              <a:off x="1029" y="5279"/>
              <a:ext cx="1750" cy="12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sz="4400" dirty="0">
                  <a:solidFill>
                    <a:srgbClr val="3B3838"/>
                  </a:solidFill>
                  <a:cs typeface="黑体" panose="02010609060101010101" charset="-122"/>
                </a:rPr>
                <a:t>02</a:t>
              </a:r>
              <a:endParaRPr lang="en-US" altLang="zh-CN" sz="4400" dirty="0">
                <a:solidFill>
                  <a:srgbClr val="3B3838"/>
                </a:solidFill>
                <a:cs typeface="黑体" panose="02010609060101010101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15"/>
              </p:custDataLst>
            </p:nvPr>
          </p:nvSpPr>
          <p:spPr>
            <a:xfrm>
              <a:off x="1029" y="7558"/>
              <a:ext cx="1750" cy="12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sz="4400" dirty="0">
                  <a:solidFill>
                    <a:srgbClr val="3333FF"/>
                  </a:solidFill>
                  <a:cs typeface="黑体" panose="02010609060101010101" charset="-122"/>
                </a:rPr>
                <a:t>03</a:t>
              </a:r>
              <a:endParaRPr lang="en-US" altLang="zh-CN" sz="4400" dirty="0">
                <a:solidFill>
                  <a:srgbClr val="3333FF"/>
                </a:solidFill>
                <a:cs typeface="黑体" panose="02010609060101010101" charset="-122"/>
              </a:endParaRPr>
            </a:p>
          </p:txBody>
        </p:sp>
        <p:cxnSp>
          <p:nvCxnSpPr>
            <p:cNvPr id="45" name="直接连接符 44"/>
            <p:cNvCxnSpPr/>
            <p:nvPr>
              <p:custDataLst>
                <p:tags r:id="rId16"/>
              </p:custDataLst>
            </p:nvPr>
          </p:nvCxnSpPr>
          <p:spPr>
            <a:xfrm>
              <a:off x="2694" y="3304"/>
              <a:ext cx="0" cy="104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连接符 46"/>
            <p:cNvCxnSpPr/>
            <p:nvPr>
              <p:custDataLst>
                <p:tags r:id="rId17"/>
              </p:custDataLst>
            </p:nvPr>
          </p:nvCxnSpPr>
          <p:spPr>
            <a:xfrm>
              <a:off x="2694" y="5325"/>
              <a:ext cx="0" cy="104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>
              <p:custDataLst>
                <p:tags r:id="rId18"/>
              </p:custDataLst>
            </p:nvPr>
          </p:nvCxnSpPr>
          <p:spPr>
            <a:xfrm>
              <a:off x="2694" y="7652"/>
              <a:ext cx="0" cy="104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矩形 1"/>
          <p:cNvSpPr/>
          <p:nvPr/>
        </p:nvSpPr>
        <p:spPr>
          <a:xfrm>
            <a:off x="539115" y="396875"/>
            <a:ext cx="4922520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  <a:sym typeface="+mn-ea"/>
              </a:rPr>
              <a:t>成员分工及职责描述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218" y="1140346"/>
            <a:ext cx="4261821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sym typeface="+mn-ea"/>
              </a:rPr>
              <a:t>Division of Labor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grpSp>
        <p:nvGrpSpPr>
          <p:cNvPr id="59" name="组合 58"/>
          <p:cNvGrpSpPr/>
          <p:nvPr>
            <p:custDataLst>
              <p:tags r:id="rId19"/>
            </p:custDataLst>
          </p:nvPr>
        </p:nvGrpSpPr>
        <p:grpSpPr>
          <a:xfrm>
            <a:off x="6289040" y="1971675"/>
            <a:ext cx="5684520" cy="3773995"/>
            <a:chOff x="1029" y="3023"/>
            <a:chExt cx="8952" cy="5943"/>
          </a:xfrm>
        </p:grpSpPr>
        <p:sp>
          <p:nvSpPr>
            <p:cNvPr id="60" name="矩形 59"/>
            <p:cNvSpPr/>
            <p:nvPr>
              <p:custDataLst>
                <p:tags r:id="rId20"/>
              </p:custDataLst>
            </p:nvPr>
          </p:nvSpPr>
          <p:spPr>
            <a:xfrm>
              <a:off x="1153" y="4816"/>
              <a:ext cx="8656" cy="2057"/>
            </a:xfrm>
            <a:prstGeom prst="rect">
              <a:avLst/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grpSp>
          <p:nvGrpSpPr>
            <p:cNvPr id="61" name="组合 60"/>
            <p:cNvGrpSpPr/>
            <p:nvPr>
              <p:custDataLst>
                <p:tags r:id="rId21"/>
              </p:custDataLst>
            </p:nvPr>
          </p:nvGrpSpPr>
          <p:grpSpPr>
            <a:xfrm>
              <a:off x="3146" y="3023"/>
              <a:ext cx="6835" cy="1577"/>
              <a:chOff x="8354790" y="3314783"/>
              <a:chExt cx="4340523" cy="1002079"/>
            </a:xfrm>
          </p:grpSpPr>
          <p:sp>
            <p:nvSpPr>
              <p:cNvPr id="62" name="文本框 15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8354790" y="3683992"/>
                <a:ext cx="4340523" cy="632870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1.UI</a:t>
                </a: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界面样式表的设计与制作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2.自主代码编写与测试（视频获取）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</p:txBody>
          </p:sp>
          <p:sp>
            <p:nvSpPr>
              <p:cNvPr id="63" name="文本框 62"/>
              <p:cNvSpPr txBox="1"/>
              <p:nvPr>
                <p:custDataLst>
                  <p:tags r:id="rId23"/>
                </p:custDataLst>
              </p:nvPr>
            </p:nvSpPr>
            <p:spPr>
              <a:xfrm>
                <a:off x="8354791" y="3314783"/>
                <a:ext cx="2468936" cy="36844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2">
                        <a:lumMod val="75000"/>
                      </a:schemeClr>
                    </a:solidFill>
                    <a:latin typeface="+mj-lt"/>
                    <a:ea typeface="+mj-ea"/>
                    <a:cs typeface="黑体" panose="02010609060101010101" charset="-122"/>
                  </a:rPr>
                  <a:t>姜凤仪</a:t>
                </a:r>
                <a:endParaRPr lang="zh-CN" altLang="en-US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+mj-ea"/>
                  <a:cs typeface="黑体" panose="02010609060101010101" charset="-122"/>
                </a:endParaRPr>
              </a:p>
            </p:txBody>
          </p:sp>
        </p:grpSp>
        <p:grpSp>
          <p:nvGrpSpPr>
            <p:cNvPr id="64" name="组合 63"/>
            <p:cNvGrpSpPr/>
            <p:nvPr>
              <p:custDataLst>
                <p:tags r:id="rId24"/>
              </p:custDataLst>
            </p:nvPr>
          </p:nvGrpSpPr>
          <p:grpSpPr>
            <a:xfrm>
              <a:off x="3146" y="5084"/>
              <a:ext cx="6835" cy="1576"/>
              <a:chOff x="8354790" y="3340193"/>
              <a:chExt cx="4340523" cy="1001342"/>
            </a:xfrm>
          </p:grpSpPr>
          <p:sp>
            <p:nvSpPr>
              <p:cNvPr id="65" name="文本框 15"/>
              <p:cNvSpPr txBox="1"/>
              <p:nvPr>
                <p:custDataLst>
                  <p:tags r:id="rId25"/>
                </p:custDataLst>
              </p:nvPr>
            </p:nvSpPr>
            <p:spPr>
              <a:xfrm>
                <a:off x="8354790" y="3708767"/>
                <a:ext cx="4340523" cy="632768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1.书写部分PPT的具体内容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2.自主代码编写与测试（检测结果切分）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</p:txBody>
          </p:sp>
          <p:sp>
            <p:nvSpPr>
              <p:cNvPr id="66" name="文本框 65"/>
              <p:cNvSpPr txBox="1"/>
              <p:nvPr>
                <p:custDataLst>
                  <p:tags r:id="rId26"/>
                </p:custDataLst>
              </p:nvPr>
            </p:nvSpPr>
            <p:spPr>
              <a:xfrm>
                <a:off x="8354791" y="3340193"/>
                <a:ext cx="2468936" cy="36844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accent1"/>
                    </a:solidFill>
                    <a:latin typeface="+mj-lt"/>
                    <a:ea typeface="+mj-ea"/>
                    <a:cs typeface="黑体" panose="02010609060101010101" charset="-122"/>
                  </a:rPr>
                  <a:t>马欣锐</a:t>
                </a:r>
                <a:endParaRPr lang="zh-CN" altLang="en-US" dirty="0">
                  <a:solidFill>
                    <a:schemeClr val="accent1"/>
                  </a:solidFill>
                  <a:latin typeface="+mj-lt"/>
                  <a:ea typeface="+mj-ea"/>
                  <a:cs typeface="黑体" panose="02010609060101010101" charset="-122"/>
                </a:endParaRPr>
              </a:p>
            </p:txBody>
          </p:sp>
        </p:grpSp>
        <p:grpSp>
          <p:nvGrpSpPr>
            <p:cNvPr id="67" name="组合 66"/>
            <p:cNvGrpSpPr/>
            <p:nvPr>
              <p:custDataLst>
                <p:tags r:id="rId27"/>
              </p:custDataLst>
            </p:nvPr>
          </p:nvGrpSpPr>
          <p:grpSpPr>
            <a:xfrm>
              <a:off x="3146" y="7390"/>
              <a:ext cx="6835" cy="1576"/>
              <a:chOff x="8354790" y="3326853"/>
              <a:chExt cx="4340523" cy="1001342"/>
            </a:xfrm>
          </p:grpSpPr>
          <p:sp>
            <p:nvSpPr>
              <p:cNvPr id="68" name="文本框 15"/>
              <p:cNvSpPr txBox="1"/>
              <p:nvPr>
                <p:custDataLst>
                  <p:tags r:id="rId28"/>
                </p:custDataLst>
              </p:nvPr>
            </p:nvSpPr>
            <p:spPr>
              <a:xfrm>
                <a:off x="8354790" y="3695427"/>
                <a:ext cx="4340523" cy="632768"/>
              </a:xfrm>
              <a:prstGeom prst="rect">
                <a:avLst/>
              </a:prstGeom>
              <a:noFill/>
            </p:spPr>
            <p:txBody>
              <a:bodyPr vert="horz" wrap="square">
                <a:spAutoFit/>
              </a:bodyPr>
              <a:lstStyle/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1.书写部分PPT的具体内容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  <a:p>
                <a:pPr algn="l">
                  <a:lnSpc>
                    <a:spcPct val="110000"/>
                  </a:lnSpc>
                  <a:buClrTx/>
                  <a:buSzTx/>
                  <a:buNone/>
                </a:pPr>
                <a:r>
                  <a:rPr lang="zh-CN" altLang="en-US" sz="1600" dirty="0">
                    <a:solidFill>
                      <a:srgbClr val="3B3838"/>
                    </a:solidFill>
                    <a:latin typeface="Montserrat" panose="00000500000000000000"/>
                    <a:ea typeface="MiSans Light" panose="00000400000000000000" charset="-122"/>
                    <a:cs typeface="黑体" panose="02010609060101010101" charset="-122"/>
                  </a:rPr>
                  <a:t>2.自主代码编写与测试（视频检测）</a:t>
                </a:r>
                <a:endParaRPr lang="zh-CN" altLang="en-US" sz="1600" dirty="0">
                  <a:solidFill>
                    <a:srgbClr val="3B3838"/>
                  </a:solidFill>
                  <a:latin typeface="Montserrat" panose="00000500000000000000"/>
                  <a:ea typeface="MiSans Light" panose="00000400000000000000" charset="-122"/>
                  <a:cs typeface="黑体" panose="02010609060101010101" charset="-122"/>
                </a:endParaRPr>
              </a:p>
            </p:txBody>
          </p:sp>
          <p:sp>
            <p:nvSpPr>
              <p:cNvPr id="69" name="文本框 68"/>
              <p:cNvSpPr txBox="1"/>
              <p:nvPr>
                <p:custDataLst>
                  <p:tags r:id="rId29"/>
                </p:custDataLst>
              </p:nvPr>
            </p:nvSpPr>
            <p:spPr>
              <a:xfrm>
                <a:off x="8354791" y="3326853"/>
                <a:ext cx="2468936" cy="36844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r>
                  <a:rPr lang="zh-CN" altLang="en-US" dirty="0">
                    <a:solidFill>
                      <a:schemeClr val="tx2">
                        <a:lumMod val="75000"/>
                      </a:schemeClr>
                    </a:solidFill>
                    <a:latin typeface="+mj-lt"/>
                    <a:ea typeface="+mj-ea"/>
                    <a:cs typeface="黑体" panose="02010609060101010101" charset="-122"/>
                  </a:rPr>
                  <a:t>吴奇能</a:t>
                </a:r>
                <a:endParaRPr lang="zh-CN" altLang="en-US" dirty="0">
                  <a:solidFill>
                    <a:schemeClr val="tx2">
                      <a:lumMod val="75000"/>
                    </a:schemeClr>
                  </a:solidFill>
                  <a:latin typeface="+mj-lt"/>
                  <a:ea typeface="+mj-ea"/>
                  <a:cs typeface="黑体" panose="02010609060101010101" charset="-122"/>
                </a:endParaRPr>
              </a:p>
            </p:txBody>
          </p:sp>
        </p:grpSp>
        <p:sp>
          <p:nvSpPr>
            <p:cNvPr id="70" name="文本框 69"/>
            <p:cNvSpPr txBox="1"/>
            <p:nvPr>
              <p:custDataLst>
                <p:tags r:id="rId30"/>
              </p:custDataLst>
            </p:nvPr>
          </p:nvSpPr>
          <p:spPr>
            <a:xfrm>
              <a:off x="1029" y="3238"/>
              <a:ext cx="1750" cy="12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rPr>
                <a:t>04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cs typeface="黑体" panose="02010609060101010101" charset="-122"/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31"/>
              </p:custDataLst>
            </p:nvPr>
          </p:nvSpPr>
          <p:spPr>
            <a:xfrm>
              <a:off x="1029" y="5279"/>
              <a:ext cx="1750" cy="12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sz="4400" dirty="0">
                  <a:solidFill>
                    <a:schemeClr val="accent1"/>
                  </a:solidFill>
                  <a:cs typeface="黑体" panose="02010609060101010101" charset="-122"/>
                </a:rPr>
                <a:t>05</a:t>
              </a:r>
              <a:endParaRPr lang="en-US" altLang="zh-CN" sz="4400" dirty="0">
                <a:solidFill>
                  <a:schemeClr val="accent1"/>
                </a:solidFill>
                <a:cs typeface="黑体" panose="02010609060101010101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32"/>
              </p:custDataLst>
            </p:nvPr>
          </p:nvSpPr>
          <p:spPr>
            <a:xfrm>
              <a:off x="1029" y="7558"/>
              <a:ext cx="1750" cy="1210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en-US" altLang="zh-CN" sz="44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rPr>
                <a:t>06</a:t>
              </a:r>
              <a:endParaRPr lang="en-US" altLang="zh-CN" sz="4400" dirty="0">
                <a:solidFill>
                  <a:schemeClr val="bg2">
                    <a:lumMod val="25000"/>
                  </a:schemeClr>
                </a:solidFill>
                <a:cs typeface="黑体" panose="02010609060101010101" charset="-122"/>
              </a:endParaRPr>
            </a:p>
          </p:txBody>
        </p:sp>
        <p:cxnSp>
          <p:nvCxnSpPr>
            <p:cNvPr id="73" name="直接连接符 72"/>
            <p:cNvCxnSpPr/>
            <p:nvPr>
              <p:custDataLst>
                <p:tags r:id="rId33"/>
              </p:custDataLst>
            </p:nvPr>
          </p:nvCxnSpPr>
          <p:spPr>
            <a:xfrm>
              <a:off x="2694" y="3304"/>
              <a:ext cx="0" cy="104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/>
            <p:cNvCxnSpPr/>
            <p:nvPr>
              <p:custDataLst>
                <p:tags r:id="rId34"/>
              </p:custDataLst>
            </p:nvPr>
          </p:nvCxnSpPr>
          <p:spPr>
            <a:xfrm>
              <a:off x="2694" y="5325"/>
              <a:ext cx="0" cy="104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/>
            <p:cNvCxnSpPr/>
            <p:nvPr>
              <p:custDataLst>
                <p:tags r:id="rId35"/>
              </p:custDataLst>
            </p:nvPr>
          </p:nvCxnSpPr>
          <p:spPr>
            <a:xfrm>
              <a:off x="2694" y="7652"/>
              <a:ext cx="0" cy="104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" name="组合 1"/>
          <p:cNvGrpSpPr/>
          <p:nvPr/>
        </p:nvGrpSpPr>
        <p:grpSpPr>
          <a:xfrm>
            <a:off x="2872934" y="3661544"/>
            <a:ext cx="6402302" cy="612217"/>
            <a:chOff x="2858337" y="3886428"/>
            <a:chExt cx="6402302" cy="612217"/>
          </a:xfrm>
        </p:grpSpPr>
        <p:sp>
          <p:nvSpPr>
            <p:cNvPr id="4" name="矩形: 圆角 3"/>
            <p:cNvSpPr/>
            <p:nvPr/>
          </p:nvSpPr>
          <p:spPr>
            <a:xfrm>
              <a:off x="2858337" y="3886428"/>
              <a:ext cx="6402302" cy="61221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2910045" y="3929446"/>
              <a:ext cx="3859500" cy="52618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黑体" panose="0201060906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2966" y="1761134"/>
            <a:ext cx="8126069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功能描述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5114" y="3736820"/>
            <a:ext cx="1957426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  <a:cs typeface="黑体" panose="02010609060101010101" charset="-122"/>
              </a:rPr>
              <a:t>Part Five</a:t>
            </a:r>
            <a:endParaRPr lang="en-US" altLang="zh-CN" sz="24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789229" y="4916981"/>
            <a:ext cx="251901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278858" y="3799010"/>
            <a:ext cx="3497664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90000"/>
                  </a:schemeClr>
                </a:solidFill>
                <a:sym typeface="+mn-ea"/>
              </a:rPr>
              <a:t>Function Description</a:t>
            </a:r>
            <a:endParaRPr lang="en-US" altLang="zh-CN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247265" y="5744210"/>
            <a:ext cx="7701915" cy="411480"/>
            <a:chOff x="4418" y="9660"/>
            <a:chExt cx="12129" cy="648"/>
          </a:xfrm>
        </p:grpSpPr>
        <p:grpSp>
          <p:nvGrpSpPr>
            <p:cNvPr id="52" name="组合 51"/>
            <p:cNvGrpSpPr/>
            <p:nvPr/>
          </p:nvGrpSpPr>
          <p:grpSpPr>
            <a:xfrm>
              <a:off x="11395" y="9670"/>
              <a:ext cx="5152" cy="638"/>
              <a:chOff x="4237960" y="6007162"/>
              <a:chExt cx="3271483" cy="405173"/>
            </a:xfrm>
          </p:grpSpPr>
          <p:cxnSp>
            <p:nvCxnSpPr>
              <p:cNvPr id="47" name="直接连接符 46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5754254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06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6951198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07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418" y="9660"/>
              <a:ext cx="6534" cy="640"/>
              <a:chOff x="3360366" y="6007162"/>
              <a:chExt cx="4149077" cy="40654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3360366" y="6058695"/>
                <a:ext cx="558245" cy="33730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>
                  <a:buClrTx/>
                  <a:buSzTx/>
                  <a:buFontTx/>
                </a:pP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01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557309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02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5754254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03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6951198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04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" name="文本框 5"/>
          <p:cNvSpPr txBox="1"/>
          <p:nvPr/>
        </p:nvSpPr>
        <p:spPr>
          <a:xfrm>
            <a:off x="6997065" y="5755720"/>
            <a:ext cx="558247" cy="39878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2000" dirty="0">
                <a:solidFill>
                  <a:schemeClr val="accent1"/>
                </a:solidFill>
                <a:cs typeface="黑体" panose="02010609060101010101" charset="-122"/>
              </a:rPr>
              <a:t>05</a:t>
            </a:r>
            <a:endParaRPr lang="zh-CN" altLang="en-US" sz="2000" dirty="0">
              <a:solidFill>
                <a:schemeClr val="accent1"/>
              </a:solidFill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矩形 15"/>
          <p:cNvSpPr/>
          <p:nvPr/>
        </p:nvSpPr>
        <p:spPr>
          <a:xfrm>
            <a:off x="725488" y="1804341"/>
            <a:ext cx="10726737" cy="435791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63610" y="2036537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单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图像检测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63320" y="2454275"/>
            <a:ext cx="5475605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rgbClr val="3B383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用户选择一张图片，程序使用</a:t>
            </a:r>
            <a:r>
              <a:rPr lang="en-US" altLang="zh-CN" sz="1600" dirty="0">
                <a:solidFill>
                  <a:srgbClr val="3B383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600" dirty="0">
                <a:solidFill>
                  <a:srgbClr val="3B3838"/>
                </a:solidFill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模型进行物体识别，并将检测结果显示在界面上</a:t>
            </a:r>
            <a:endParaRPr lang="zh-CN" altLang="en-US" sz="1600" dirty="0">
              <a:solidFill>
                <a:srgbClr val="3B3838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258389" y="3189933"/>
            <a:ext cx="5038271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162685" y="3616325"/>
            <a:ext cx="671449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用户输入：通过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QFileDialog.getOpenFileName()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选择图像文件。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图像处理：用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cv2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读取图片，并转为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QImage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格式显示在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Qt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界面上。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检测：使用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模型进行物体检测，检测框通过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result.render()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显示在图像上。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3218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功能描述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218" y="1140346"/>
            <a:ext cx="4261821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rgbClr val="3B3838"/>
                </a:solidFill>
                <a:sym typeface="+mn-ea"/>
              </a:rPr>
              <a:t>Function Description</a:t>
            </a:r>
            <a:endParaRPr lang="en-US" altLang="zh-CN" dirty="0">
              <a:solidFill>
                <a:srgbClr val="3B3838"/>
              </a:solidFill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63564" y="3327205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实现方式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62685" y="4902835"/>
            <a:ext cx="6714490" cy="92964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PyQt6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：图像显示。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：物体检测。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OpenCV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：图像读取和处理。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63564" y="4573710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技术栈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9" name="任意多边形: 形状 25"/>
          <p:cNvSpPr/>
          <p:nvPr>
            <p:custDataLst>
              <p:tags r:id="rId2"/>
            </p:custDataLst>
          </p:nvPr>
        </p:nvSpPr>
        <p:spPr>
          <a:xfrm rot="1800000">
            <a:off x="9026308" y="3059838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3" name="任意多边形: 形状 27"/>
          <p:cNvSpPr/>
          <p:nvPr>
            <p:custDataLst>
              <p:tags r:id="rId3"/>
            </p:custDataLst>
          </p:nvPr>
        </p:nvSpPr>
        <p:spPr>
          <a:xfrm rot="9000000">
            <a:off x="9494289" y="3876503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4" name="任意多边形: 形状 28"/>
          <p:cNvSpPr/>
          <p:nvPr>
            <p:custDataLst>
              <p:tags r:id="rId4"/>
            </p:custDataLst>
          </p:nvPr>
        </p:nvSpPr>
        <p:spPr>
          <a:xfrm rot="16200000">
            <a:off x="8557071" y="3875248"/>
            <a:ext cx="928428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38" name="弧形 37"/>
          <p:cNvSpPr/>
          <p:nvPr>
            <p:custDataLst>
              <p:tags r:id="rId5"/>
            </p:custDataLst>
          </p:nvPr>
        </p:nvSpPr>
        <p:spPr>
          <a:xfrm rot="8396489">
            <a:off x="8959334" y="2960633"/>
            <a:ext cx="1054841" cy="1054841"/>
          </a:xfrm>
          <a:prstGeom prst="arc">
            <a:avLst>
              <a:gd name="adj1" fmla="val 21295306"/>
              <a:gd name="adj2" fmla="val 10336717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2" name="弧形 41"/>
          <p:cNvSpPr/>
          <p:nvPr>
            <p:custDataLst>
              <p:tags r:id="rId6"/>
            </p:custDataLst>
          </p:nvPr>
        </p:nvSpPr>
        <p:spPr>
          <a:xfrm rot="15600000">
            <a:off x="9466244" y="3870224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6">
                    <a:alpha val="0"/>
                  </a:schemeClr>
                </a:gs>
                <a:gs pos="0">
                  <a:schemeClr val="accent6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3" name="弧形 42"/>
          <p:cNvSpPr/>
          <p:nvPr>
            <p:custDataLst>
              <p:tags r:id="rId7"/>
            </p:custDataLst>
          </p:nvPr>
        </p:nvSpPr>
        <p:spPr>
          <a:xfrm>
            <a:off x="8429401" y="3873991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44" name="矩形 43"/>
          <p:cNvSpPr/>
          <p:nvPr>
            <p:custDataLst>
              <p:tags r:id="rId8"/>
            </p:custDataLst>
          </p:nvPr>
        </p:nvSpPr>
        <p:spPr>
          <a:xfrm>
            <a:off x="8743315" y="2530475"/>
            <a:ext cx="1380490" cy="2686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图片识别</a:t>
            </a:r>
            <a:endParaRPr lang="zh-CN" altLang="en-US" sz="2000" b="1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45" name="矩形 44"/>
          <p:cNvSpPr/>
          <p:nvPr>
            <p:custDataLst>
              <p:tags r:id="rId9"/>
            </p:custDataLst>
          </p:nvPr>
        </p:nvSpPr>
        <p:spPr>
          <a:xfrm>
            <a:off x="9771380" y="5179060"/>
            <a:ext cx="1390015" cy="2952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  <a:sym typeface="+mn-ea"/>
              </a:rPr>
              <a:t>摄像头检测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6" name="矩形 45"/>
          <p:cNvSpPr/>
          <p:nvPr>
            <p:custDataLst>
              <p:tags r:id="rId10"/>
            </p:custDataLst>
          </p:nvPr>
        </p:nvSpPr>
        <p:spPr>
          <a:xfrm>
            <a:off x="8003540" y="5006340"/>
            <a:ext cx="1321435" cy="678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视频识别</a:t>
            </a:r>
            <a:endParaRPr lang="zh-CN" alt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（网页视频获取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）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7" name="图片 7" descr="343439383331313b343532303034303bcffacadbb9dcc0ed"/>
          <p:cNvSpPr/>
          <p:nvPr>
            <p:custDataLst>
              <p:tags r:id="rId11"/>
            </p:custDataLst>
          </p:nvPr>
        </p:nvSpPr>
        <p:spPr>
          <a:xfrm>
            <a:off x="9397176" y="3429451"/>
            <a:ext cx="186690" cy="186690"/>
          </a:xfrm>
          <a:custGeom>
            <a:avLst/>
            <a:gdLst>
              <a:gd name="connsiteX0" fmla="*/ 31592 w 283209"/>
              <a:gd name="connsiteY0" fmla="*/ 115 h 283209"/>
              <a:gd name="connsiteX1" fmla="*/ 251848 w 283209"/>
              <a:gd name="connsiteY1" fmla="*/ 115 h 283209"/>
              <a:gd name="connsiteX2" fmla="*/ 283325 w 283209"/>
              <a:gd name="connsiteY2" fmla="*/ 31592 h 283209"/>
              <a:gd name="connsiteX3" fmla="*/ 283325 w 283209"/>
              <a:gd name="connsiteY3" fmla="*/ 188915 h 283209"/>
              <a:gd name="connsiteX4" fmla="*/ 251848 w 283209"/>
              <a:gd name="connsiteY4" fmla="*/ 220391 h 283209"/>
              <a:gd name="connsiteX5" fmla="*/ 31592 w 283209"/>
              <a:gd name="connsiteY5" fmla="*/ 220391 h 283209"/>
              <a:gd name="connsiteX6" fmla="*/ 115 w 283209"/>
              <a:gd name="connsiteY6" fmla="*/ 188915 h 283209"/>
              <a:gd name="connsiteX7" fmla="*/ 115 w 283209"/>
              <a:gd name="connsiteY7" fmla="*/ 31592 h 283209"/>
              <a:gd name="connsiteX8" fmla="*/ 31592 w 283209"/>
              <a:gd name="connsiteY8" fmla="*/ 115 h 283209"/>
              <a:gd name="connsiteX9" fmla="*/ 15853 w 283209"/>
              <a:gd name="connsiteY9" fmla="*/ 251848 h 283209"/>
              <a:gd name="connsiteX10" fmla="*/ 267586 w 283209"/>
              <a:gd name="connsiteY10" fmla="*/ 251848 h 283209"/>
              <a:gd name="connsiteX11" fmla="*/ 283325 w 283209"/>
              <a:gd name="connsiteY11" fmla="*/ 267586 h 283209"/>
              <a:gd name="connsiteX12" fmla="*/ 267586 w 283209"/>
              <a:gd name="connsiteY12" fmla="*/ 283325 h 283209"/>
              <a:gd name="connsiteX13" fmla="*/ 15853 w 283209"/>
              <a:gd name="connsiteY13" fmla="*/ 283325 h 283209"/>
              <a:gd name="connsiteX14" fmla="*/ 115 w 283209"/>
              <a:gd name="connsiteY14" fmla="*/ 267586 h 283209"/>
              <a:gd name="connsiteX15" fmla="*/ 15853 w 283209"/>
              <a:gd name="connsiteY15" fmla="*/ 251848 h 283209"/>
              <a:gd name="connsiteX16" fmla="*/ 141720 w 283209"/>
              <a:gd name="connsiteY16" fmla="*/ 110243 h 283209"/>
              <a:gd name="connsiteX17" fmla="*/ 125981 w 283209"/>
              <a:gd name="connsiteY17" fmla="*/ 125981 h 283209"/>
              <a:gd name="connsiteX18" fmla="*/ 125981 w 283209"/>
              <a:gd name="connsiteY18" fmla="*/ 141720 h 283209"/>
              <a:gd name="connsiteX19" fmla="*/ 141720 w 283209"/>
              <a:gd name="connsiteY19" fmla="*/ 157459 h 283209"/>
              <a:gd name="connsiteX20" fmla="*/ 157459 w 283209"/>
              <a:gd name="connsiteY20" fmla="*/ 141720 h 283209"/>
              <a:gd name="connsiteX21" fmla="*/ 157459 w 283209"/>
              <a:gd name="connsiteY21" fmla="*/ 125981 h 283209"/>
              <a:gd name="connsiteX22" fmla="*/ 141720 w 283209"/>
              <a:gd name="connsiteY22" fmla="*/ 110243 h 283209"/>
              <a:gd name="connsiteX23" fmla="*/ 204654 w 283209"/>
              <a:gd name="connsiteY23" fmla="*/ 94525 h 283209"/>
              <a:gd name="connsiteX24" fmla="*/ 188915 w 283209"/>
              <a:gd name="connsiteY24" fmla="*/ 110243 h 283209"/>
              <a:gd name="connsiteX25" fmla="*/ 188915 w 283209"/>
              <a:gd name="connsiteY25" fmla="*/ 141720 h 283209"/>
              <a:gd name="connsiteX26" fmla="*/ 204654 w 283209"/>
              <a:gd name="connsiteY26" fmla="*/ 157457 h 283209"/>
              <a:gd name="connsiteX27" fmla="*/ 220391 w 283209"/>
              <a:gd name="connsiteY27" fmla="*/ 141720 h 283209"/>
              <a:gd name="connsiteX28" fmla="*/ 220391 w 283209"/>
              <a:gd name="connsiteY28" fmla="*/ 110243 h 283209"/>
              <a:gd name="connsiteX29" fmla="*/ 204654 w 283209"/>
              <a:gd name="connsiteY29" fmla="*/ 94525 h 283209"/>
              <a:gd name="connsiteX30" fmla="*/ 78807 w 283209"/>
              <a:gd name="connsiteY30" fmla="*/ 63028 h 283209"/>
              <a:gd name="connsiteX31" fmla="*/ 78766 w 283209"/>
              <a:gd name="connsiteY31" fmla="*/ 63048 h 283209"/>
              <a:gd name="connsiteX32" fmla="*/ 63028 w 283209"/>
              <a:gd name="connsiteY32" fmla="*/ 78787 h 283209"/>
              <a:gd name="connsiteX33" fmla="*/ 63028 w 283209"/>
              <a:gd name="connsiteY33" fmla="*/ 141720 h 283209"/>
              <a:gd name="connsiteX34" fmla="*/ 78787 w 283209"/>
              <a:gd name="connsiteY34" fmla="*/ 157478 h 283209"/>
              <a:gd name="connsiteX35" fmla="*/ 94545 w 283209"/>
              <a:gd name="connsiteY35" fmla="*/ 141720 h 283209"/>
              <a:gd name="connsiteX36" fmla="*/ 94545 w 283209"/>
              <a:gd name="connsiteY36" fmla="*/ 78766 h 283209"/>
              <a:gd name="connsiteX37" fmla="*/ 78807 w 283209"/>
              <a:gd name="connsiteY37" fmla="*/ 63028 h 283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83209" h="283209">
                <a:moveTo>
                  <a:pt x="31592" y="115"/>
                </a:moveTo>
                <a:lnTo>
                  <a:pt x="251848" y="115"/>
                </a:lnTo>
                <a:cubicBezTo>
                  <a:pt x="269245" y="115"/>
                  <a:pt x="283325" y="14195"/>
                  <a:pt x="283325" y="31592"/>
                </a:cubicBezTo>
                <a:lnTo>
                  <a:pt x="283325" y="188915"/>
                </a:lnTo>
                <a:cubicBezTo>
                  <a:pt x="283325" y="206312"/>
                  <a:pt x="269245" y="220391"/>
                  <a:pt x="251848" y="220391"/>
                </a:cubicBezTo>
                <a:lnTo>
                  <a:pt x="31592" y="220391"/>
                </a:lnTo>
                <a:cubicBezTo>
                  <a:pt x="14195" y="220391"/>
                  <a:pt x="115" y="206292"/>
                  <a:pt x="115" y="188915"/>
                </a:cubicBezTo>
                <a:lnTo>
                  <a:pt x="115" y="31592"/>
                </a:lnTo>
                <a:cubicBezTo>
                  <a:pt x="115" y="14195"/>
                  <a:pt x="14195" y="115"/>
                  <a:pt x="31592" y="115"/>
                </a:cubicBezTo>
                <a:moveTo>
                  <a:pt x="15853" y="251848"/>
                </a:moveTo>
                <a:lnTo>
                  <a:pt x="267586" y="251848"/>
                </a:lnTo>
                <a:cubicBezTo>
                  <a:pt x="276278" y="251848"/>
                  <a:pt x="283325" y="258895"/>
                  <a:pt x="283325" y="267586"/>
                </a:cubicBezTo>
                <a:cubicBezTo>
                  <a:pt x="283325" y="276278"/>
                  <a:pt x="276278" y="283325"/>
                  <a:pt x="267586" y="283325"/>
                </a:cubicBezTo>
                <a:lnTo>
                  <a:pt x="15853" y="283325"/>
                </a:lnTo>
                <a:cubicBezTo>
                  <a:pt x="7161" y="283325"/>
                  <a:pt x="115" y="276278"/>
                  <a:pt x="115" y="267586"/>
                </a:cubicBezTo>
                <a:cubicBezTo>
                  <a:pt x="115" y="258895"/>
                  <a:pt x="7161" y="251848"/>
                  <a:pt x="15853" y="251848"/>
                </a:cubicBezTo>
                <a:moveTo>
                  <a:pt x="141720" y="110243"/>
                </a:moveTo>
                <a:cubicBezTo>
                  <a:pt x="133021" y="110243"/>
                  <a:pt x="125981" y="117283"/>
                  <a:pt x="125981" y="125981"/>
                </a:cubicBezTo>
                <a:lnTo>
                  <a:pt x="125981" y="141720"/>
                </a:lnTo>
                <a:cubicBezTo>
                  <a:pt x="125981" y="150412"/>
                  <a:pt x="133028" y="157459"/>
                  <a:pt x="141720" y="157459"/>
                </a:cubicBezTo>
                <a:cubicBezTo>
                  <a:pt x="150412" y="157459"/>
                  <a:pt x="157459" y="150412"/>
                  <a:pt x="157459" y="141720"/>
                </a:cubicBezTo>
                <a:lnTo>
                  <a:pt x="157459" y="125981"/>
                </a:lnTo>
                <a:cubicBezTo>
                  <a:pt x="157459" y="117303"/>
                  <a:pt x="150419" y="110243"/>
                  <a:pt x="141720" y="110243"/>
                </a:cubicBezTo>
                <a:moveTo>
                  <a:pt x="204654" y="94525"/>
                </a:moveTo>
                <a:cubicBezTo>
                  <a:pt x="195975" y="94525"/>
                  <a:pt x="188915" y="101545"/>
                  <a:pt x="188915" y="110243"/>
                </a:cubicBezTo>
                <a:lnTo>
                  <a:pt x="188915" y="141720"/>
                </a:lnTo>
                <a:cubicBezTo>
                  <a:pt x="188916" y="150411"/>
                  <a:pt x="195962" y="157457"/>
                  <a:pt x="204654" y="157457"/>
                </a:cubicBezTo>
                <a:cubicBezTo>
                  <a:pt x="213345" y="157457"/>
                  <a:pt x="220390" y="150411"/>
                  <a:pt x="220391" y="141720"/>
                </a:cubicBezTo>
                <a:lnTo>
                  <a:pt x="220391" y="110243"/>
                </a:lnTo>
                <a:cubicBezTo>
                  <a:pt x="220391" y="101565"/>
                  <a:pt x="213351" y="94525"/>
                  <a:pt x="204654" y="94525"/>
                </a:cubicBezTo>
                <a:moveTo>
                  <a:pt x="78807" y="63028"/>
                </a:moveTo>
                <a:lnTo>
                  <a:pt x="78766" y="63048"/>
                </a:lnTo>
                <a:cubicBezTo>
                  <a:pt x="70068" y="63048"/>
                  <a:pt x="63028" y="70088"/>
                  <a:pt x="63028" y="78787"/>
                </a:cubicBezTo>
                <a:lnTo>
                  <a:pt x="63028" y="141720"/>
                </a:lnTo>
                <a:cubicBezTo>
                  <a:pt x="63028" y="150423"/>
                  <a:pt x="70083" y="157478"/>
                  <a:pt x="78787" y="157478"/>
                </a:cubicBezTo>
                <a:cubicBezTo>
                  <a:pt x="87490" y="157478"/>
                  <a:pt x="94545" y="150423"/>
                  <a:pt x="94545" y="141720"/>
                </a:cubicBezTo>
                <a:lnTo>
                  <a:pt x="94545" y="78766"/>
                </a:lnTo>
                <a:cubicBezTo>
                  <a:pt x="94545" y="70068"/>
                  <a:pt x="87506" y="63028"/>
                  <a:pt x="78807" y="63028"/>
                </a:cubicBez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1062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9" name="图形 50" descr="343439383331313b343532303033313bd3a6d3c3c9ccb3c7"/>
          <p:cNvSpPr/>
          <p:nvPr>
            <p:custDataLst>
              <p:tags r:id="rId12"/>
            </p:custDataLst>
          </p:nvPr>
        </p:nvSpPr>
        <p:spPr>
          <a:xfrm>
            <a:off x="8935056" y="4244860"/>
            <a:ext cx="172241" cy="186690"/>
          </a:xfrm>
          <a:custGeom>
            <a:avLst/>
            <a:gdLst>
              <a:gd name="connsiteX0" fmla="*/ 212414 w 261291"/>
              <a:gd name="connsiteY0" fmla="*/ 283324 h 283210"/>
              <a:gd name="connsiteX1" fmla="*/ 49107 w 261291"/>
              <a:gd name="connsiteY1" fmla="*/ 283324 h 283210"/>
              <a:gd name="connsiteX2" fmla="*/ 115 w 261291"/>
              <a:gd name="connsiteY2" fmla="*/ 236122 h 283210"/>
              <a:gd name="connsiteX3" fmla="*/ 115 w 261291"/>
              <a:gd name="connsiteY3" fmla="*/ 47316 h 283210"/>
              <a:gd name="connsiteX4" fmla="*/ 49107 w 261291"/>
              <a:gd name="connsiteY4" fmla="*/ 114 h 283210"/>
              <a:gd name="connsiteX5" fmla="*/ 212414 w 261291"/>
              <a:gd name="connsiteY5" fmla="*/ 114 h 283210"/>
              <a:gd name="connsiteX6" fmla="*/ 261407 w 261291"/>
              <a:gd name="connsiteY6" fmla="*/ 47316 h 283210"/>
              <a:gd name="connsiteX7" fmla="*/ 261407 w 261291"/>
              <a:gd name="connsiteY7" fmla="*/ 236122 h 283210"/>
              <a:gd name="connsiteX8" fmla="*/ 212414 w 261291"/>
              <a:gd name="connsiteY8" fmla="*/ 283324 h 283210"/>
              <a:gd name="connsiteX9" fmla="*/ 130761 w 261291"/>
              <a:gd name="connsiteY9" fmla="*/ 130481 h 283210"/>
              <a:gd name="connsiteX10" fmla="*/ 196083 w 261291"/>
              <a:gd name="connsiteY10" fmla="*/ 65297 h 283210"/>
              <a:gd name="connsiteX11" fmla="*/ 179753 w 261291"/>
              <a:gd name="connsiteY11" fmla="*/ 49001 h 283210"/>
              <a:gd name="connsiteX12" fmla="*/ 163422 w 261291"/>
              <a:gd name="connsiteY12" fmla="*/ 65297 h 283210"/>
              <a:gd name="connsiteX13" fmla="*/ 130761 w 261291"/>
              <a:gd name="connsiteY13" fmla="*/ 97889 h 283210"/>
              <a:gd name="connsiteX14" fmla="*/ 98099 w 261291"/>
              <a:gd name="connsiteY14" fmla="*/ 65297 h 283210"/>
              <a:gd name="connsiteX15" fmla="*/ 81768 w 261291"/>
              <a:gd name="connsiteY15" fmla="*/ 49001 h 283210"/>
              <a:gd name="connsiteX16" fmla="*/ 65438 w 261291"/>
              <a:gd name="connsiteY16" fmla="*/ 65297 h 283210"/>
              <a:gd name="connsiteX17" fmla="*/ 130761 w 261291"/>
              <a:gd name="connsiteY17" fmla="*/ 130481 h 283210"/>
              <a:gd name="connsiteX18" fmla="*/ 163422 w 261291"/>
              <a:gd name="connsiteY18" fmla="*/ 228256 h 283210"/>
              <a:gd name="connsiteX19" fmla="*/ 179753 w 261291"/>
              <a:gd name="connsiteY19" fmla="*/ 211959 h 283210"/>
              <a:gd name="connsiteX20" fmla="*/ 163422 w 261291"/>
              <a:gd name="connsiteY20" fmla="*/ 195663 h 283210"/>
              <a:gd name="connsiteX21" fmla="*/ 98099 w 261291"/>
              <a:gd name="connsiteY21" fmla="*/ 195663 h 283210"/>
              <a:gd name="connsiteX22" fmla="*/ 81768 w 261291"/>
              <a:gd name="connsiteY22" fmla="*/ 211959 h 283210"/>
              <a:gd name="connsiteX23" fmla="*/ 98099 w 261291"/>
              <a:gd name="connsiteY23" fmla="*/ 228256 h 283210"/>
              <a:gd name="connsiteX24" fmla="*/ 163422 w 261291"/>
              <a:gd name="connsiteY24" fmla="*/ 228256 h 28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1291" h="283210">
                <a:moveTo>
                  <a:pt x="212414" y="283324"/>
                </a:moveTo>
                <a:lnTo>
                  <a:pt x="49107" y="283324"/>
                </a:lnTo>
                <a:cubicBezTo>
                  <a:pt x="21345" y="283324"/>
                  <a:pt x="115" y="262870"/>
                  <a:pt x="115" y="236122"/>
                </a:cubicBezTo>
                <a:lnTo>
                  <a:pt x="115" y="47316"/>
                </a:lnTo>
                <a:cubicBezTo>
                  <a:pt x="115" y="20568"/>
                  <a:pt x="21345" y="114"/>
                  <a:pt x="49107" y="114"/>
                </a:cubicBezTo>
                <a:lnTo>
                  <a:pt x="212414" y="114"/>
                </a:lnTo>
                <a:cubicBezTo>
                  <a:pt x="240177" y="114"/>
                  <a:pt x="261407" y="20568"/>
                  <a:pt x="261407" y="47316"/>
                </a:cubicBezTo>
                <a:lnTo>
                  <a:pt x="261407" y="236122"/>
                </a:lnTo>
                <a:cubicBezTo>
                  <a:pt x="261407" y="262870"/>
                  <a:pt x="240177" y="283324"/>
                  <a:pt x="212414" y="283324"/>
                </a:cubicBezTo>
                <a:moveTo>
                  <a:pt x="130761" y="130481"/>
                </a:moveTo>
                <a:cubicBezTo>
                  <a:pt x="166688" y="130481"/>
                  <a:pt x="196083" y="101148"/>
                  <a:pt x="196083" y="65297"/>
                </a:cubicBezTo>
                <a:cubicBezTo>
                  <a:pt x="196083" y="55520"/>
                  <a:pt x="189551" y="49001"/>
                  <a:pt x="179753" y="49001"/>
                </a:cubicBezTo>
                <a:cubicBezTo>
                  <a:pt x="169954" y="49001"/>
                  <a:pt x="163422" y="55520"/>
                  <a:pt x="163422" y="65297"/>
                </a:cubicBezTo>
                <a:cubicBezTo>
                  <a:pt x="163422" y="83223"/>
                  <a:pt x="148724" y="97889"/>
                  <a:pt x="130761" y="97889"/>
                </a:cubicBezTo>
                <a:cubicBezTo>
                  <a:pt x="112797" y="97889"/>
                  <a:pt x="98099" y="83223"/>
                  <a:pt x="98099" y="65297"/>
                </a:cubicBezTo>
                <a:cubicBezTo>
                  <a:pt x="98099" y="55520"/>
                  <a:pt x="91567" y="49001"/>
                  <a:pt x="81768" y="49001"/>
                </a:cubicBezTo>
                <a:cubicBezTo>
                  <a:pt x="71970" y="49001"/>
                  <a:pt x="65438" y="55520"/>
                  <a:pt x="65438" y="65297"/>
                </a:cubicBezTo>
                <a:cubicBezTo>
                  <a:pt x="65438" y="101148"/>
                  <a:pt x="94833" y="130481"/>
                  <a:pt x="130761" y="130481"/>
                </a:cubicBezTo>
                <a:moveTo>
                  <a:pt x="163422" y="228256"/>
                </a:moveTo>
                <a:cubicBezTo>
                  <a:pt x="173221" y="228256"/>
                  <a:pt x="179753" y="221737"/>
                  <a:pt x="179753" y="211959"/>
                </a:cubicBezTo>
                <a:cubicBezTo>
                  <a:pt x="179753" y="202182"/>
                  <a:pt x="173221" y="195663"/>
                  <a:pt x="163422" y="195663"/>
                </a:cubicBezTo>
                <a:lnTo>
                  <a:pt x="98099" y="195663"/>
                </a:lnTo>
                <a:cubicBezTo>
                  <a:pt x="88301" y="195663"/>
                  <a:pt x="81768" y="202182"/>
                  <a:pt x="81768" y="211959"/>
                </a:cubicBezTo>
                <a:cubicBezTo>
                  <a:pt x="81768" y="221737"/>
                  <a:pt x="88301" y="228256"/>
                  <a:pt x="98099" y="228256"/>
                </a:cubicBezTo>
                <a:lnTo>
                  <a:pt x="163422" y="228256"/>
                </a:ln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50" name="任意多边形: 形状 23"/>
          <p:cNvSpPr/>
          <p:nvPr>
            <p:custDataLst>
              <p:tags r:id="rId13"/>
            </p:custDataLst>
          </p:nvPr>
        </p:nvSpPr>
        <p:spPr>
          <a:xfrm>
            <a:off x="9865158" y="4246116"/>
            <a:ext cx="186729" cy="186377"/>
          </a:xfrm>
          <a:custGeom>
            <a:avLst/>
            <a:gdLst>
              <a:gd name="connsiteX0" fmla="*/ 163507 w 283269"/>
              <a:gd name="connsiteY0" fmla="*/ 160395 h 282735"/>
              <a:gd name="connsiteX1" fmla="*/ 247406 w 283269"/>
              <a:gd name="connsiteY1" fmla="*/ 160395 h 282735"/>
              <a:gd name="connsiteX2" fmla="*/ 267091 w 283269"/>
              <a:gd name="connsiteY2" fmla="*/ 179932 h 282735"/>
              <a:gd name="connsiteX3" fmla="*/ 267091 w 283269"/>
              <a:gd name="connsiteY3" fmla="*/ 263198 h 282735"/>
              <a:gd name="connsiteX4" fmla="*/ 247406 w 283269"/>
              <a:gd name="connsiteY4" fmla="*/ 282735 h 282735"/>
              <a:gd name="connsiteX5" fmla="*/ 163507 w 283269"/>
              <a:gd name="connsiteY5" fmla="*/ 282735 h 282735"/>
              <a:gd name="connsiteX6" fmla="*/ 143822 w 283269"/>
              <a:gd name="connsiteY6" fmla="*/ 263198 h 282735"/>
              <a:gd name="connsiteX7" fmla="*/ 143822 w 283269"/>
              <a:gd name="connsiteY7" fmla="*/ 179932 h 282735"/>
              <a:gd name="connsiteX8" fmla="*/ 163507 w 283269"/>
              <a:gd name="connsiteY8" fmla="*/ 160395 h 282735"/>
              <a:gd name="connsiteX9" fmla="*/ 19685 w 283269"/>
              <a:gd name="connsiteY9" fmla="*/ 160395 h 282735"/>
              <a:gd name="connsiteX10" fmla="*/ 103584 w 283269"/>
              <a:gd name="connsiteY10" fmla="*/ 160395 h 282735"/>
              <a:gd name="connsiteX11" fmla="*/ 123269 w 283269"/>
              <a:gd name="connsiteY11" fmla="*/ 179932 h 282735"/>
              <a:gd name="connsiteX12" fmla="*/ 123269 w 283269"/>
              <a:gd name="connsiteY12" fmla="*/ 263198 h 282735"/>
              <a:gd name="connsiteX13" fmla="*/ 103584 w 283269"/>
              <a:gd name="connsiteY13" fmla="*/ 282735 h 282735"/>
              <a:gd name="connsiteX14" fmla="*/ 19685 w 283269"/>
              <a:gd name="connsiteY14" fmla="*/ 282735 h 282735"/>
              <a:gd name="connsiteX15" fmla="*/ 0 w 283269"/>
              <a:gd name="connsiteY15" fmla="*/ 263198 h 282735"/>
              <a:gd name="connsiteX16" fmla="*/ 0 w 283269"/>
              <a:gd name="connsiteY16" fmla="*/ 179932 h 282735"/>
              <a:gd name="connsiteX17" fmla="*/ 19685 w 283269"/>
              <a:gd name="connsiteY17" fmla="*/ 160395 h 282735"/>
              <a:gd name="connsiteX18" fmla="*/ 207898 w 283269"/>
              <a:gd name="connsiteY18" fmla="*/ 47157 h 282735"/>
              <a:gd name="connsiteX19" fmla="*/ 180063 w 283269"/>
              <a:gd name="connsiteY19" fmla="*/ 74783 h 282735"/>
              <a:gd name="connsiteX20" fmla="*/ 207898 w 283269"/>
              <a:gd name="connsiteY20" fmla="*/ 102408 h 282735"/>
              <a:gd name="connsiteX21" fmla="*/ 235733 w 283269"/>
              <a:gd name="connsiteY21" fmla="*/ 74783 h 282735"/>
              <a:gd name="connsiteX22" fmla="*/ 19685 w 283269"/>
              <a:gd name="connsiteY22" fmla="*/ 17658 h 282735"/>
              <a:gd name="connsiteX23" fmla="*/ 103584 w 283269"/>
              <a:gd name="connsiteY23" fmla="*/ 17658 h 282735"/>
              <a:gd name="connsiteX24" fmla="*/ 123269 w 283269"/>
              <a:gd name="connsiteY24" fmla="*/ 37195 h 282735"/>
              <a:gd name="connsiteX25" fmla="*/ 123269 w 283269"/>
              <a:gd name="connsiteY25" fmla="*/ 120462 h 282735"/>
              <a:gd name="connsiteX26" fmla="*/ 103584 w 283269"/>
              <a:gd name="connsiteY26" fmla="*/ 139999 h 282735"/>
              <a:gd name="connsiteX27" fmla="*/ 19685 w 283269"/>
              <a:gd name="connsiteY27" fmla="*/ 139999 h 282735"/>
              <a:gd name="connsiteX28" fmla="*/ 0 w 283269"/>
              <a:gd name="connsiteY28" fmla="*/ 120462 h 282735"/>
              <a:gd name="connsiteX29" fmla="*/ 0 w 283269"/>
              <a:gd name="connsiteY29" fmla="*/ 37195 h 282735"/>
              <a:gd name="connsiteX30" fmla="*/ 19685 w 283269"/>
              <a:gd name="connsiteY30" fmla="*/ 17658 h 282735"/>
              <a:gd name="connsiteX31" fmla="*/ 207879 w 283269"/>
              <a:gd name="connsiteY31" fmla="*/ 0 h 282735"/>
              <a:gd name="connsiteX32" fmla="*/ 221796 w 283269"/>
              <a:gd name="connsiteY32" fmla="*/ 5720 h 282735"/>
              <a:gd name="connsiteX33" fmla="*/ 221815 w 283269"/>
              <a:gd name="connsiteY33" fmla="*/ 5720 h 282735"/>
              <a:gd name="connsiteX34" fmla="*/ 277506 w 283269"/>
              <a:gd name="connsiteY34" fmla="*/ 60970 h 282735"/>
              <a:gd name="connsiteX35" fmla="*/ 277506 w 283269"/>
              <a:gd name="connsiteY35" fmla="*/ 88595 h 282735"/>
              <a:gd name="connsiteX36" fmla="*/ 221815 w 283269"/>
              <a:gd name="connsiteY36" fmla="*/ 143865 h 282735"/>
              <a:gd name="connsiteX37" fmla="*/ 193980 w 283269"/>
              <a:gd name="connsiteY37" fmla="*/ 143865 h 282735"/>
              <a:gd name="connsiteX38" fmla="*/ 138309 w 283269"/>
              <a:gd name="connsiteY38" fmla="*/ 88595 h 282735"/>
              <a:gd name="connsiteX39" fmla="*/ 138309 w 283269"/>
              <a:gd name="connsiteY39" fmla="*/ 60970 h 282735"/>
              <a:gd name="connsiteX40" fmla="*/ 193961 w 283269"/>
              <a:gd name="connsiteY40" fmla="*/ 5720 h 282735"/>
              <a:gd name="connsiteX41" fmla="*/ 207879 w 283269"/>
              <a:gd name="connsiteY41" fmla="*/ 0 h 282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3269" h="282735">
                <a:moveTo>
                  <a:pt x="163507" y="160395"/>
                </a:moveTo>
                <a:lnTo>
                  <a:pt x="247406" y="160395"/>
                </a:lnTo>
                <a:cubicBezTo>
                  <a:pt x="258278" y="160395"/>
                  <a:pt x="267091" y="169142"/>
                  <a:pt x="267091" y="179932"/>
                </a:cubicBezTo>
                <a:lnTo>
                  <a:pt x="267091" y="263198"/>
                </a:lnTo>
                <a:cubicBezTo>
                  <a:pt x="267091" y="273989"/>
                  <a:pt x="258278" y="282735"/>
                  <a:pt x="247406" y="282735"/>
                </a:cubicBezTo>
                <a:lnTo>
                  <a:pt x="163507" y="282735"/>
                </a:lnTo>
                <a:cubicBezTo>
                  <a:pt x="152635" y="282735"/>
                  <a:pt x="143822" y="273989"/>
                  <a:pt x="143822" y="263198"/>
                </a:cubicBezTo>
                <a:lnTo>
                  <a:pt x="143822" y="179932"/>
                </a:lnTo>
                <a:cubicBezTo>
                  <a:pt x="143822" y="169142"/>
                  <a:pt x="152635" y="160395"/>
                  <a:pt x="163507" y="160395"/>
                </a:cubicBezTo>
                <a:close/>
                <a:moveTo>
                  <a:pt x="19685" y="160395"/>
                </a:moveTo>
                <a:lnTo>
                  <a:pt x="103584" y="160395"/>
                </a:lnTo>
                <a:cubicBezTo>
                  <a:pt x="114456" y="160395"/>
                  <a:pt x="123269" y="169142"/>
                  <a:pt x="123269" y="179932"/>
                </a:cubicBezTo>
                <a:lnTo>
                  <a:pt x="123269" y="263198"/>
                </a:lnTo>
                <a:cubicBezTo>
                  <a:pt x="123269" y="273989"/>
                  <a:pt x="114456" y="282735"/>
                  <a:pt x="103584" y="282735"/>
                </a:cubicBezTo>
                <a:lnTo>
                  <a:pt x="19685" y="282735"/>
                </a:lnTo>
                <a:cubicBezTo>
                  <a:pt x="8813" y="282735"/>
                  <a:pt x="0" y="273989"/>
                  <a:pt x="0" y="263198"/>
                </a:cubicBezTo>
                <a:lnTo>
                  <a:pt x="0" y="179932"/>
                </a:lnTo>
                <a:cubicBezTo>
                  <a:pt x="0" y="169142"/>
                  <a:pt x="8813" y="160395"/>
                  <a:pt x="19685" y="160395"/>
                </a:cubicBezTo>
                <a:close/>
                <a:moveTo>
                  <a:pt x="207898" y="47157"/>
                </a:moveTo>
                <a:lnTo>
                  <a:pt x="180063" y="74783"/>
                </a:lnTo>
                <a:lnTo>
                  <a:pt x="207898" y="102408"/>
                </a:lnTo>
                <a:lnTo>
                  <a:pt x="235733" y="74783"/>
                </a:lnTo>
                <a:close/>
                <a:moveTo>
                  <a:pt x="19685" y="17658"/>
                </a:moveTo>
                <a:lnTo>
                  <a:pt x="103584" y="17658"/>
                </a:lnTo>
                <a:cubicBezTo>
                  <a:pt x="114456" y="17658"/>
                  <a:pt x="123269" y="26405"/>
                  <a:pt x="123269" y="37195"/>
                </a:cubicBezTo>
                <a:lnTo>
                  <a:pt x="123269" y="120462"/>
                </a:lnTo>
                <a:cubicBezTo>
                  <a:pt x="123269" y="131251"/>
                  <a:pt x="114456" y="139999"/>
                  <a:pt x="103584" y="139999"/>
                </a:cubicBezTo>
                <a:lnTo>
                  <a:pt x="19685" y="139999"/>
                </a:lnTo>
                <a:cubicBezTo>
                  <a:pt x="8813" y="139999"/>
                  <a:pt x="0" y="131251"/>
                  <a:pt x="0" y="120462"/>
                </a:cubicBezTo>
                <a:lnTo>
                  <a:pt x="0" y="37195"/>
                </a:lnTo>
                <a:cubicBezTo>
                  <a:pt x="0" y="26405"/>
                  <a:pt x="8813" y="17658"/>
                  <a:pt x="19685" y="17658"/>
                </a:cubicBezTo>
                <a:close/>
                <a:moveTo>
                  <a:pt x="207879" y="0"/>
                </a:moveTo>
                <a:cubicBezTo>
                  <a:pt x="212916" y="0"/>
                  <a:pt x="217953" y="1907"/>
                  <a:pt x="221796" y="5720"/>
                </a:cubicBezTo>
                <a:lnTo>
                  <a:pt x="221815" y="5720"/>
                </a:lnTo>
                <a:lnTo>
                  <a:pt x="277506" y="60970"/>
                </a:lnTo>
                <a:cubicBezTo>
                  <a:pt x="285190" y="68599"/>
                  <a:pt x="285190" y="80966"/>
                  <a:pt x="277506" y="88595"/>
                </a:cubicBezTo>
                <a:lnTo>
                  <a:pt x="221815" y="143865"/>
                </a:lnTo>
                <a:cubicBezTo>
                  <a:pt x="214128" y="151492"/>
                  <a:pt x="201667" y="151492"/>
                  <a:pt x="193980" y="143865"/>
                </a:cubicBezTo>
                <a:lnTo>
                  <a:pt x="138309" y="88595"/>
                </a:lnTo>
                <a:cubicBezTo>
                  <a:pt x="130625" y="80966"/>
                  <a:pt x="130625" y="68599"/>
                  <a:pt x="138309" y="60970"/>
                </a:cubicBezTo>
                <a:lnTo>
                  <a:pt x="193961" y="5720"/>
                </a:lnTo>
                <a:cubicBezTo>
                  <a:pt x="197805" y="1907"/>
                  <a:pt x="202842" y="0"/>
                  <a:pt x="207879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矩形 15"/>
          <p:cNvSpPr/>
          <p:nvPr/>
        </p:nvSpPr>
        <p:spPr>
          <a:xfrm>
            <a:off x="725488" y="1804341"/>
            <a:ext cx="10726737" cy="435791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63610" y="2036537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摄像头实时检测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63320" y="2454275"/>
            <a:ext cx="5818505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通过摄像头实时捕获视频流，使用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进行物体识别，</a:t>
            </a:r>
            <a:endParaRPr lang="zh-CN" altLang="en-US" sz="1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并将检测结果实时显示在界面上</a:t>
            </a:r>
            <a:endParaRPr lang="zh-CN" altLang="en-US" sz="1600" dirty="0">
              <a:solidFill>
                <a:srgbClr val="3B3838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258389" y="3189933"/>
            <a:ext cx="5038271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162685" y="3616325"/>
            <a:ext cx="7014845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用户输入：通过按钮启动和停止摄像头。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摄像头控制：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cv2.VideoCapture()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打开摄像头，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QTimer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定时器每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30ms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更新一次图像。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检测：每一帧图像输入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模型进行实时物体检测。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3218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功能描述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218" y="1140346"/>
            <a:ext cx="4261821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rgbClr val="3B3838"/>
                </a:solidFill>
                <a:sym typeface="+mn-ea"/>
              </a:rPr>
              <a:t>Function Description</a:t>
            </a:r>
            <a:endParaRPr lang="en-US" altLang="zh-CN" dirty="0">
              <a:solidFill>
                <a:srgbClr val="3B3838"/>
              </a:solidFill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63564" y="3327205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实现方式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62685" y="4902835"/>
            <a:ext cx="6714490" cy="92964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OpenCV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：摄像头控制和图像处理。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：实时物体检测。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PyQt6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：界面显示。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63564" y="4573710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技术栈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3" name="任意多边形: 形状 25"/>
          <p:cNvSpPr/>
          <p:nvPr>
            <p:custDataLst>
              <p:tags r:id="rId2"/>
            </p:custDataLst>
          </p:nvPr>
        </p:nvSpPr>
        <p:spPr>
          <a:xfrm rot="1800000">
            <a:off x="9026308" y="3059838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4" name="任意多边形: 形状 27"/>
          <p:cNvSpPr/>
          <p:nvPr>
            <p:custDataLst>
              <p:tags r:id="rId3"/>
            </p:custDataLst>
          </p:nvPr>
        </p:nvSpPr>
        <p:spPr>
          <a:xfrm rot="9000000">
            <a:off x="9494289" y="3876503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5" name="任意多边形: 形状 28"/>
          <p:cNvSpPr/>
          <p:nvPr>
            <p:custDataLst>
              <p:tags r:id="rId4"/>
            </p:custDataLst>
          </p:nvPr>
        </p:nvSpPr>
        <p:spPr>
          <a:xfrm rot="16200000">
            <a:off x="8557071" y="3875248"/>
            <a:ext cx="928428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6" name="弧形 25"/>
          <p:cNvSpPr/>
          <p:nvPr>
            <p:custDataLst>
              <p:tags r:id="rId5"/>
            </p:custDataLst>
          </p:nvPr>
        </p:nvSpPr>
        <p:spPr>
          <a:xfrm rot="8396489">
            <a:off x="8959334" y="2960633"/>
            <a:ext cx="1054841" cy="1054841"/>
          </a:xfrm>
          <a:prstGeom prst="arc">
            <a:avLst>
              <a:gd name="adj1" fmla="val 21295306"/>
              <a:gd name="adj2" fmla="val 10336717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弧形 26"/>
          <p:cNvSpPr/>
          <p:nvPr>
            <p:custDataLst>
              <p:tags r:id="rId6"/>
            </p:custDataLst>
          </p:nvPr>
        </p:nvSpPr>
        <p:spPr>
          <a:xfrm rot="15600000">
            <a:off x="9466244" y="3870224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6">
                    <a:alpha val="0"/>
                  </a:schemeClr>
                </a:gs>
                <a:gs pos="0">
                  <a:schemeClr val="accent6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弧形 27"/>
          <p:cNvSpPr/>
          <p:nvPr>
            <p:custDataLst>
              <p:tags r:id="rId7"/>
            </p:custDataLst>
          </p:nvPr>
        </p:nvSpPr>
        <p:spPr>
          <a:xfrm>
            <a:off x="8429401" y="3873991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8743315" y="2530475"/>
            <a:ext cx="1380490" cy="2686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图片识别</a:t>
            </a:r>
            <a:endParaRPr lang="zh-CN" altLang="en-US" sz="2000" b="1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9771380" y="5179060"/>
            <a:ext cx="1390015" cy="2952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  <a:sym typeface="+mn-ea"/>
              </a:rPr>
              <a:t>摄像头检测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8003540" y="5006340"/>
            <a:ext cx="1321435" cy="678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视频识别</a:t>
            </a:r>
            <a:endParaRPr lang="zh-CN" alt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（网页视频获取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）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图片 7" descr="343439383331313b343532303034303bcffacadbb9dcc0ed"/>
          <p:cNvSpPr/>
          <p:nvPr>
            <p:custDataLst>
              <p:tags r:id="rId11"/>
            </p:custDataLst>
          </p:nvPr>
        </p:nvSpPr>
        <p:spPr>
          <a:xfrm>
            <a:off x="9397176" y="3429451"/>
            <a:ext cx="186690" cy="186690"/>
          </a:xfrm>
          <a:custGeom>
            <a:avLst/>
            <a:gdLst>
              <a:gd name="connsiteX0" fmla="*/ 31592 w 283209"/>
              <a:gd name="connsiteY0" fmla="*/ 115 h 283209"/>
              <a:gd name="connsiteX1" fmla="*/ 251848 w 283209"/>
              <a:gd name="connsiteY1" fmla="*/ 115 h 283209"/>
              <a:gd name="connsiteX2" fmla="*/ 283325 w 283209"/>
              <a:gd name="connsiteY2" fmla="*/ 31592 h 283209"/>
              <a:gd name="connsiteX3" fmla="*/ 283325 w 283209"/>
              <a:gd name="connsiteY3" fmla="*/ 188915 h 283209"/>
              <a:gd name="connsiteX4" fmla="*/ 251848 w 283209"/>
              <a:gd name="connsiteY4" fmla="*/ 220391 h 283209"/>
              <a:gd name="connsiteX5" fmla="*/ 31592 w 283209"/>
              <a:gd name="connsiteY5" fmla="*/ 220391 h 283209"/>
              <a:gd name="connsiteX6" fmla="*/ 115 w 283209"/>
              <a:gd name="connsiteY6" fmla="*/ 188915 h 283209"/>
              <a:gd name="connsiteX7" fmla="*/ 115 w 283209"/>
              <a:gd name="connsiteY7" fmla="*/ 31592 h 283209"/>
              <a:gd name="connsiteX8" fmla="*/ 31592 w 283209"/>
              <a:gd name="connsiteY8" fmla="*/ 115 h 283209"/>
              <a:gd name="connsiteX9" fmla="*/ 15853 w 283209"/>
              <a:gd name="connsiteY9" fmla="*/ 251848 h 283209"/>
              <a:gd name="connsiteX10" fmla="*/ 267586 w 283209"/>
              <a:gd name="connsiteY10" fmla="*/ 251848 h 283209"/>
              <a:gd name="connsiteX11" fmla="*/ 283325 w 283209"/>
              <a:gd name="connsiteY11" fmla="*/ 267586 h 283209"/>
              <a:gd name="connsiteX12" fmla="*/ 267586 w 283209"/>
              <a:gd name="connsiteY12" fmla="*/ 283325 h 283209"/>
              <a:gd name="connsiteX13" fmla="*/ 15853 w 283209"/>
              <a:gd name="connsiteY13" fmla="*/ 283325 h 283209"/>
              <a:gd name="connsiteX14" fmla="*/ 115 w 283209"/>
              <a:gd name="connsiteY14" fmla="*/ 267586 h 283209"/>
              <a:gd name="connsiteX15" fmla="*/ 15853 w 283209"/>
              <a:gd name="connsiteY15" fmla="*/ 251848 h 283209"/>
              <a:gd name="connsiteX16" fmla="*/ 141720 w 283209"/>
              <a:gd name="connsiteY16" fmla="*/ 110243 h 283209"/>
              <a:gd name="connsiteX17" fmla="*/ 125981 w 283209"/>
              <a:gd name="connsiteY17" fmla="*/ 125981 h 283209"/>
              <a:gd name="connsiteX18" fmla="*/ 125981 w 283209"/>
              <a:gd name="connsiteY18" fmla="*/ 141720 h 283209"/>
              <a:gd name="connsiteX19" fmla="*/ 141720 w 283209"/>
              <a:gd name="connsiteY19" fmla="*/ 157459 h 283209"/>
              <a:gd name="connsiteX20" fmla="*/ 157459 w 283209"/>
              <a:gd name="connsiteY20" fmla="*/ 141720 h 283209"/>
              <a:gd name="connsiteX21" fmla="*/ 157459 w 283209"/>
              <a:gd name="connsiteY21" fmla="*/ 125981 h 283209"/>
              <a:gd name="connsiteX22" fmla="*/ 141720 w 283209"/>
              <a:gd name="connsiteY22" fmla="*/ 110243 h 283209"/>
              <a:gd name="connsiteX23" fmla="*/ 204654 w 283209"/>
              <a:gd name="connsiteY23" fmla="*/ 94525 h 283209"/>
              <a:gd name="connsiteX24" fmla="*/ 188915 w 283209"/>
              <a:gd name="connsiteY24" fmla="*/ 110243 h 283209"/>
              <a:gd name="connsiteX25" fmla="*/ 188915 w 283209"/>
              <a:gd name="connsiteY25" fmla="*/ 141720 h 283209"/>
              <a:gd name="connsiteX26" fmla="*/ 204654 w 283209"/>
              <a:gd name="connsiteY26" fmla="*/ 157457 h 283209"/>
              <a:gd name="connsiteX27" fmla="*/ 220391 w 283209"/>
              <a:gd name="connsiteY27" fmla="*/ 141720 h 283209"/>
              <a:gd name="connsiteX28" fmla="*/ 220391 w 283209"/>
              <a:gd name="connsiteY28" fmla="*/ 110243 h 283209"/>
              <a:gd name="connsiteX29" fmla="*/ 204654 w 283209"/>
              <a:gd name="connsiteY29" fmla="*/ 94525 h 283209"/>
              <a:gd name="connsiteX30" fmla="*/ 78807 w 283209"/>
              <a:gd name="connsiteY30" fmla="*/ 63028 h 283209"/>
              <a:gd name="connsiteX31" fmla="*/ 78766 w 283209"/>
              <a:gd name="connsiteY31" fmla="*/ 63048 h 283209"/>
              <a:gd name="connsiteX32" fmla="*/ 63028 w 283209"/>
              <a:gd name="connsiteY32" fmla="*/ 78787 h 283209"/>
              <a:gd name="connsiteX33" fmla="*/ 63028 w 283209"/>
              <a:gd name="connsiteY33" fmla="*/ 141720 h 283209"/>
              <a:gd name="connsiteX34" fmla="*/ 78787 w 283209"/>
              <a:gd name="connsiteY34" fmla="*/ 157478 h 283209"/>
              <a:gd name="connsiteX35" fmla="*/ 94545 w 283209"/>
              <a:gd name="connsiteY35" fmla="*/ 141720 h 283209"/>
              <a:gd name="connsiteX36" fmla="*/ 94545 w 283209"/>
              <a:gd name="connsiteY36" fmla="*/ 78766 h 283209"/>
              <a:gd name="connsiteX37" fmla="*/ 78807 w 283209"/>
              <a:gd name="connsiteY37" fmla="*/ 63028 h 283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83209" h="283209">
                <a:moveTo>
                  <a:pt x="31592" y="115"/>
                </a:moveTo>
                <a:lnTo>
                  <a:pt x="251848" y="115"/>
                </a:lnTo>
                <a:cubicBezTo>
                  <a:pt x="269245" y="115"/>
                  <a:pt x="283325" y="14195"/>
                  <a:pt x="283325" y="31592"/>
                </a:cubicBezTo>
                <a:lnTo>
                  <a:pt x="283325" y="188915"/>
                </a:lnTo>
                <a:cubicBezTo>
                  <a:pt x="283325" y="206312"/>
                  <a:pt x="269245" y="220391"/>
                  <a:pt x="251848" y="220391"/>
                </a:cubicBezTo>
                <a:lnTo>
                  <a:pt x="31592" y="220391"/>
                </a:lnTo>
                <a:cubicBezTo>
                  <a:pt x="14195" y="220391"/>
                  <a:pt x="115" y="206292"/>
                  <a:pt x="115" y="188915"/>
                </a:cubicBezTo>
                <a:lnTo>
                  <a:pt x="115" y="31592"/>
                </a:lnTo>
                <a:cubicBezTo>
                  <a:pt x="115" y="14195"/>
                  <a:pt x="14195" y="115"/>
                  <a:pt x="31592" y="115"/>
                </a:cubicBezTo>
                <a:moveTo>
                  <a:pt x="15853" y="251848"/>
                </a:moveTo>
                <a:lnTo>
                  <a:pt x="267586" y="251848"/>
                </a:lnTo>
                <a:cubicBezTo>
                  <a:pt x="276278" y="251848"/>
                  <a:pt x="283325" y="258895"/>
                  <a:pt x="283325" y="267586"/>
                </a:cubicBezTo>
                <a:cubicBezTo>
                  <a:pt x="283325" y="276278"/>
                  <a:pt x="276278" y="283325"/>
                  <a:pt x="267586" y="283325"/>
                </a:cubicBezTo>
                <a:lnTo>
                  <a:pt x="15853" y="283325"/>
                </a:lnTo>
                <a:cubicBezTo>
                  <a:pt x="7161" y="283325"/>
                  <a:pt x="115" y="276278"/>
                  <a:pt x="115" y="267586"/>
                </a:cubicBezTo>
                <a:cubicBezTo>
                  <a:pt x="115" y="258895"/>
                  <a:pt x="7161" y="251848"/>
                  <a:pt x="15853" y="251848"/>
                </a:cubicBezTo>
                <a:moveTo>
                  <a:pt x="141720" y="110243"/>
                </a:moveTo>
                <a:cubicBezTo>
                  <a:pt x="133021" y="110243"/>
                  <a:pt x="125981" y="117283"/>
                  <a:pt x="125981" y="125981"/>
                </a:cubicBezTo>
                <a:lnTo>
                  <a:pt x="125981" y="141720"/>
                </a:lnTo>
                <a:cubicBezTo>
                  <a:pt x="125981" y="150412"/>
                  <a:pt x="133028" y="157459"/>
                  <a:pt x="141720" y="157459"/>
                </a:cubicBezTo>
                <a:cubicBezTo>
                  <a:pt x="150412" y="157459"/>
                  <a:pt x="157459" y="150412"/>
                  <a:pt x="157459" y="141720"/>
                </a:cubicBezTo>
                <a:lnTo>
                  <a:pt x="157459" y="125981"/>
                </a:lnTo>
                <a:cubicBezTo>
                  <a:pt x="157459" y="117303"/>
                  <a:pt x="150419" y="110243"/>
                  <a:pt x="141720" y="110243"/>
                </a:cubicBezTo>
                <a:moveTo>
                  <a:pt x="204654" y="94525"/>
                </a:moveTo>
                <a:cubicBezTo>
                  <a:pt x="195975" y="94525"/>
                  <a:pt x="188915" y="101545"/>
                  <a:pt x="188915" y="110243"/>
                </a:cubicBezTo>
                <a:lnTo>
                  <a:pt x="188915" y="141720"/>
                </a:lnTo>
                <a:cubicBezTo>
                  <a:pt x="188916" y="150411"/>
                  <a:pt x="195962" y="157457"/>
                  <a:pt x="204654" y="157457"/>
                </a:cubicBezTo>
                <a:cubicBezTo>
                  <a:pt x="213345" y="157457"/>
                  <a:pt x="220390" y="150411"/>
                  <a:pt x="220391" y="141720"/>
                </a:cubicBezTo>
                <a:lnTo>
                  <a:pt x="220391" y="110243"/>
                </a:lnTo>
                <a:cubicBezTo>
                  <a:pt x="220391" y="101565"/>
                  <a:pt x="213351" y="94525"/>
                  <a:pt x="204654" y="94525"/>
                </a:cubicBezTo>
                <a:moveTo>
                  <a:pt x="78807" y="63028"/>
                </a:moveTo>
                <a:lnTo>
                  <a:pt x="78766" y="63048"/>
                </a:lnTo>
                <a:cubicBezTo>
                  <a:pt x="70068" y="63048"/>
                  <a:pt x="63028" y="70088"/>
                  <a:pt x="63028" y="78787"/>
                </a:cubicBezTo>
                <a:lnTo>
                  <a:pt x="63028" y="141720"/>
                </a:lnTo>
                <a:cubicBezTo>
                  <a:pt x="63028" y="150423"/>
                  <a:pt x="70083" y="157478"/>
                  <a:pt x="78787" y="157478"/>
                </a:cubicBezTo>
                <a:cubicBezTo>
                  <a:pt x="87490" y="157478"/>
                  <a:pt x="94545" y="150423"/>
                  <a:pt x="94545" y="141720"/>
                </a:cubicBezTo>
                <a:lnTo>
                  <a:pt x="94545" y="78766"/>
                </a:lnTo>
                <a:cubicBezTo>
                  <a:pt x="94545" y="70068"/>
                  <a:pt x="87506" y="63028"/>
                  <a:pt x="78807" y="63028"/>
                </a:cubicBez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1062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图形 50" descr="343439383331313b343532303033313bd3a6d3c3c9ccb3c7"/>
          <p:cNvSpPr/>
          <p:nvPr>
            <p:custDataLst>
              <p:tags r:id="rId12"/>
            </p:custDataLst>
          </p:nvPr>
        </p:nvSpPr>
        <p:spPr>
          <a:xfrm>
            <a:off x="8935056" y="4244860"/>
            <a:ext cx="172241" cy="186690"/>
          </a:xfrm>
          <a:custGeom>
            <a:avLst/>
            <a:gdLst>
              <a:gd name="connsiteX0" fmla="*/ 212414 w 261291"/>
              <a:gd name="connsiteY0" fmla="*/ 283324 h 283210"/>
              <a:gd name="connsiteX1" fmla="*/ 49107 w 261291"/>
              <a:gd name="connsiteY1" fmla="*/ 283324 h 283210"/>
              <a:gd name="connsiteX2" fmla="*/ 115 w 261291"/>
              <a:gd name="connsiteY2" fmla="*/ 236122 h 283210"/>
              <a:gd name="connsiteX3" fmla="*/ 115 w 261291"/>
              <a:gd name="connsiteY3" fmla="*/ 47316 h 283210"/>
              <a:gd name="connsiteX4" fmla="*/ 49107 w 261291"/>
              <a:gd name="connsiteY4" fmla="*/ 114 h 283210"/>
              <a:gd name="connsiteX5" fmla="*/ 212414 w 261291"/>
              <a:gd name="connsiteY5" fmla="*/ 114 h 283210"/>
              <a:gd name="connsiteX6" fmla="*/ 261407 w 261291"/>
              <a:gd name="connsiteY6" fmla="*/ 47316 h 283210"/>
              <a:gd name="connsiteX7" fmla="*/ 261407 w 261291"/>
              <a:gd name="connsiteY7" fmla="*/ 236122 h 283210"/>
              <a:gd name="connsiteX8" fmla="*/ 212414 w 261291"/>
              <a:gd name="connsiteY8" fmla="*/ 283324 h 283210"/>
              <a:gd name="connsiteX9" fmla="*/ 130761 w 261291"/>
              <a:gd name="connsiteY9" fmla="*/ 130481 h 283210"/>
              <a:gd name="connsiteX10" fmla="*/ 196083 w 261291"/>
              <a:gd name="connsiteY10" fmla="*/ 65297 h 283210"/>
              <a:gd name="connsiteX11" fmla="*/ 179753 w 261291"/>
              <a:gd name="connsiteY11" fmla="*/ 49001 h 283210"/>
              <a:gd name="connsiteX12" fmla="*/ 163422 w 261291"/>
              <a:gd name="connsiteY12" fmla="*/ 65297 h 283210"/>
              <a:gd name="connsiteX13" fmla="*/ 130761 w 261291"/>
              <a:gd name="connsiteY13" fmla="*/ 97889 h 283210"/>
              <a:gd name="connsiteX14" fmla="*/ 98099 w 261291"/>
              <a:gd name="connsiteY14" fmla="*/ 65297 h 283210"/>
              <a:gd name="connsiteX15" fmla="*/ 81768 w 261291"/>
              <a:gd name="connsiteY15" fmla="*/ 49001 h 283210"/>
              <a:gd name="connsiteX16" fmla="*/ 65438 w 261291"/>
              <a:gd name="connsiteY16" fmla="*/ 65297 h 283210"/>
              <a:gd name="connsiteX17" fmla="*/ 130761 w 261291"/>
              <a:gd name="connsiteY17" fmla="*/ 130481 h 283210"/>
              <a:gd name="connsiteX18" fmla="*/ 163422 w 261291"/>
              <a:gd name="connsiteY18" fmla="*/ 228256 h 283210"/>
              <a:gd name="connsiteX19" fmla="*/ 179753 w 261291"/>
              <a:gd name="connsiteY19" fmla="*/ 211959 h 283210"/>
              <a:gd name="connsiteX20" fmla="*/ 163422 w 261291"/>
              <a:gd name="connsiteY20" fmla="*/ 195663 h 283210"/>
              <a:gd name="connsiteX21" fmla="*/ 98099 w 261291"/>
              <a:gd name="connsiteY21" fmla="*/ 195663 h 283210"/>
              <a:gd name="connsiteX22" fmla="*/ 81768 w 261291"/>
              <a:gd name="connsiteY22" fmla="*/ 211959 h 283210"/>
              <a:gd name="connsiteX23" fmla="*/ 98099 w 261291"/>
              <a:gd name="connsiteY23" fmla="*/ 228256 h 283210"/>
              <a:gd name="connsiteX24" fmla="*/ 163422 w 261291"/>
              <a:gd name="connsiteY24" fmla="*/ 228256 h 28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1291" h="283210">
                <a:moveTo>
                  <a:pt x="212414" y="283324"/>
                </a:moveTo>
                <a:lnTo>
                  <a:pt x="49107" y="283324"/>
                </a:lnTo>
                <a:cubicBezTo>
                  <a:pt x="21345" y="283324"/>
                  <a:pt x="115" y="262870"/>
                  <a:pt x="115" y="236122"/>
                </a:cubicBezTo>
                <a:lnTo>
                  <a:pt x="115" y="47316"/>
                </a:lnTo>
                <a:cubicBezTo>
                  <a:pt x="115" y="20568"/>
                  <a:pt x="21345" y="114"/>
                  <a:pt x="49107" y="114"/>
                </a:cubicBezTo>
                <a:lnTo>
                  <a:pt x="212414" y="114"/>
                </a:lnTo>
                <a:cubicBezTo>
                  <a:pt x="240177" y="114"/>
                  <a:pt x="261407" y="20568"/>
                  <a:pt x="261407" y="47316"/>
                </a:cubicBezTo>
                <a:lnTo>
                  <a:pt x="261407" y="236122"/>
                </a:lnTo>
                <a:cubicBezTo>
                  <a:pt x="261407" y="262870"/>
                  <a:pt x="240177" y="283324"/>
                  <a:pt x="212414" y="283324"/>
                </a:cubicBezTo>
                <a:moveTo>
                  <a:pt x="130761" y="130481"/>
                </a:moveTo>
                <a:cubicBezTo>
                  <a:pt x="166688" y="130481"/>
                  <a:pt x="196083" y="101148"/>
                  <a:pt x="196083" y="65297"/>
                </a:cubicBezTo>
                <a:cubicBezTo>
                  <a:pt x="196083" y="55520"/>
                  <a:pt x="189551" y="49001"/>
                  <a:pt x="179753" y="49001"/>
                </a:cubicBezTo>
                <a:cubicBezTo>
                  <a:pt x="169954" y="49001"/>
                  <a:pt x="163422" y="55520"/>
                  <a:pt x="163422" y="65297"/>
                </a:cubicBezTo>
                <a:cubicBezTo>
                  <a:pt x="163422" y="83223"/>
                  <a:pt x="148724" y="97889"/>
                  <a:pt x="130761" y="97889"/>
                </a:cubicBezTo>
                <a:cubicBezTo>
                  <a:pt x="112797" y="97889"/>
                  <a:pt x="98099" y="83223"/>
                  <a:pt x="98099" y="65297"/>
                </a:cubicBezTo>
                <a:cubicBezTo>
                  <a:pt x="98099" y="55520"/>
                  <a:pt x="91567" y="49001"/>
                  <a:pt x="81768" y="49001"/>
                </a:cubicBezTo>
                <a:cubicBezTo>
                  <a:pt x="71970" y="49001"/>
                  <a:pt x="65438" y="55520"/>
                  <a:pt x="65438" y="65297"/>
                </a:cubicBezTo>
                <a:cubicBezTo>
                  <a:pt x="65438" y="101148"/>
                  <a:pt x="94833" y="130481"/>
                  <a:pt x="130761" y="130481"/>
                </a:cubicBezTo>
                <a:moveTo>
                  <a:pt x="163422" y="228256"/>
                </a:moveTo>
                <a:cubicBezTo>
                  <a:pt x="173221" y="228256"/>
                  <a:pt x="179753" y="221737"/>
                  <a:pt x="179753" y="211959"/>
                </a:cubicBezTo>
                <a:cubicBezTo>
                  <a:pt x="179753" y="202182"/>
                  <a:pt x="173221" y="195663"/>
                  <a:pt x="163422" y="195663"/>
                </a:cubicBezTo>
                <a:lnTo>
                  <a:pt x="98099" y="195663"/>
                </a:lnTo>
                <a:cubicBezTo>
                  <a:pt x="88301" y="195663"/>
                  <a:pt x="81768" y="202182"/>
                  <a:pt x="81768" y="211959"/>
                </a:cubicBezTo>
                <a:cubicBezTo>
                  <a:pt x="81768" y="221737"/>
                  <a:pt x="88301" y="228256"/>
                  <a:pt x="98099" y="228256"/>
                </a:cubicBezTo>
                <a:lnTo>
                  <a:pt x="163422" y="228256"/>
                </a:ln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任意多边形: 形状 23"/>
          <p:cNvSpPr/>
          <p:nvPr>
            <p:custDataLst>
              <p:tags r:id="rId13"/>
            </p:custDataLst>
          </p:nvPr>
        </p:nvSpPr>
        <p:spPr>
          <a:xfrm>
            <a:off x="9865158" y="4246116"/>
            <a:ext cx="186729" cy="186377"/>
          </a:xfrm>
          <a:custGeom>
            <a:avLst/>
            <a:gdLst>
              <a:gd name="connsiteX0" fmla="*/ 163507 w 283269"/>
              <a:gd name="connsiteY0" fmla="*/ 160395 h 282735"/>
              <a:gd name="connsiteX1" fmla="*/ 247406 w 283269"/>
              <a:gd name="connsiteY1" fmla="*/ 160395 h 282735"/>
              <a:gd name="connsiteX2" fmla="*/ 267091 w 283269"/>
              <a:gd name="connsiteY2" fmla="*/ 179932 h 282735"/>
              <a:gd name="connsiteX3" fmla="*/ 267091 w 283269"/>
              <a:gd name="connsiteY3" fmla="*/ 263198 h 282735"/>
              <a:gd name="connsiteX4" fmla="*/ 247406 w 283269"/>
              <a:gd name="connsiteY4" fmla="*/ 282735 h 282735"/>
              <a:gd name="connsiteX5" fmla="*/ 163507 w 283269"/>
              <a:gd name="connsiteY5" fmla="*/ 282735 h 282735"/>
              <a:gd name="connsiteX6" fmla="*/ 143822 w 283269"/>
              <a:gd name="connsiteY6" fmla="*/ 263198 h 282735"/>
              <a:gd name="connsiteX7" fmla="*/ 143822 w 283269"/>
              <a:gd name="connsiteY7" fmla="*/ 179932 h 282735"/>
              <a:gd name="connsiteX8" fmla="*/ 163507 w 283269"/>
              <a:gd name="connsiteY8" fmla="*/ 160395 h 282735"/>
              <a:gd name="connsiteX9" fmla="*/ 19685 w 283269"/>
              <a:gd name="connsiteY9" fmla="*/ 160395 h 282735"/>
              <a:gd name="connsiteX10" fmla="*/ 103584 w 283269"/>
              <a:gd name="connsiteY10" fmla="*/ 160395 h 282735"/>
              <a:gd name="connsiteX11" fmla="*/ 123269 w 283269"/>
              <a:gd name="connsiteY11" fmla="*/ 179932 h 282735"/>
              <a:gd name="connsiteX12" fmla="*/ 123269 w 283269"/>
              <a:gd name="connsiteY12" fmla="*/ 263198 h 282735"/>
              <a:gd name="connsiteX13" fmla="*/ 103584 w 283269"/>
              <a:gd name="connsiteY13" fmla="*/ 282735 h 282735"/>
              <a:gd name="connsiteX14" fmla="*/ 19685 w 283269"/>
              <a:gd name="connsiteY14" fmla="*/ 282735 h 282735"/>
              <a:gd name="connsiteX15" fmla="*/ 0 w 283269"/>
              <a:gd name="connsiteY15" fmla="*/ 263198 h 282735"/>
              <a:gd name="connsiteX16" fmla="*/ 0 w 283269"/>
              <a:gd name="connsiteY16" fmla="*/ 179932 h 282735"/>
              <a:gd name="connsiteX17" fmla="*/ 19685 w 283269"/>
              <a:gd name="connsiteY17" fmla="*/ 160395 h 282735"/>
              <a:gd name="connsiteX18" fmla="*/ 207898 w 283269"/>
              <a:gd name="connsiteY18" fmla="*/ 47157 h 282735"/>
              <a:gd name="connsiteX19" fmla="*/ 180063 w 283269"/>
              <a:gd name="connsiteY19" fmla="*/ 74783 h 282735"/>
              <a:gd name="connsiteX20" fmla="*/ 207898 w 283269"/>
              <a:gd name="connsiteY20" fmla="*/ 102408 h 282735"/>
              <a:gd name="connsiteX21" fmla="*/ 235733 w 283269"/>
              <a:gd name="connsiteY21" fmla="*/ 74783 h 282735"/>
              <a:gd name="connsiteX22" fmla="*/ 19685 w 283269"/>
              <a:gd name="connsiteY22" fmla="*/ 17658 h 282735"/>
              <a:gd name="connsiteX23" fmla="*/ 103584 w 283269"/>
              <a:gd name="connsiteY23" fmla="*/ 17658 h 282735"/>
              <a:gd name="connsiteX24" fmla="*/ 123269 w 283269"/>
              <a:gd name="connsiteY24" fmla="*/ 37195 h 282735"/>
              <a:gd name="connsiteX25" fmla="*/ 123269 w 283269"/>
              <a:gd name="connsiteY25" fmla="*/ 120462 h 282735"/>
              <a:gd name="connsiteX26" fmla="*/ 103584 w 283269"/>
              <a:gd name="connsiteY26" fmla="*/ 139999 h 282735"/>
              <a:gd name="connsiteX27" fmla="*/ 19685 w 283269"/>
              <a:gd name="connsiteY27" fmla="*/ 139999 h 282735"/>
              <a:gd name="connsiteX28" fmla="*/ 0 w 283269"/>
              <a:gd name="connsiteY28" fmla="*/ 120462 h 282735"/>
              <a:gd name="connsiteX29" fmla="*/ 0 w 283269"/>
              <a:gd name="connsiteY29" fmla="*/ 37195 h 282735"/>
              <a:gd name="connsiteX30" fmla="*/ 19685 w 283269"/>
              <a:gd name="connsiteY30" fmla="*/ 17658 h 282735"/>
              <a:gd name="connsiteX31" fmla="*/ 207879 w 283269"/>
              <a:gd name="connsiteY31" fmla="*/ 0 h 282735"/>
              <a:gd name="connsiteX32" fmla="*/ 221796 w 283269"/>
              <a:gd name="connsiteY32" fmla="*/ 5720 h 282735"/>
              <a:gd name="connsiteX33" fmla="*/ 221815 w 283269"/>
              <a:gd name="connsiteY33" fmla="*/ 5720 h 282735"/>
              <a:gd name="connsiteX34" fmla="*/ 277506 w 283269"/>
              <a:gd name="connsiteY34" fmla="*/ 60970 h 282735"/>
              <a:gd name="connsiteX35" fmla="*/ 277506 w 283269"/>
              <a:gd name="connsiteY35" fmla="*/ 88595 h 282735"/>
              <a:gd name="connsiteX36" fmla="*/ 221815 w 283269"/>
              <a:gd name="connsiteY36" fmla="*/ 143865 h 282735"/>
              <a:gd name="connsiteX37" fmla="*/ 193980 w 283269"/>
              <a:gd name="connsiteY37" fmla="*/ 143865 h 282735"/>
              <a:gd name="connsiteX38" fmla="*/ 138309 w 283269"/>
              <a:gd name="connsiteY38" fmla="*/ 88595 h 282735"/>
              <a:gd name="connsiteX39" fmla="*/ 138309 w 283269"/>
              <a:gd name="connsiteY39" fmla="*/ 60970 h 282735"/>
              <a:gd name="connsiteX40" fmla="*/ 193961 w 283269"/>
              <a:gd name="connsiteY40" fmla="*/ 5720 h 282735"/>
              <a:gd name="connsiteX41" fmla="*/ 207879 w 283269"/>
              <a:gd name="connsiteY41" fmla="*/ 0 h 282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3269" h="282735">
                <a:moveTo>
                  <a:pt x="163507" y="160395"/>
                </a:moveTo>
                <a:lnTo>
                  <a:pt x="247406" y="160395"/>
                </a:lnTo>
                <a:cubicBezTo>
                  <a:pt x="258278" y="160395"/>
                  <a:pt x="267091" y="169142"/>
                  <a:pt x="267091" y="179932"/>
                </a:cubicBezTo>
                <a:lnTo>
                  <a:pt x="267091" y="263198"/>
                </a:lnTo>
                <a:cubicBezTo>
                  <a:pt x="267091" y="273989"/>
                  <a:pt x="258278" y="282735"/>
                  <a:pt x="247406" y="282735"/>
                </a:cubicBezTo>
                <a:lnTo>
                  <a:pt x="163507" y="282735"/>
                </a:lnTo>
                <a:cubicBezTo>
                  <a:pt x="152635" y="282735"/>
                  <a:pt x="143822" y="273989"/>
                  <a:pt x="143822" y="263198"/>
                </a:cubicBezTo>
                <a:lnTo>
                  <a:pt x="143822" y="179932"/>
                </a:lnTo>
                <a:cubicBezTo>
                  <a:pt x="143822" y="169142"/>
                  <a:pt x="152635" y="160395"/>
                  <a:pt x="163507" y="160395"/>
                </a:cubicBezTo>
                <a:close/>
                <a:moveTo>
                  <a:pt x="19685" y="160395"/>
                </a:moveTo>
                <a:lnTo>
                  <a:pt x="103584" y="160395"/>
                </a:lnTo>
                <a:cubicBezTo>
                  <a:pt x="114456" y="160395"/>
                  <a:pt x="123269" y="169142"/>
                  <a:pt x="123269" y="179932"/>
                </a:cubicBezTo>
                <a:lnTo>
                  <a:pt x="123269" y="263198"/>
                </a:lnTo>
                <a:cubicBezTo>
                  <a:pt x="123269" y="273989"/>
                  <a:pt x="114456" y="282735"/>
                  <a:pt x="103584" y="282735"/>
                </a:cubicBezTo>
                <a:lnTo>
                  <a:pt x="19685" y="282735"/>
                </a:lnTo>
                <a:cubicBezTo>
                  <a:pt x="8813" y="282735"/>
                  <a:pt x="0" y="273989"/>
                  <a:pt x="0" y="263198"/>
                </a:cubicBezTo>
                <a:lnTo>
                  <a:pt x="0" y="179932"/>
                </a:lnTo>
                <a:cubicBezTo>
                  <a:pt x="0" y="169142"/>
                  <a:pt x="8813" y="160395"/>
                  <a:pt x="19685" y="160395"/>
                </a:cubicBezTo>
                <a:close/>
                <a:moveTo>
                  <a:pt x="207898" y="47157"/>
                </a:moveTo>
                <a:lnTo>
                  <a:pt x="180063" y="74783"/>
                </a:lnTo>
                <a:lnTo>
                  <a:pt x="207898" y="102408"/>
                </a:lnTo>
                <a:lnTo>
                  <a:pt x="235733" y="74783"/>
                </a:lnTo>
                <a:close/>
                <a:moveTo>
                  <a:pt x="19685" y="17658"/>
                </a:moveTo>
                <a:lnTo>
                  <a:pt x="103584" y="17658"/>
                </a:lnTo>
                <a:cubicBezTo>
                  <a:pt x="114456" y="17658"/>
                  <a:pt x="123269" y="26405"/>
                  <a:pt x="123269" y="37195"/>
                </a:cubicBezTo>
                <a:lnTo>
                  <a:pt x="123269" y="120462"/>
                </a:lnTo>
                <a:cubicBezTo>
                  <a:pt x="123269" y="131251"/>
                  <a:pt x="114456" y="139999"/>
                  <a:pt x="103584" y="139999"/>
                </a:cubicBezTo>
                <a:lnTo>
                  <a:pt x="19685" y="139999"/>
                </a:lnTo>
                <a:cubicBezTo>
                  <a:pt x="8813" y="139999"/>
                  <a:pt x="0" y="131251"/>
                  <a:pt x="0" y="120462"/>
                </a:cubicBezTo>
                <a:lnTo>
                  <a:pt x="0" y="37195"/>
                </a:lnTo>
                <a:cubicBezTo>
                  <a:pt x="0" y="26405"/>
                  <a:pt x="8813" y="17658"/>
                  <a:pt x="19685" y="17658"/>
                </a:cubicBezTo>
                <a:close/>
                <a:moveTo>
                  <a:pt x="207879" y="0"/>
                </a:moveTo>
                <a:cubicBezTo>
                  <a:pt x="212916" y="0"/>
                  <a:pt x="217953" y="1907"/>
                  <a:pt x="221796" y="5720"/>
                </a:cubicBezTo>
                <a:lnTo>
                  <a:pt x="221815" y="5720"/>
                </a:lnTo>
                <a:lnTo>
                  <a:pt x="277506" y="60970"/>
                </a:lnTo>
                <a:cubicBezTo>
                  <a:pt x="285190" y="68599"/>
                  <a:pt x="285190" y="80966"/>
                  <a:pt x="277506" y="88595"/>
                </a:cubicBezTo>
                <a:lnTo>
                  <a:pt x="221815" y="143865"/>
                </a:lnTo>
                <a:cubicBezTo>
                  <a:pt x="214128" y="151492"/>
                  <a:pt x="201667" y="151492"/>
                  <a:pt x="193980" y="143865"/>
                </a:cubicBezTo>
                <a:lnTo>
                  <a:pt x="138309" y="88595"/>
                </a:lnTo>
                <a:cubicBezTo>
                  <a:pt x="130625" y="80966"/>
                  <a:pt x="130625" y="68599"/>
                  <a:pt x="138309" y="60970"/>
                </a:cubicBezTo>
                <a:lnTo>
                  <a:pt x="193961" y="5720"/>
                </a:lnTo>
                <a:cubicBezTo>
                  <a:pt x="197805" y="1907"/>
                  <a:pt x="202842" y="0"/>
                  <a:pt x="207879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矩形 15"/>
          <p:cNvSpPr/>
          <p:nvPr/>
        </p:nvSpPr>
        <p:spPr>
          <a:xfrm>
            <a:off x="725488" y="1804341"/>
            <a:ext cx="10726737" cy="435791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63610" y="2036537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视频检测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63320" y="2454275"/>
            <a:ext cx="5475605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用户选择视频文件，程序对视频中的每一帧进行物体检测，</a:t>
            </a:r>
            <a:endParaRPr lang="zh-CN" altLang="en-US" sz="1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并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将检测结果显示在界面上</a:t>
            </a:r>
            <a:endParaRPr lang="zh-CN" altLang="en-US" sz="1600" dirty="0">
              <a:solidFill>
                <a:srgbClr val="3B3838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258389" y="3189933"/>
            <a:ext cx="5038271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162685" y="3616325"/>
            <a:ext cx="671449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用户输入：通过文件对话框选择视频文件。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视频控制：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cv2.VideoCapture()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读取视频，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QTimer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定时器每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30ms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更新视频帧。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检测：每帧图像输入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进行物体检测，检测结果实时显示。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3218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功能描述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218" y="1140346"/>
            <a:ext cx="4261821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rgbClr val="3B3838"/>
                </a:solidFill>
                <a:sym typeface="+mn-ea"/>
              </a:rPr>
              <a:t>Function Description</a:t>
            </a:r>
            <a:endParaRPr lang="en-US" altLang="zh-CN" dirty="0">
              <a:solidFill>
                <a:srgbClr val="3B3838"/>
              </a:solidFill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63564" y="3327205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实现方式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62685" y="4902835"/>
            <a:ext cx="6714490" cy="92964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OpenCV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：视频读取和帧提取。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：物体检测。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PyQt6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：界面显示。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63564" y="4573710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技术栈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3" name="任意多边形: 形状 25"/>
          <p:cNvSpPr/>
          <p:nvPr>
            <p:custDataLst>
              <p:tags r:id="rId2"/>
            </p:custDataLst>
          </p:nvPr>
        </p:nvSpPr>
        <p:spPr>
          <a:xfrm rot="1800000">
            <a:off x="9026308" y="3059838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4" name="任意多边形: 形状 27"/>
          <p:cNvSpPr/>
          <p:nvPr>
            <p:custDataLst>
              <p:tags r:id="rId3"/>
            </p:custDataLst>
          </p:nvPr>
        </p:nvSpPr>
        <p:spPr>
          <a:xfrm rot="9000000">
            <a:off x="9494289" y="3876503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5" name="任意多边形: 形状 28"/>
          <p:cNvSpPr/>
          <p:nvPr>
            <p:custDataLst>
              <p:tags r:id="rId4"/>
            </p:custDataLst>
          </p:nvPr>
        </p:nvSpPr>
        <p:spPr>
          <a:xfrm rot="16200000">
            <a:off x="8557071" y="3875248"/>
            <a:ext cx="928428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26" name="弧形 25"/>
          <p:cNvSpPr/>
          <p:nvPr>
            <p:custDataLst>
              <p:tags r:id="rId5"/>
            </p:custDataLst>
          </p:nvPr>
        </p:nvSpPr>
        <p:spPr>
          <a:xfrm rot="8396489">
            <a:off x="8959334" y="2960633"/>
            <a:ext cx="1054841" cy="1054841"/>
          </a:xfrm>
          <a:prstGeom prst="arc">
            <a:avLst>
              <a:gd name="adj1" fmla="val 21295306"/>
              <a:gd name="adj2" fmla="val 10336717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7" name="弧形 26"/>
          <p:cNvSpPr/>
          <p:nvPr>
            <p:custDataLst>
              <p:tags r:id="rId6"/>
            </p:custDataLst>
          </p:nvPr>
        </p:nvSpPr>
        <p:spPr>
          <a:xfrm rot="15600000">
            <a:off x="9466244" y="3870224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6">
                    <a:alpha val="0"/>
                  </a:schemeClr>
                </a:gs>
                <a:gs pos="0">
                  <a:schemeClr val="accent6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8" name="弧形 27"/>
          <p:cNvSpPr/>
          <p:nvPr>
            <p:custDataLst>
              <p:tags r:id="rId7"/>
            </p:custDataLst>
          </p:nvPr>
        </p:nvSpPr>
        <p:spPr>
          <a:xfrm>
            <a:off x="8429401" y="3873991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8"/>
            </p:custDataLst>
          </p:nvPr>
        </p:nvSpPr>
        <p:spPr>
          <a:xfrm>
            <a:off x="8743315" y="2530475"/>
            <a:ext cx="1380490" cy="2686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图片识别</a:t>
            </a:r>
            <a:endParaRPr lang="zh-CN" altLang="en-US" sz="2000" b="1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9"/>
            </p:custDataLst>
          </p:nvPr>
        </p:nvSpPr>
        <p:spPr>
          <a:xfrm>
            <a:off x="9771380" y="5179060"/>
            <a:ext cx="1390015" cy="2952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  <a:sym typeface="+mn-ea"/>
              </a:rPr>
              <a:t>摄像头检测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1" name="矩形 30"/>
          <p:cNvSpPr/>
          <p:nvPr>
            <p:custDataLst>
              <p:tags r:id="rId10"/>
            </p:custDataLst>
          </p:nvPr>
        </p:nvSpPr>
        <p:spPr>
          <a:xfrm>
            <a:off x="8003540" y="5006340"/>
            <a:ext cx="1321435" cy="678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视频识别</a:t>
            </a:r>
            <a:endParaRPr lang="zh-CN" alt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（网页视频获取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）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32" name="图片 7" descr="343439383331313b343532303034303bcffacadbb9dcc0ed"/>
          <p:cNvSpPr/>
          <p:nvPr>
            <p:custDataLst>
              <p:tags r:id="rId11"/>
            </p:custDataLst>
          </p:nvPr>
        </p:nvSpPr>
        <p:spPr>
          <a:xfrm>
            <a:off x="9397176" y="3429451"/>
            <a:ext cx="186690" cy="186690"/>
          </a:xfrm>
          <a:custGeom>
            <a:avLst/>
            <a:gdLst>
              <a:gd name="connsiteX0" fmla="*/ 31592 w 283209"/>
              <a:gd name="connsiteY0" fmla="*/ 115 h 283209"/>
              <a:gd name="connsiteX1" fmla="*/ 251848 w 283209"/>
              <a:gd name="connsiteY1" fmla="*/ 115 h 283209"/>
              <a:gd name="connsiteX2" fmla="*/ 283325 w 283209"/>
              <a:gd name="connsiteY2" fmla="*/ 31592 h 283209"/>
              <a:gd name="connsiteX3" fmla="*/ 283325 w 283209"/>
              <a:gd name="connsiteY3" fmla="*/ 188915 h 283209"/>
              <a:gd name="connsiteX4" fmla="*/ 251848 w 283209"/>
              <a:gd name="connsiteY4" fmla="*/ 220391 h 283209"/>
              <a:gd name="connsiteX5" fmla="*/ 31592 w 283209"/>
              <a:gd name="connsiteY5" fmla="*/ 220391 h 283209"/>
              <a:gd name="connsiteX6" fmla="*/ 115 w 283209"/>
              <a:gd name="connsiteY6" fmla="*/ 188915 h 283209"/>
              <a:gd name="connsiteX7" fmla="*/ 115 w 283209"/>
              <a:gd name="connsiteY7" fmla="*/ 31592 h 283209"/>
              <a:gd name="connsiteX8" fmla="*/ 31592 w 283209"/>
              <a:gd name="connsiteY8" fmla="*/ 115 h 283209"/>
              <a:gd name="connsiteX9" fmla="*/ 15853 w 283209"/>
              <a:gd name="connsiteY9" fmla="*/ 251848 h 283209"/>
              <a:gd name="connsiteX10" fmla="*/ 267586 w 283209"/>
              <a:gd name="connsiteY10" fmla="*/ 251848 h 283209"/>
              <a:gd name="connsiteX11" fmla="*/ 283325 w 283209"/>
              <a:gd name="connsiteY11" fmla="*/ 267586 h 283209"/>
              <a:gd name="connsiteX12" fmla="*/ 267586 w 283209"/>
              <a:gd name="connsiteY12" fmla="*/ 283325 h 283209"/>
              <a:gd name="connsiteX13" fmla="*/ 15853 w 283209"/>
              <a:gd name="connsiteY13" fmla="*/ 283325 h 283209"/>
              <a:gd name="connsiteX14" fmla="*/ 115 w 283209"/>
              <a:gd name="connsiteY14" fmla="*/ 267586 h 283209"/>
              <a:gd name="connsiteX15" fmla="*/ 15853 w 283209"/>
              <a:gd name="connsiteY15" fmla="*/ 251848 h 283209"/>
              <a:gd name="connsiteX16" fmla="*/ 141720 w 283209"/>
              <a:gd name="connsiteY16" fmla="*/ 110243 h 283209"/>
              <a:gd name="connsiteX17" fmla="*/ 125981 w 283209"/>
              <a:gd name="connsiteY17" fmla="*/ 125981 h 283209"/>
              <a:gd name="connsiteX18" fmla="*/ 125981 w 283209"/>
              <a:gd name="connsiteY18" fmla="*/ 141720 h 283209"/>
              <a:gd name="connsiteX19" fmla="*/ 141720 w 283209"/>
              <a:gd name="connsiteY19" fmla="*/ 157459 h 283209"/>
              <a:gd name="connsiteX20" fmla="*/ 157459 w 283209"/>
              <a:gd name="connsiteY20" fmla="*/ 141720 h 283209"/>
              <a:gd name="connsiteX21" fmla="*/ 157459 w 283209"/>
              <a:gd name="connsiteY21" fmla="*/ 125981 h 283209"/>
              <a:gd name="connsiteX22" fmla="*/ 141720 w 283209"/>
              <a:gd name="connsiteY22" fmla="*/ 110243 h 283209"/>
              <a:gd name="connsiteX23" fmla="*/ 204654 w 283209"/>
              <a:gd name="connsiteY23" fmla="*/ 94525 h 283209"/>
              <a:gd name="connsiteX24" fmla="*/ 188915 w 283209"/>
              <a:gd name="connsiteY24" fmla="*/ 110243 h 283209"/>
              <a:gd name="connsiteX25" fmla="*/ 188915 w 283209"/>
              <a:gd name="connsiteY25" fmla="*/ 141720 h 283209"/>
              <a:gd name="connsiteX26" fmla="*/ 204654 w 283209"/>
              <a:gd name="connsiteY26" fmla="*/ 157457 h 283209"/>
              <a:gd name="connsiteX27" fmla="*/ 220391 w 283209"/>
              <a:gd name="connsiteY27" fmla="*/ 141720 h 283209"/>
              <a:gd name="connsiteX28" fmla="*/ 220391 w 283209"/>
              <a:gd name="connsiteY28" fmla="*/ 110243 h 283209"/>
              <a:gd name="connsiteX29" fmla="*/ 204654 w 283209"/>
              <a:gd name="connsiteY29" fmla="*/ 94525 h 283209"/>
              <a:gd name="connsiteX30" fmla="*/ 78807 w 283209"/>
              <a:gd name="connsiteY30" fmla="*/ 63028 h 283209"/>
              <a:gd name="connsiteX31" fmla="*/ 78766 w 283209"/>
              <a:gd name="connsiteY31" fmla="*/ 63048 h 283209"/>
              <a:gd name="connsiteX32" fmla="*/ 63028 w 283209"/>
              <a:gd name="connsiteY32" fmla="*/ 78787 h 283209"/>
              <a:gd name="connsiteX33" fmla="*/ 63028 w 283209"/>
              <a:gd name="connsiteY33" fmla="*/ 141720 h 283209"/>
              <a:gd name="connsiteX34" fmla="*/ 78787 w 283209"/>
              <a:gd name="connsiteY34" fmla="*/ 157478 h 283209"/>
              <a:gd name="connsiteX35" fmla="*/ 94545 w 283209"/>
              <a:gd name="connsiteY35" fmla="*/ 141720 h 283209"/>
              <a:gd name="connsiteX36" fmla="*/ 94545 w 283209"/>
              <a:gd name="connsiteY36" fmla="*/ 78766 h 283209"/>
              <a:gd name="connsiteX37" fmla="*/ 78807 w 283209"/>
              <a:gd name="connsiteY37" fmla="*/ 63028 h 283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83209" h="283209">
                <a:moveTo>
                  <a:pt x="31592" y="115"/>
                </a:moveTo>
                <a:lnTo>
                  <a:pt x="251848" y="115"/>
                </a:lnTo>
                <a:cubicBezTo>
                  <a:pt x="269245" y="115"/>
                  <a:pt x="283325" y="14195"/>
                  <a:pt x="283325" y="31592"/>
                </a:cubicBezTo>
                <a:lnTo>
                  <a:pt x="283325" y="188915"/>
                </a:lnTo>
                <a:cubicBezTo>
                  <a:pt x="283325" y="206312"/>
                  <a:pt x="269245" y="220391"/>
                  <a:pt x="251848" y="220391"/>
                </a:cubicBezTo>
                <a:lnTo>
                  <a:pt x="31592" y="220391"/>
                </a:lnTo>
                <a:cubicBezTo>
                  <a:pt x="14195" y="220391"/>
                  <a:pt x="115" y="206292"/>
                  <a:pt x="115" y="188915"/>
                </a:cubicBezTo>
                <a:lnTo>
                  <a:pt x="115" y="31592"/>
                </a:lnTo>
                <a:cubicBezTo>
                  <a:pt x="115" y="14195"/>
                  <a:pt x="14195" y="115"/>
                  <a:pt x="31592" y="115"/>
                </a:cubicBezTo>
                <a:moveTo>
                  <a:pt x="15853" y="251848"/>
                </a:moveTo>
                <a:lnTo>
                  <a:pt x="267586" y="251848"/>
                </a:lnTo>
                <a:cubicBezTo>
                  <a:pt x="276278" y="251848"/>
                  <a:pt x="283325" y="258895"/>
                  <a:pt x="283325" y="267586"/>
                </a:cubicBezTo>
                <a:cubicBezTo>
                  <a:pt x="283325" y="276278"/>
                  <a:pt x="276278" y="283325"/>
                  <a:pt x="267586" y="283325"/>
                </a:cubicBezTo>
                <a:lnTo>
                  <a:pt x="15853" y="283325"/>
                </a:lnTo>
                <a:cubicBezTo>
                  <a:pt x="7161" y="283325"/>
                  <a:pt x="115" y="276278"/>
                  <a:pt x="115" y="267586"/>
                </a:cubicBezTo>
                <a:cubicBezTo>
                  <a:pt x="115" y="258895"/>
                  <a:pt x="7161" y="251848"/>
                  <a:pt x="15853" y="251848"/>
                </a:cubicBezTo>
                <a:moveTo>
                  <a:pt x="141720" y="110243"/>
                </a:moveTo>
                <a:cubicBezTo>
                  <a:pt x="133021" y="110243"/>
                  <a:pt x="125981" y="117283"/>
                  <a:pt x="125981" y="125981"/>
                </a:cubicBezTo>
                <a:lnTo>
                  <a:pt x="125981" y="141720"/>
                </a:lnTo>
                <a:cubicBezTo>
                  <a:pt x="125981" y="150412"/>
                  <a:pt x="133028" y="157459"/>
                  <a:pt x="141720" y="157459"/>
                </a:cubicBezTo>
                <a:cubicBezTo>
                  <a:pt x="150412" y="157459"/>
                  <a:pt x="157459" y="150412"/>
                  <a:pt x="157459" y="141720"/>
                </a:cubicBezTo>
                <a:lnTo>
                  <a:pt x="157459" y="125981"/>
                </a:lnTo>
                <a:cubicBezTo>
                  <a:pt x="157459" y="117303"/>
                  <a:pt x="150419" y="110243"/>
                  <a:pt x="141720" y="110243"/>
                </a:cubicBezTo>
                <a:moveTo>
                  <a:pt x="204654" y="94525"/>
                </a:moveTo>
                <a:cubicBezTo>
                  <a:pt x="195975" y="94525"/>
                  <a:pt x="188915" y="101545"/>
                  <a:pt x="188915" y="110243"/>
                </a:cubicBezTo>
                <a:lnTo>
                  <a:pt x="188915" y="141720"/>
                </a:lnTo>
                <a:cubicBezTo>
                  <a:pt x="188916" y="150411"/>
                  <a:pt x="195962" y="157457"/>
                  <a:pt x="204654" y="157457"/>
                </a:cubicBezTo>
                <a:cubicBezTo>
                  <a:pt x="213345" y="157457"/>
                  <a:pt x="220390" y="150411"/>
                  <a:pt x="220391" y="141720"/>
                </a:cubicBezTo>
                <a:lnTo>
                  <a:pt x="220391" y="110243"/>
                </a:lnTo>
                <a:cubicBezTo>
                  <a:pt x="220391" y="101565"/>
                  <a:pt x="213351" y="94525"/>
                  <a:pt x="204654" y="94525"/>
                </a:cubicBezTo>
                <a:moveTo>
                  <a:pt x="78807" y="63028"/>
                </a:moveTo>
                <a:lnTo>
                  <a:pt x="78766" y="63048"/>
                </a:lnTo>
                <a:cubicBezTo>
                  <a:pt x="70068" y="63048"/>
                  <a:pt x="63028" y="70088"/>
                  <a:pt x="63028" y="78787"/>
                </a:cubicBezTo>
                <a:lnTo>
                  <a:pt x="63028" y="141720"/>
                </a:lnTo>
                <a:cubicBezTo>
                  <a:pt x="63028" y="150423"/>
                  <a:pt x="70083" y="157478"/>
                  <a:pt x="78787" y="157478"/>
                </a:cubicBezTo>
                <a:cubicBezTo>
                  <a:pt x="87490" y="157478"/>
                  <a:pt x="94545" y="150423"/>
                  <a:pt x="94545" y="141720"/>
                </a:cubicBezTo>
                <a:lnTo>
                  <a:pt x="94545" y="78766"/>
                </a:lnTo>
                <a:cubicBezTo>
                  <a:pt x="94545" y="70068"/>
                  <a:pt x="87506" y="63028"/>
                  <a:pt x="78807" y="63028"/>
                </a:cubicBez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1062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图形 50" descr="343439383331313b343532303033313bd3a6d3c3c9ccb3c7"/>
          <p:cNvSpPr/>
          <p:nvPr>
            <p:custDataLst>
              <p:tags r:id="rId12"/>
            </p:custDataLst>
          </p:nvPr>
        </p:nvSpPr>
        <p:spPr>
          <a:xfrm>
            <a:off x="8935056" y="4244860"/>
            <a:ext cx="172241" cy="186690"/>
          </a:xfrm>
          <a:custGeom>
            <a:avLst/>
            <a:gdLst>
              <a:gd name="connsiteX0" fmla="*/ 212414 w 261291"/>
              <a:gd name="connsiteY0" fmla="*/ 283324 h 283210"/>
              <a:gd name="connsiteX1" fmla="*/ 49107 w 261291"/>
              <a:gd name="connsiteY1" fmla="*/ 283324 h 283210"/>
              <a:gd name="connsiteX2" fmla="*/ 115 w 261291"/>
              <a:gd name="connsiteY2" fmla="*/ 236122 h 283210"/>
              <a:gd name="connsiteX3" fmla="*/ 115 w 261291"/>
              <a:gd name="connsiteY3" fmla="*/ 47316 h 283210"/>
              <a:gd name="connsiteX4" fmla="*/ 49107 w 261291"/>
              <a:gd name="connsiteY4" fmla="*/ 114 h 283210"/>
              <a:gd name="connsiteX5" fmla="*/ 212414 w 261291"/>
              <a:gd name="connsiteY5" fmla="*/ 114 h 283210"/>
              <a:gd name="connsiteX6" fmla="*/ 261407 w 261291"/>
              <a:gd name="connsiteY6" fmla="*/ 47316 h 283210"/>
              <a:gd name="connsiteX7" fmla="*/ 261407 w 261291"/>
              <a:gd name="connsiteY7" fmla="*/ 236122 h 283210"/>
              <a:gd name="connsiteX8" fmla="*/ 212414 w 261291"/>
              <a:gd name="connsiteY8" fmla="*/ 283324 h 283210"/>
              <a:gd name="connsiteX9" fmla="*/ 130761 w 261291"/>
              <a:gd name="connsiteY9" fmla="*/ 130481 h 283210"/>
              <a:gd name="connsiteX10" fmla="*/ 196083 w 261291"/>
              <a:gd name="connsiteY10" fmla="*/ 65297 h 283210"/>
              <a:gd name="connsiteX11" fmla="*/ 179753 w 261291"/>
              <a:gd name="connsiteY11" fmla="*/ 49001 h 283210"/>
              <a:gd name="connsiteX12" fmla="*/ 163422 w 261291"/>
              <a:gd name="connsiteY12" fmla="*/ 65297 h 283210"/>
              <a:gd name="connsiteX13" fmla="*/ 130761 w 261291"/>
              <a:gd name="connsiteY13" fmla="*/ 97889 h 283210"/>
              <a:gd name="connsiteX14" fmla="*/ 98099 w 261291"/>
              <a:gd name="connsiteY14" fmla="*/ 65297 h 283210"/>
              <a:gd name="connsiteX15" fmla="*/ 81768 w 261291"/>
              <a:gd name="connsiteY15" fmla="*/ 49001 h 283210"/>
              <a:gd name="connsiteX16" fmla="*/ 65438 w 261291"/>
              <a:gd name="connsiteY16" fmla="*/ 65297 h 283210"/>
              <a:gd name="connsiteX17" fmla="*/ 130761 w 261291"/>
              <a:gd name="connsiteY17" fmla="*/ 130481 h 283210"/>
              <a:gd name="connsiteX18" fmla="*/ 163422 w 261291"/>
              <a:gd name="connsiteY18" fmla="*/ 228256 h 283210"/>
              <a:gd name="connsiteX19" fmla="*/ 179753 w 261291"/>
              <a:gd name="connsiteY19" fmla="*/ 211959 h 283210"/>
              <a:gd name="connsiteX20" fmla="*/ 163422 w 261291"/>
              <a:gd name="connsiteY20" fmla="*/ 195663 h 283210"/>
              <a:gd name="connsiteX21" fmla="*/ 98099 w 261291"/>
              <a:gd name="connsiteY21" fmla="*/ 195663 h 283210"/>
              <a:gd name="connsiteX22" fmla="*/ 81768 w 261291"/>
              <a:gd name="connsiteY22" fmla="*/ 211959 h 283210"/>
              <a:gd name="connsiteX23" fmla="*/ 98099 w 261291"/>
              <a:gd name="connsiteY23" fmla="*/ 228256 h 283210"/>
              <a:gd name="connsiteX24" fmla="*/ 163422 w 261291"/>
              <a:gd name="connsiteY24" fmla="*/ 228256 h 28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1291" h="283210">
                <a:moveTo>
                  <a:pt x="212414" y="283324"/>
                </a:moveTo>
                <a:lnTo>
                  <a:pt x="49107" y="283324"/>
                </a:lnTo>
                <a:cubicBezTo>
                  <a:pt x="21345" y="283324"/>
                  <a:pt x="115" y="262870"/>
                  <a:pt x="115" y="236122"/>
                </a:cubicBezTo>
                <a:lnTo>
                  <a:pt x="115" y="47316"/>
                </a:lnTo>
                <a:cubicBezTo>
                  <a:pt x="115" y="20568"/>
                  <a:pt x="21345" y="114"/>
                  <a:pt x="49107" y="114"/>
                </a:cubicBezTo>
                <a:lnTo>
                  <a:pt x="212414" y="114"/>
                </a:lnTo>
                <a:cubicBezTo>
                  <a:pt x="240177" y="114"/>
                  <a:pt x="261407" y="20568"/>
                  <a:pt x="261407" y="47316"/>
                </a:cubicBezTo>
                <a:lnTo>
                  <a:pt x="261407" y="236122"/>
                </a:lnTo>
                <a:cubicBezTo>
                  <a:pt x="261407" y="262870"/>
                  <a:pt x="240177" y="283324"/>
                  <a:pt x="212414" y="283324"/>
                </a:cubicBezTo>
                <a:moveTo>
                  <a:pt x="130761" y="130481"/>
                </a:moveTo>
                <a:cubicBezTo>
                  <a:pt x="166688" y="130481"/>
                  <a:pt x="196083" y="101148"/>
                  <a:pt x="196083" y="65297"/>
                </a:cubicBezTo>
                <a:cubicBezTo>
                  <a:pt x="196083" y="55520"/>
                  <a:pt x="189551" y="49001"/>
                  <a:pt x="179753" y="49001"/>
                </a:cubicBezTo>
                <a:cubicBezTo>
                  <a:pt x="169954" y="49001"/>
                  <a:pt x="163422" y="55520"/>
                  <a:pt x="163422" y="65297"/>
                </a:cubicBezTo>
                <a:cubicBezTo>
                  <a:pt x="163422" y="83223"/>
                  <a:pt x="148724" y="97889"/>
                  <a:pt x="130761" y="97889"/>
                </a:cubicBezTo>
                <a:cubicBezTo>
                  <a:pt x="112797" y="97889"/>
                  <a:pt x="98099" y="83223"/>
                  <a:pt x="98099" y="65297"/>
                </a:cubicBezTo>
                <a:cubicBezTo>
                  <a:pt x="98099" y="55520"/>
                  <a:pt x="91567" y="49001"/>
                  <a:pt x="81768" y="49001"/>
                </a:cubicBezTo>
                <a:cubicBezTo>
                  <a:pt x="71970" y="49001"/>
                  <a:pt x="65438" y="55520"/>
                  <a:pt x="65438" y="65297"/>
                </a:cubicBezTo>
                <a:cubicBezTo>
                  <a:pt x="65438" y="101148"/>
                  <a:pt x="94833" y="130481"/>
                  <a:pt x="130761" y="130481"/>
                </a:cubicBezTo>
                <a:moveTo>
                  <a:pt x="163422" y="228256"/>
                </a:moveTo>
                <a:cubicBezTo>
                  <a:pt x="173221" y="228256"/>
                  <a:pt x="179753" y="221737"/>
                  <a:pt x="179753" y="211959"/>
                </a:cubicBezTo>
                <a:cubicBezTo>
                  <a:pt x="179753" y="202182"/>
                  <a:pt x="173221" y="195663"/>
                  <a:pt x="163422" y="195663"/>
                </a:cubicBezTo>
                <a:lnTo>
                  <a:pt x="98099" y="195663"/>
                </a:lnTo>
                <a:cubicBezTo>
                  <a:pt x="88301" y="195663"/>
                  <a:pt x="81768" y="202182"/>
                  <a:pt x="81768" y="211959"/>
                </a:cubicBezTo>
                <a:cubicBezTo>
                  <a:pt x="81768" y="221737"/>
                  <a:pt x="88301" y="228256"/>
                  <a:pt x="98099" y="228256"/>
                </a:cubicBezTo>
                <a:lnTo>
                  <a:pt x="163422" y="228256"/>
                </a:ln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任意多边形: 形状 23"/>
          <p:cNvSpPr/>
          <p:nvPr>
            <p:custDataLst>
              <p:tags r:id="rId13"/>
            </p:custDataLst>
          </p:nvPr>
        </p:nvSpPr>
        <p:spPr>
          <a:xfrm>
            <a:off x="9865158" y="4246116"/>
            <a:ext cx="186729" cy="186377"/>
          </a:xfrm>
          <a:custGeom>
            <a:avLst/>
            <a:gdLst>
              <a:gd name="connsiteX0" fmla="*/ 163507 w 283269"/>
              <a:gd name="connsiteY0" fmla="*/ 160395 h 282735"/>
              <a:gd name="connsiteX1" fmla="*/ 247406 w 283269"/>
              <a:gd name="connsiteY1" fmla="*/ 160395 h 282735"/>
              <a:gd name="connsiteX2" fmla="*/ 267091 w 283269"/>
              <a:gd name="connsiteY2" fmla="*/ 179932 h 282735"/>
              <a:gd name="connsiteX3" fmla="*/ 267091 w 283269"/>
              <a:gd name="connsiteY3" fmla="*/ 263198 h 282735"/>
              <a:gd name="connsiteX4" fmla="*/ 247406 w 283269"/>
              <a:gd name="connsiteY4" fmla="*/ 282735 h 282735"/>
              <a:gd name="connsiteX5" fmla="*/ 163507 w 283269"/>
              <a:gd name="connsiteY5" fmla="*/ 282735 h 282735"/>
              <a:gd name="connsiteX6" fmla="*/ 143822 w 283269"/>
              <a:gd name="connsiteY6" fmla="*/ 263198 h 282735"/>
              <a:gd name="connsiteX7" fmla="*/ 143822 w 283269"/>
              <a:gd name="connsiteY7" fmla="*/ 179932 h 282735"/>
              <a:gd name="connsiteX8" fmla="*/ 163507 w 283269"/>
              <a:gd name="connsiteY8" fmla="*/ 160395 h 282735"/>
              <a:gd name="connsiteX9" fmla="*/ 19685 w 283269"/>
              <a:gd name="connsiteY9" fmla="*/ 160395 h 282735"/>
              <a:gd name="connsiteX10" fmla="*/ 103584 w 283269"/>
              <a:gd name="connsiteY10" fmla="*/ 160395 h 282735"/>
              <a:gd name="connsiteX11" fmla="*/ 123269 w 283269"/>
              <a:gd name="connsiteY11" fmla="*/ 179932 h 282735"/>
              <a:gd name="connsiteX12" fmla="*/ 123269 w 283269"/>
              <a:gd name="connsiteY12" fmla="*/ 263198 h 282735"/>
              <a:gd name="connsiteX13" fmla="*/ 103584 w 283269"/>
              <a:gd name="connsiteY13" fmla="*/ 282735 h 282735"/>
              <a:gd name="connsiteX14" fmla="*/ 19685 w 283269"/>
              <a:gd name="connsiteY14" fmla="*/ 282735 h 282735"/>
              <a:gd name="connsiteX15" fmla="*/ 0 w 283269"/>
              <a:gd name="connsiteY15" fmla="*/ 263198 h 282735"/>
              <a:gd name="connsiteX16" fmla="*/ 0 w 283269"/>
              <a:gd name="connsiteY16" fmla="*/ 179932 h 282735"/>
              <a:gd name="connsiteX17" fmla="*/ 19685 w 283269"/>
              <a:gd name="connsiteY17" fmla="*/ 160395 h 282735"/>
              <a:gd name="connsiteX18" fmla="*/ 207898 w 283269"/>
              <a:gd name="connsiteY18" fmla="*/ 47157 h 282735"/>
              <a:gd name="connsiteX19" fmla="*/ 180063 w 283269"/>
              <a:gd name="connsiteY19" fmla="*/ 74783 h 282735"/>
              <a:gd name="connsiteX20" fmla="*/ 207898 w 283269"/>
              <a:gd name="connsiteY20" fmla="*/ 102408 h 282735"/>
              <a:gd name="connsiteX21" fmla="*/ 235733 w 283269"/>
              <a:gd name="connsiteY21" fmla="*/ 74783 h 282735"/>
              <a:gd name="connsiteX22" fmla="*/ 19685 w 283269"/>
              <a:gd name="connsiteY22" fmla="*/ 17658 h 282735"/>
              <a:gd name="connsiteX23" fmla="*/ 103584 w 283269"/>
              <a:gd name="connsiteY23" fmla="*/ 17658 h 282735"/>
              <a:gd name="connsiteX24" fmla="*/ 123269 w 283269"/>
              <a:gd name="connsiteY24" fmla="*/ 37195 h 282735"/>
              <a:gd name="connsiteX25" fmla="*/ 123269 w 283269"/>
              <a:gd name="connsiteY25" fmla="*/ 120462 h 282735"/>
              <a:gd name="connsiteX26" fmla="*/ 103584 w 283269"/>
              <a:gd name="connsiteY26" fmla="*/ 139999 h 282735"/>
              <a:gd name="connsiteX27" fmla="*/ 19685 w 283269"/>
              <a:gd name="connsiteY27" fmla="*/ 139999 h 282735"/>
              <a:gd name="connsiteX28" fmla="*/ 0 w 283269"/>
              <a:gd name="connsiteY28" fmla="*/ 120462 h 282735"/>
              <a:gd name="connsiteX29" fmla="*/ 0 w 283269"/>
              <a:gd name="connsiteY29" fmla="*/ 37195 h 282735"/>
              <a:gd name="connsiteX30" fmla="*/ 19685 w 283269"/>
              <a:gd name="connsiteY30" fmla="*/ 17658 h 282735"/>
              <a:gd name="connsiteX31" fmla="*/ 207879 w 283269"/>
              <a:gd name="connsiteY31" fmla="*/ 0 h 282735"/>
              <a:gd name="connsiteX32" fmla="*/ 221796 w 283269"/>
              <a:gd name="connsiteY32" fmla="*/ 5720 h 282735"/>
              <a:gd name="connsiteX33" fmla="*/ 221815 w 283269"/>
              <a:gd name="connsiteY33" fmla="*/ 5720 h 282735"/>
              <a:gd name="connsiteX34" fmla="*/ 277506 w 283269"/>
              <a:gd name="connsiteY34" fmla="*/ 60970 h 282735"/>
              <a:gd name="connsiteX35" fmla="*/ 277506 w 283269"/>
              <a:gd name="connsiteY35" fmla="*/ 88595 h 282735"/>
              <a:gd name="connsiteX36" fmla="*/ 221815 w 283269"/>
              <a:gd name="connsiteY36" fmla="*/ 143865 h 282735"/>
              <a:gd name="connsiteX37" fmla="*/ 193980 w 283269"/>
              <a:gd name="connsiteY37" fmla="*/ 143865 h 282735"/>
              <a:gd name="connsiteX38" fmla="*/ 138309 w 283269"/>
              <a:gd name="connsiteY38" fmla="*/ 88595 h 282735"/>
              <a:gd name="connsiteX39" fmla="*/ 138309 w 283269"/>
              <a:gd name="connsiteY39" fmla="*/ 60970 h 282735"/>
              <a:gd name="connsiteX40" fmla="*/ 193961 w 283269"/>
              <a:gd name="connsiteY40" fmla="*/ 5720 h 282735"/>
              <a:gd name="connsiteX41" fmla="*/ 207879 w 283269"/>
              <a:gd name="connsiteY41" fmla="*/ 0 h 282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3269" h="282735">
                <a:moveTo>
                  <a:pt x="163507" y="160395"/>
                </a:moveTo>
                <a:lnTo>
                  <a:pt x="247406" y="160395"/>
                </a:lnTo>
                <a:cubicBezTo>
                  <a:pt x="258278" y="160395"/>
                  <a:pt x="267091" y="169142"/>
                  <a:pt x="267091" y="179932"/>
                </a:cubicBezTo>
                <a:lnTo>
                  <a:pt x="267091" y="263198"/>
                </a:lnTo>
                <a:cubicBezTo>
                  <a:pt x="267091" y="273989"/>
                  <a:pt x="258278" y="282735"/>
                  <a:pt x="247406" y="282735"/>
                </a:cubicBezTo>
                <a:lnTo>
                  <a:pt x="163507" y="282735"/>
                </a:lnTo>
                <a:cubicBezTo>
                  <a:pt x="152635" y="282735"/>
                  <a:pt x="143822" y="273989"/>
                  <a:pt x="143822" y="263198"/>
                </a:cubicBezTo>
                <a:lnTo>
                  <a:pt x="143822" y="179932"/>
                </a:lnTo>
                <a:cubicBezTo>
                  <a:pt x="143822" y="169142"/>
                  <a:pt x="152635" y="160395"/>
                  <a:pt x="163507" y="160395"/>
                </a:cubicBezTo>
                <a:close/>
                <a:moveTo>
                  <a:pt x="19685" y="160395"/>
                </a:moveTo>
                <a:lnTo>
                  <a:pt x="103584" y="160395"/>
                </a:lnTo>
                <a:cubicBezTo>
                  <a:pt x="114456" y="160395"/>
                  <a:pt x="123269" y="169142"/>
                  <a:pt x="123269" y="179932"/>
                </a:cubicBezTo>
                <a:lnTo>
                  <a:pt x="123269" y="263198"/>
                </a:lnTo>
                <a:cubicBezTo>
                  <a:pt x="123269" y="273989"/>
                  <a:pt x="114456" y="282735"/>
                  <a:pt x="103584" y="282735"/>
                </a:cubicBezTo>
                <a:lnTo>
                  <a:pt x="19685" y="282735"/>
                </a:lnTo>
                <a:cubicBezTo>
                  <a:pt x="8813" y="282735"/>
                  <a:pt x="0" y="273989"/>
                  <a:pt x="0" y="263198"/>
                </a:cubicBezTo>
                <a:lnTo>
                  <a:pt x="0" y="179932"/>
                </a:lnTo>
                <a:cubicBezTo>
                  <a:pt x="0" y="169142"/>
                  <a:pt x="8813" y="160395"/>
                  <a:pt x="19685" y="160395"/>
                </a:cubicBezTo>
                <a:close/>
                <a:moveTo>
                  <a:pt x="207898" y="47157"/>
                </a:moveTo>
                <a:lnTo>
                  <a:pt x="180063" y="74783"/>
                </a:lnTo>
                <a:lnTo>
                  <a:pt x="207898" y="102408"/>
                </a:lnTo>
                <a:lnTo>
                  <a:pt x="235733" y="74783"/>
                </a:lnTo>
                <a:close/>
                <a:moveTo>
                  <a:pt x="19685" y="17658"/>
                </a:moveTo>
                <a:lnTo>
                  <a:pt x="103584" y="17658"/>
                </a:lnTo>
                <a:cubicBezTo>
                  <a:pt x="114456" y="17658"/>
                  <a:pt x="123269" y="26405"/>
                  <a:pt x="123269" y="37195"/>
                </a:cubicBezTo>
                <a:lnTo>
                  <a:pt x="123269" y="120462"/>
                </a:lnTo>
                <a:cubicBezTo>
                  <a:pt x="123269" y="131251"/>
                  <a:pt x="114456" y="139999"/>
                  <a:pt x="103584" y="139999"/>
                </a:cubicBezTo>
                <a:lnTo>
                  <a:pt x="19685" y="139999"/>
                </a:lnTo>
                <a:cubicBezTo>
                  <a:pt x="8813" y="139999"/>
                  <a:pt x="0" y="131251"/>
                  <a:pt x="0" y="120462"/>
                </a:cubicBezTo>
                <a:lnTo>
                  <a:pt x="0" y="37195"/>
                </a:lnTo>
                <a:cubicBezTo>
                  <a:pt x="0" y="26405"/>
                  <a:pt x="8813" y="17658"/>
                  <a:pt x="19685" y="17658"/>
                </a:cubicBezTo>
                <a:close/>
                <a:moveTo>
                  <a:pt x="207879" y="0"/>
                </a:moveTo>
                <a:cubicBezTo>
                  <a:pt x="212916" y="0"/>
                  <a:pt x="217953" y="1907"/>
                  <a:pt x="221796" y="5720"/>
                </a:cubicBezTo>
                <a:lnTo>
                  <a:pt x="221815" y="5720"/>
                </a:lnTo>
                <a:lnTo>
                  <a:pt x="277506" y="60970"/>
                </a:lnTo>
                <a:cubicBezTo>
                  <a:pt x="285190" y="68599"/>
                  <a:pt x="285190" y="80966"/>
                  <a:pt x="277506" y="88595"/>
                </a:cubicBezTo>
                <a:lnTo>
                  <a:pt x="221815" y="143865"/>
                </a:lnTo>
                <a:cubicBezTo>
                  <a:pt x="214128" y="151492"/>
                  <a:pt x="201667" y="151492"/>
                  <a:pt x="193980" y="143865"/>
                </a:cubicBezTo>
                <a:lnTo>
                  <a:pt x="138309" y="88595"/>
                </a:lnTo>
                <a:cubicBezTo>
                  <a:pt x="130625" y="80966"/>
                  <a:pt x="130625" y="68599"/>
                  <a:pt x="138309" y="60970"/>
                </a:cubicBezTo>
                <a:lnTo>
                  <a:pt x="193961" y="5720"/>
                </a:lnTo>
                <a:cubicBezTo>
                  <a:pt x="197805" y="1907"/>
                  <a:pt x="202842" y="0"/>
                  <a:pt x="207879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矩形 15"/>
          <p:cNvSpPr/>
          <p:nvPr/>
        </p:nvSpPr>
        <p:spPr>
          <a:xfrm>
            <a:off x="725488" y="1804341"/>
            <a:ext cx="10726737" cy="4357919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163610" y="2036537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网页视频获取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163320" y="2454275"/>
            <a:ext cx="5475605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用户输入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B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站视频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URL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链接，程序爬取视频</a:t>
            </a:r>
            <a:endParaRPr lang="zh-CN" altLang="en-US" sz="1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并将视频下载到本地文件夹</a:t>
            </a:r>
            <a:endParaRPr lang="zh-CN" altLang="en-US" sz="1600" dirty="0">
              <a:solidFill>
                <a:srgbClr val="3B3838"/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cxnSp>
        <p:nvCxnSpPr>
          <p:cNvPr id="20" name="直接连接符 19"/>
          <p:cNvCxnSpPr/>
          <p:nvPr/>
        </p:nvCxnSpPr>
        <p:spPr>
          <a:xfrm>
            <a:off x="1258389" y="3189933"/>
            <a:ext cx="5038271" cy="0"/>
          </a:xfrm>
          <a:prstGeom prst="line">
            <a:avLst/>
          </a:prstGeom>
          <a:ln w="127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矩形 34"/>
          <p:cNvSpPr/>
          <p:nvPr/>
        </p:nvSpPr>
        <p:spPr>
          <a:xfrm>
            <a:off x="1162685" y="3616325"/>
            <a:ext cx="6714490" cy="9296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用户输入：通过文本框输入视频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URL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，点击按钮启动下载。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视频获取：使用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pc_video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模块爬取视频并保存到本地。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提示：下载完成后弹出提示框。</a:t>
            </a:r>
            <a:endParaRPr lang="zh-CN" altLang="en-US" sz="1200" dirty="0">
              <a:solidFill>
                <a:schemeClr val="tx2">
                  <a:lumMod val="75000"/>
                </a:schemeClr>
              </a:solidFill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43218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功能描述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43218" y="1140346"/>
            <a:ext cx="4261821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rgbClr val="3B3838"/>
                </a:solidFill>
                <a:sym typeface="+mn-ea"/>
              </a:rPr>
              <a:t>Function Description</a:t>
            </a:r>
            <a:endParaRPr lang="en-US" altLang="zh-CN" dirty="0">
              <a:solidFill>
                <a:srgbClr val="3B3838"/>
              </a:solidFill>
              <a:sym typeface="+mn-ea"/>
            </a:endParaRPr>
          </a:p>
        </p:txBody>
      </p:sp>
      <p:sp>
        <p:nvSpPr>
          <p:cNvPr id="4" name="任意多边形: 形状 25"/>
          <p:cNvSpPr/>
          <p:nvPr>
            <p:custDataLst>
              <p:tags r:id="rId2"/>
            </p:custDataLst>
          </p:nvPr>
        </p:nvSpPr>
        <p:spPr>
          <a:xfrm rot="1800000">
            <a:off x="9026308" y="3059838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5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5" name="任意多边形: 形状 27"/>
          <p:cNvSpPr/>
          <p:nvPr>
            <p:custDataLst>
              <p:tags r:id="rId3"/>
            </p:custDataLst>
          </p:nvPr>
        </p:nvSpPr>
        <p:spPr>
          <a:xfrm rot="9000000">
            <a:off x="9494289" y="3876503"/>
            <a:ext cx="928009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</p:spPr>
        <p:style>
          <a:lnRef idx="0">
            <a:srgbClr val="FFFFFF"/>
          </a:lnRef>
          <a:fillRef idx="3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6" name="任意多边形: 形状 28"/>
          <p:cNvSpPr/>
          <p:nvPr>
            <p:custDataLst>
              <p:tags r:id="rId4"/>
            </p:custDataLst>
          </p:nvPr>
        </p:nvSpPr>
        <p:spPr>
          <a:xfrm rot="16200000">
            <a:off x="8557071" y="3875248"/>
            <a:ext cx="928428" cy="925498"/>
          </a:xfrm>
          <a:custGeom>
            <a:avLst/>
            <a:gdLst>
              <a:gd name="connsiteX0" fmla="*/ 391846 w 1566997"/>
              <a:gd name="connsiteY0" fmla="*/ 105136 h 1562312"/>
              <a:gd name="connsiteX1" fmla="*/ 986232 w 1566997"/>
              <a:gd name="connsiteY1" fmla="*/ 26884 h 1562312"/>
              <a:gd name="connsiteX2" fmla="*/ 1540113 w 1566997"/>
              <a:gd name="connsiteY2" fmla="*/ 986232 h 1562312"/>
              <a:gd name="connsiteX3" fmla="*/ 1507033 w 1566997"/>
              <a:gd name="connsiteY3" fmla="*/ 1086688 h 1562312"/>
              <a:gd name="connsiteX4" fmla="*/ 1232431 w 1566997"/>
              <a:gd name="connsiteY4" fmla="*/ 1562312 h 1562312"/>
              <a:gd name="connsiteX5" fmla="*/ 704554 w 1566997"/>
              <a:gd name="connsiteY5" fmla="*/ 1562312 h 1562312"/>
              <a:gd name="connsiteX6" fmla="*/ 580764 w 1566997"/>
              <a:gd name="connsiteY6" fmla="*/ 1540113 h 1562312"/>
              <a:gd name="connsiteX7" fmla="*/ 26884 w 1566997"/>
              <a:gd name="connsiteY7" fmla="*/ 580764 h 1562312"/>
              <a:gd name="connsiteX8" fmla="*/ 391846 w 1566997"/>
              <a:gd name="connsiteY8" fmla="*/ 105136 h 15623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566997" h="1562312">
                <a:moveTo>
                  <a:pt x="391846" y="105136"/>
                </a:moveTo>
                <a:cubicBezTo>
                  <a:pt x="565453" y="4904"/>
                  <a:pt x="777299" y="-29099"/>
                  <a:pt x="986232" y="26884"/>
                </a:cubicBezTo>
                <a:cubicBezTo>
                  <a:pt x="1404099" y="138851"/>
                  <a:pt x="1652080" y="568366"/>
                  <a:pt x="1540113" y="986232"/>
                </a:cubicBezTo>
                <a:lnTo>
                  <a:pt x="1507033" y="1086688"/>
                </a:lnTo>
                <a:lnTo>
                  <a:pt x="1232431" y="1562312"/>
                </a:lnTo>
                <a:lnTo>
                  <a:pt x="704554" y="1562312"/>
                </a:lnTo>
                <a:lnTo>
                  <a:pt x="580764" y="1540113"/>
                </a:lnTo>
                <a:cubicBezTo>
                  <a:pt x="162897" y="1428146"/>
                  <a:pt x="-85083" y="998630"/>
                  <a:pt x="26884" y="580764"/>
                </a:cubicBezTo>
                <a:cubicBezTo>
                  <a:pt x="82867" y="371831"/>
                  <a:pt x="218237" y="205368"/>
                  <a:pt x="391846" y="105136"/>
                </a:cubicBez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style>
          <a:lnRef idx="0">
            <a:srgbClr val="FFFFFF"/>
          </a:lnRef>
          <a:fillRef idx="3">
            <a:schemeClr val="accent2"/>
          </a:fillRef>
          <a:effectRef idx="0">
            <a:srgbClr val="FFFFFF"/>
          </a:effectRef>
          <a:fontRef idx="minor">
            <a:schemeClr val="dk1"/>
          </a:fontRef>
        </p:style>
        <p:txBody>
          <a:bodyPr vertOverflow="overflow" horzOverflow="overflow" vert="horz" wrap="square" lIns="91440" tIns="45720" rIns="323850" bIns="39624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>
              <a:solidFill>
                <a:schemeClr val="lt1"/>
              </a:solidFill>
              <a:latin typeface="+mj-ea"/>
              <a:ea typeface="+mj-ea"/>
              <a:sym typeface="+mn-ea"/>
            </a:endParaRPr>
          </a:p>
        </p:txBody>
      </p:sp>
      <p:sp>
        <p:nvSpPr>
          <p:cNvPr id="7" name="弧形 6"/>
          <p:cNvSpPr/>
          <p:nvPr>
            <p:custDataLst>
              <p:tags r:id="rId5"/>
            </p:custDataLst>
          </p:nvPr>
        </p:nvSpPr>
        <p:spPr>
          <a:xfrm rot="8396489">
            <a:off x="8959334" y="2960633"/>
            <a:ext cx="1054841" cy="1054841"/>
          </a:xfrm>
          <a:prstGeom prst="arc">
            <a:avLst>
              <a:gd name="adj1" fmla="val 21295306"/>
              <a:gd name="adj2" fmla="val 10336717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弧形 7"/>
          <p:cNvSpPr/>
          <p:nvPr>
            <p:custDataLst>
              <p:tags r:id="rId6"/>
            </p:custDataLst>
          </p:nvPr>
        </p:nvSpPr>
        <p:spPr>
          <a:xfrm rot="15600000">
            <a:off x="9466244" y="3870224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6">
                    <a:alpha val="0"/>
                  </a:schemeClr>
                </a:gs>
                <a:gs pos="0">
                  <a:schemeClr val="accent6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弧形 8"/>
          <p:cNvSpPr/>
          <p:nvPr>
            <p:custDataLst>
              <p:tags r:id="rId7"/>
            </p:custDataLst>
          </p:nvPr>
        </p:nvSpPr>
        <p:spPr>
          <a:xfrm>
            <a:off x="8429401" y="3873991"/>
            <a:ext cx="1054841" cy="1054841"/>
          </a:xfrm>
          <a:prstGeom prst="arc">
            <a:avLst>
              <a:gd name="adj1" fmla="val 3248781"/>
              <a:gd name="adj2" fmla="val 9734539"/>
            </a:avLst>
          </a:prstGeom>
          <a:ln w="12700">
            <a:gradFill>
              <a:gsLst>
                <a:gs pos="79000">
                  <a:schemeClr val="accent5">
                    <a:alpha val="0"/>
                  </a:schemeClr>
                </a:gs>
                <a:gs pos="0">
                  <a:schemeClr val="accent5">
                    <a:alpha val="50000"/>
                  </a:schemeClr>
                </a:gs>
              </a:gsLst>
              <a:lin ang="0" scaled="1"/>
            </a:gra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 lnSpcReduction="1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矩形 9"/>
          <p:cNvSpPr/>
          <p:nvPr>
            <p:custDataLst>
              <p:tags r:id="rId8"/>
            </p:custDataLst>
          </p:nvPr>
        </p:nvSpPr>
        <p:spPr>
          <a:xfrm>
            <a:off x="8743315" y="2530475"/>
            <a:ext cx="1380490" cy="26860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rgbClr val="7030A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cs typeface="+mn-ea"/>
                <a:sym typeface="+mn-ea"/>
              </a:rPr>
              <a:t>图片识别</a:t>
            </a:r>
            <a:endParaRPr lang="zh-CN" altLang="en-US" sz="2000" b="1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n-ea"/>
              <a:cs typeface="+mn-ea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9"/>
            </p:custDataLst>
          </p:nvPr>
        </p:nvSpPr>
        <p:spPr>
          <a:xfrm>
            <a:off x="9771380" y="5179060"/>
            <a:ext cx="1390015" cy="29527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  <a:sym typeface="+mn-ea"/>
              </a:rPr>
              <a:t>摄像头检测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60" name="矩形 59"/>
          <p:cNvSpPr/>
          <p:nvPr>
            <p:custDataLst>
              <p:tags r:id="rId10"/>
            </p:custDataLst>
          </p:nvPr>
        </p:nvSpPr>
        <p:spPr>
          <a:xfrm>
            <a:off x="8003540" y="5006340"/>
            <a:ext cx="1321435" cy="67881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视频识别</a:t>
            </a:r>
            <a:endParaRPr lang="zh-CN" altLang="en-US" sz="20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（网页视频获取</a:t>
            </a:r>
            <a:r>
              <a:rPr lang="zh-CN" altLang="en-US" sz="14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ea"/>
                <a:cs typeface="+mn-ea"/>
                <a:sym typeface="+mn-ea"/>
              </a:rPr>
              <a:t>）</a:t>
            </a:r>
            <a:endParaRPr lang="zh-CN" altLang="en-US" sz="1400" b="1" dirty="0">
              <a:solidFill>
                <a:schemeClr val="accent1">
                  <a:lumMod val="60000"/>
                  <a:lumOff val="40000"/>
                </a:scheme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12" name="图片 7" descr="343439383331313b343532303034303bcffacadbb9dcc0ed"/>
          <p:cNvSpPr/>
          <p:nvPr>
            <p:custDataLst>
              <p:tags r:id="rId11"/>
            </p:custDataLst>
          </p:nvPr>
        </p:nvSpPr>
        <p:spPr>
          <a:xfrm>
            <a:off x="9397176" y="3429451"/>
            <a:ext cx="186690" cy="186690"/>
          </a:xfrm>
          <a:custGeom>
            <a:avLst/>
            <a:gdLst>
              <a:gd name="connsiteX0" fmla="*/ 31592 w 283209"/>
              <a:gd name="connsiteY0" fmla="*/ 115 h 283209"/>
              <a:gd name="connsiteX1" fmla="*/ 251848 w 283209"/>
              <a:gd name="connsiteY1" fmla="*/ 115 h 283209"/>
              <a:gd name="connsiteX2" fmla="*/ 283325 w 283209"/>
              <a:gd name="connsiteY2" fmla="*/ 31592 h 283209"/>
              <a:gd name="connsiteX3" fmla="*/ 283325 w 283209"/>
              <a:gd name="connsiteY3" fmla="*/ 188915 h 283209"/>
              <a:gd name="connsiteX4" fmla="*/ 251848 w 283209"/>
              <a:gd name="connsiteY4" fmla="*/ 220391 h 283209"/>
              <a:gd name="connsiteX5" fmla="*/ 31592 w 283209"/>
              <a:gd name="connsiteY5" fmla="*/ 220391 h 283209"/>
              <a:gd name="connsiteX6" fmla="*/ 115 w 283209"/>
              <a:gd name="connsiteY6" fmla="*/ 188915 h 283209"/>
              <a:gd name="connsiteX7" fmla="*/ 115 w 283209"/>
              <a:gd name="connsiteY7" fmla="*/ 31592 h 283209"/>
              <a:gd name="connsiteX8" fmla="*/ 31592 w 283209"/>
              <a:gd name="connsiteY8" fmla="*/ 115 h 283209"/>
              <a:gd name="connsiteX9" fmla="*/ 15853 w 283209"/>
              <a:gd name="connsiteY9" fmla="*/ 251848 h 283209"/>
              <a:gd name="connsiteX10" fmla="*/ 267586 w 283209"/>
              <a:gd name="connsiteY10" fmla="*/ 251848 h 283209"/>
              <a:gd name="connsiteX11" fmla="*/ 283325 w 283209"/>
              <a:gd name="connsiteY11" fmla="*/ 267586 h 283209"/>
              <a:gd name="connsiteX12" fmla="*/ 267586 w 283209"/>
              <a:gd name="connsiteY12" fmla="*/ 283325 h 283209"/>
              <a:gd name="connsiteX13" fmla="*/ 15853 w 283209"/>
              <a:gd name="connsiteY13" fmla="*/ 283325 h 283209"/>
              <a:gd name="connsiteX14" fmla="*/ 115 w 283209"/>
              <a:gd name="connsiteY14" fmla="*/ 267586 h 283209"/>
              <a:gd name="connsiteX15" fmla="*/ 15853 w 283209"/>
              <a:gd name="connsiteY15" fmla="*/ 251848 h 283209"/>
              <a:gd name="connsiteX16" fmla="*/ 141720 w 283209"/>
              <a:gd name="connsiteY16" fmla="*/ 110243 h 283209"/>
              <a:gd name="connsiteX17" fmla="*/ 125981 w 283209"/>
              <a:gd name="connsiteY17" fmla="*/ 125981 h 283209"/>
              <a:gd name="connsiteX18" fmla="*/ 125981 w 283209"/>
              <a:gd name="connsiteY18" fmla="*/ 141720 h 283209"/>
              <a:gd name="connsiteX19" fmla="*/ 141720 w 283209"/>
              <a:gd name="connsiteY19" fmla="*/ 157459 h 283209"/>
              <a:gd name="connsiteX20" fmla="*/ 157459 w 283209"/>
              <a:gd name="connsiteY20" fmla="*/ 141720 h 283209"/>
              <a:gd name="connsiteX21" fmla="*/ 157459 w 283209"/>
              <a:gd name="connsiteY21" fmla="*/ 125981 h 283209"/>
              <a:gd name="connsiteX22" fmla="*/ 141720 w 283209"/>
              <a:gd name="connsiteY22" fmla="*/ 110243 h 283209"/>
              <a:gd name="connsiteX23" fmla="*/ 204654 w 283209"/>
              <a:gd name="connsiteY23" fmla="*/ 94525 h 283209"/>
              <a:gd name="connsiteX24" fmla="*/ 188915 w 283209"/>
              <a:gd name="connsiteY24" fmla="*/ 110243 h 283209"/>
              <a:gd name="connsiteX25" fmla="*/ 188915 w 283209"/>
              <a:gd name="connsiteY25" fmla="*/ 141720 h 283209"/>
              <a:gd name="connsiteX26" fmla="*/ 204654 w 283209"/>
              <a:gd name="connsiteY26" fmla="*/ 157457 h 283209"/>
              <a:gd name="connsiteX27" fmla="*/ 220391 w 283209"/>
              <a:gd name="connsiteY27" fmla="*/ 141720 h 283209"/>
              <a:gd name="connsiteX28" fmla="*/ 220391 w 283209"/>
              <a:gd name="connsiteY28" fmla="*/ 110243 h 283209"/>
              <a:gd name="connsiteX29" fmla="*/ 204654 w 283209"/>
              <a:gd name="connsiteY29" fmla="*/ 94525 h 283209"/>
              <a:gd name="connsiteX30" fmla="*/ 78807 w 283209"/>
              <a:gd name="connsiteY30" fmla="*/ 63028 h 283209"/>
              <a:gd name="connsiteX31" fmla="*/ 78766 w 283209"/>
              <a:gd name="connsiteY31" fmla="*/ 63048 h 283209"/>
              <a:gd name="connsiteX32" fmla="*/ 63028 w 283209"/>
              <a:gd name="connsiteY32" fmla="*/ 78787 h 283209"/>
              <a:gd name="connsiteX33" fmla="*/ 63028 w 283209"/>
              <a:gd name="connsiteY33" fmla="*/ 141720 h 283209"/>
              <a:gd name="connsiteX34" fmla="*/ 78787 w 283209"/>
              <a:gd name="connsiteY34" fmla="*/ 157478 h 283209"/>
              <a:gd name="connsiteX35" fmla="*/ 94545 w 283209"/>
              <a:gd name="connsiteY35" fmla="*/ 141720 h 283209"/>
              <a:gd name="connsiteX36" fmla="*/ 94545 w 283209"/>
              <a:gd name="connsiteY36" fmla="*/ 78766 h 283209"/>
              <a:gd name="connsiteX37" fmla="*/ 78807 w 283209"/>
              <a:gd name="connsiteY37" fmla="*/ 63028 h 2832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283209" h="283209">
                <a:moveTo>
                  <a:pt x="31592" y="115"/>
                </a:moveTo>
                <a:lnTo>
                  <a:pt x="251848" y="115"/>
                </a:lnTo>
                <a:cubicBezTo>
                  <a:pt x="269245" y="115"/>
                  <a:pt x="283325" y="14195"/>
                  <a:pt x="283325" y="31592"/>
                </a:cubicBezTo>
                <a:lnTo>
                  <a:pt x="283325" y="188915"/>
                </a:lnTo>
                <a:cubicBezTo>
                  <a:pt x="283325" y="206312"/>
                  <a:pt x="269245" y="220391"/>
                  <a:pt x="251848" y="220391"/>
                </a:cubicBezTo>
                <a:lnTo>
                  <a:pt x="31592" y="220391"/>
                </a:lnTo>
                <a:cubicBezTo>
                  <a:pt x="14195" y="220391"/>
                  <a:pt x="115" y="206292"/>
                  <a:pt x="115" y="188915"/>
                </a:cubicBezTo>
                <a:lnTo>
                  <a:pt x="115" y="31592"/>
                </a:lnTo>
                <a:cubicBezTo>
                  <a:pt x="115" y="14195"/>
                  <a:pt x="14195" y="115"/>
                  <a:pt x="31592" y="115"/>
                </a:cubicBezTo>
                <a:moveTo>
                  <a:pt x="15853" y="251848"/>
                </a:moveTo>
                <a:lnTo>
                  <a:pt x="267586" y="251848"/>
                </a:lnTo>
                <a:cubicBezTo>
                  <a:pt x="276278" y="251848"/>
                  <a:pt x="283325" y="258895"/>
                  <a:pt x="283325" y="267586"/>
                </a:cubicBezTo>
                <a:cubicBezTo>
                  <a:pt x="283325" y="276278"/>
                  <a:pt x="276278" y="283325"/>
                  <a:pt x="267586" y="283325"/>
                </a:cubicBezTo>
                <a:lnTo>
                  <a:pt x="15853" y="283325"/>
                </a:lnTo>
                <a:cubicBezTo>
                  <a:pt x="7161" y="283325"/>
                  <a:pt x="115" y="276278"/>
                  <a:pt x="115" y="267586"/>
                </a:cubicBezTo>
                <a:cubicBezTo>
                  <a:pt x="115" y="258895"/>
                  <a:pt x="7161" y="251848"/>
                  <a:pt x="15853" y="251848"/>
                </a:cubicBezTo>
                <a:moveTo>
                  <a:pt x="141720" y="110243"/>
                </a:moveTo>
                <a:cubicBezTo>
                  <a:pt x="133021" y="110243"/>
                  <a:pt x="125981" y="117283"/>
                  <a:pt x="125981" y="125981"/>
                </a:cubicBezTo>
                <a:lnTo>
                  <a:pt x="125981" y="141720"/>
                </a:lnTo>
                <a:cubicBezTo>
                  <a:pt x="125981" y="150412"/>
                  <a:pt x="133028" y="157459"/>
                  <a:pt x="141720" y="157459"/>
                </a:cubicBezTo>
                <a:cubicBezTo>
                  <a:pt x="150412" y="157459"/>
                  <a:pt x="157459" y="150412"/>
                  <a:pt x="157459" y="141720"/>
                </a:cubicBezTo>
                <a:lnTo>
                  <a:pt x="157459" y="125981"/>
                </a:lnTo>
                <a:cubicBezTo>
                  <a:pt x="157459" y="117303"/>
                  <a:pt x="150419" y="110243"/>
                  <a:pt x="141720" y="110243"/>
                </a:cubicBezTo>
                <a:moveTo>
                  <a:pt x="204654" y="94525"/>
                </a:moveTo>
                <a:cubicBezTo>
                  <a:pt x="195975" y="94525"/>
                  <a:pt x="188915" y="101545"/>
                  <a:pt x="188915" y="110243"/>
                </a:cubicBezTo>
                <a:lnTo>
                  <a:pt x="188915" y="141720"/>
                </a:lnTo>
                <a:cubicBezTo>
                  <a:pt x="188916" y="150411"/>
                  <a:pt x="195962" y="157457"/>
                  <a:pt x="204654" y="157457"/>
                </a:cubicBezTo>
                <a:cubicBezTo>
                  <a:pt x="213345" y="157457"/>
                  <a:pt x="220390" y="150411"/>
                  <a:pt x="220391" y="141720"/>
                </a:cubicBezTo>
                <a:lnTo>
                  <a:pt x="220391" y="110243"/>
                </a:lnTo>
                <a:cubicBezTo>
                  <a:pt x="220391" y="101565"/>
                  <a:pt x="213351" y="94525"/>
                  <a:pt x="204654" y="94525"/>
                </a:cubicBezTo>
                <a:moveTo>
                  <a:pt x="78807" y="63028"/>
                </a:moveTo>
                <a:lnTo>
                  <a:pt x="78766" y="63048"/>
                </a:lnTo>
                <a:cubicBezTo>
                  <a:pt x="70068" y="63048"/>
                  <a:pt x="63028" y="70088"/>
                  <a:pt x="63028" y="78787"/>
                </a:cubicBezTo>
                <a:lnTo>
                  <a:pt x="63028" y="141720"/>
                </a:lnTo>
                <a:cubicBezTo>
                  <a:pt x="63028" y="150423"/>
                  <a:pt x="70083" y="157478"/>
                  <a:pt x="78787" y="157478"/>
                </a:cubicBezTo>
                <a:cubicBezTo>
                  <a:pt x="87490" y="157478"/>
                  <a:pt x="94545" y="150423"/>
                  <a:pt x="94545" y="141720"/>
                </a:cubicBezTo>
                <a:lnTo>
                  <a:pt x="94545" y="78766"/>
                </a:lnTo>
                <a:cubicBezTo>
                  <a:pt x="94545" y="70068"/>
                  <a:pt x="87506" y="63028"/>
                  <a:pt x="78807" y="63028"/>
                </a:cubicBez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10624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3" name="图形 50" descr="343439383331313b343532303033313bd3a6d3c3c9ccb3c7"/>
          <p:cNvSpPr/>
          <p:nvPr>
            <p:custDataLst>
              <p:tags r:id="rId12"/>
            </p:custDataLst>
          </p:nvPr>
        </p:nvSpPr>
        <p:spPr>
          <a:xfrm>
            <a:off x="8935056" y="4244860"/>
            <a:ext cx="172241" cy="186690"/>
          </a:xfrm>
          <a:custGeom>
            <a:avLst/>
            <a:gdLst>
              <a:gd name="connsiteX0" fmla="*/ 212414 w 261291"/>
              <a:gd name="connsiteY0" fmla="*/ 283324 h 283210"/>
              <a:gd name="connsiteX1" fmla="*/ 49107 w 261291"/>
              <a:gd name="connsiteY1" fmla="*/ 283324 h 283210"/>
              <a:gd name="connsiteX2" fmla="*/ 115 w 261291"/>
              <a:gd name="connsiteY2" fmla="*/ 236122 h 283210"/>
              <a:gd name="connsiteX3" fmla="*/ 115 w 261291"/>
              <a:gd name="connsiteY3" fmla="*/ 47316 h 283210"/>
              <a:gd name="connsiteX4" fmla="*/ 49107 w 261291"/>
              <a:gd name="connsiteY4" fmla="*/ 114 h 283210"/>
              <a:gd name="connsiteX5" fmla="*/ 212414 w 261291"/>
              <a:gd name="connsiteY5" fmla="*/ 114 h 283210"/>
              <a:gd name="connsiteX6" fmla="*/ 261407 w 261291"/>
              <a:gd name="connsiteY6" fmla="*/ 47316 h 283210"/>
              <a:gd name="connsiteX7" fmla="*/ 261407 w 261291"/>
              <a:gd name="connsiteY7" fmla="*/ 236122 h 283210"/>
              <a:gd name="connsiteX8" fmla="*/ 212414 w 261291"/>
              <a:gd name="connsiteY8" fmla="*/ 283324 h 283210"/>
              <a:gd name="connsiteX9" fmla="*/ 130761 w 261291"/>
              <a:gd name="connsiteY9" fmla="*/ 130481 h 283210"/>
              <a:gd name="connsiteX10" fmla="*/ 196083 w 261291"/>
              <a:gd name="connsiteY10" fmla="*/ 65297 h 283210"/>
              <a:gd name="connsiteX11" fmla="*/ 179753 w 261291"/>
              <a:gd name="connsiteY11" fmla="*/ 49001 h 283210"/>
              <a:gd name="connsiteX12" fmla="*/ 163422 w 261291"/>
              <a:gd name="connsiteY12" fmla="*/ 65297 h 283210"/>
              <a:gd name="connsiteX13" fmla="*/ 130761 w 261291"/>
              <a:gd name="connsiteY13" fmla="*/ 97889 h 283210"/>
              <a:gd name="connsiteX14" fmla="*/ 98099 w 261291"/>
              <a:gd name="connsiteY14" fmla="*/ 65297 h 283210"/>
              <a:gd name="connsiteX15" fmla="*/ 81768 w 261291"/>
              <a:gd name="connsiteY15" fmla="*/ 49001 h 283210"/>
              <a:gd name="connsiteX16" fmla="*/ 65438 w 261291"/>
              <a:gd name="connsiteY16" fmla="*/ 65297 h 283210"/>
              <a:gd name="connsiteX17" fmla="*/ 130761 w 261291"/>
              <a:gd name="connsiteY17" fmla="*/ 130481 h 283210"/>
              <a:gd name="connsiteX18" fmla="*/ 163422 w 261291"/>
              <a:gd name="connsiteY18" fmla="*/ 228256 h 283210"/>
              <a:gd name="connsiteX19" fmla="*/ 179753 w 261291"/>
              <a:gd name="connsiteY19" fmla="*/ 211959 h 283210"/>
              <a:gd name="connsiteX20" fmla="*/ 163422 w 261291"/>
              <a:gd name="connsiteY20" fmla="*/ 195663 h 283210"/>
              <a:gd name="connsiteX21" fmla="*/ 98099 w 261291"/>
              <a:gd name="connsiteY21" fmla="*/ 195663 h 283210"/>
              <a:gd name="connsiteX22" fmla="*/ 81768 w 261291"/>
              <a:gd name="connsiteY22" fmla="*/ 211959 h 283210"/>
              <a:gd name="connsiteX23" fmla="*/ 98099 w 261291"/>
              <a:gd name="connsiteY23" fmla="*/ 228256 h 283210"/>
              <a:gd name="connsiteX24" fmla="*/ 163422 w 261291"/>
              <a:gd name="connsiteY24" fmla="*/ 228256 h 283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61291" h="283210">
                <a:moveTo>
                  <a:pt x="212414" y="283324"/>
                </a:moveTo>
                <a:lnTo>
                  <a:pt x="49107" y="283324"/>
                </a:lnTo>
                <a:cubicBezTo>
                  <a:pt x="21345" y="283324"/>
                  <a:pt x="115" y="262870"/>
                  <a:pt x="115" y="236122"/>
                </a:cubicBezTo>
                <a:lnTo>
                  <a:pt x="115" y="47316"/>
                </a:lnTo>
                <a:cubicBezTo>
                  <a:pt x="115" y="20568"/>
                  <a:pt x="21345" y="114"/>
                  <a:pt x="49107" y="114"/>
                </a:cubicBezTo>
                <a:lnTo>
                  <a:pt x="212414" y="114"/>
                </a:lnTo>
                <a:cubicBezTo>
                  <a:pt x="240177" y="114"/>
                  <a:pt x="261407" y="20568"/>
                  <a:pt x="261407" y="47316"/>
                </a:cubicBezTo>
                <a:lnTo>
                  <a:pt x="261407" y="236122"/>
                </a:lnTo>
                <a:cubicBezTo>
                  <a:pt x="261407" y="262870"/>
                  <a:pt x="240177" y="283324"/>
                  <a:pt x="212414" y="283324"/>
                </a:cubicBezTo>
                <a:moveTo>
                  <a:pt x="130761" y="130481"/>
                </a:moveTo>
                <a:cubicBezTo>
                  <a:pt x="166688" y="130481"/>
                  <a:pt x="196083" y="101148"/>
                  <a:pt x="196083" y="65297"/>
                </a:cubicBezTo>
                <a:cubicBezTo>
                  <a:pt x="196083" y="55520"/>
                  <a:pt x="189551" y="49001"/>
                  <a:pt x="179753" y="49001"/>
                </a:cubicBezTo>
                <a:cubicBezTo>
                  <a:pt x="169954" y="49001"/>
                  <a:pt x="163422" y="55520"/>
                  <a:pt x="163422" y="65297"/>
                </a:cubicBezTo>
                <a:cubicBezTo>
                  <a:pt x="163422" y="83223"/>
                  <a:pt x="148724" y="97889"/>
                  <a:pt x="130761" y="97889"/>
                </a:cubicBezTo>
                <a:cubicBezTo>
                  <a:pt x="112797" y="97889"/>
                  <a:pt x="98099" y="83223"/>
                  <a:pt x="98099" y="65297"/>
                </a:cubicBezTo>
                <a:cubicBezTo>
                  <a:pt x="98099" y="55520"/>
                  <a:pt x="91567" y="49001"/>
                  <a:pt x="81768" y="49001"/>
                </a:cubicBezTo>
                <a:cubicBezTo>
                  <a:pt x="71970" y="49001"/>
                  <a:pt x="65438" y="55520"/>
                  <a:pt x="65438" y="65297"/>
                </a:cubicBezTo>
                <a:cubicBezTo>
                  <a:pt x="65438" y="101148"/>
                  <a:pt x="94833" y="130481"/>
                  <a:pt x="130761" y="130481"/>
                </a:cubicBezTo>
                <a:moveTo>
                  <a:pt x="163422" y="228256"/>
                </a:moveTo>
                <a:cubicBezTo>
                  <a:pt x="173221" y="228256"/>
                  <a:pt x="179753" y="221737"/>
                  <a:pt x="179753" y="211959"/>
                </a:cubicBezTo>
                <a:cubicBezTo>
                  <a:pt x="179753" y="202182"/>
                  <a:pt x="173221" y="195663"/>
                  <a:pt x="163422" y="195663"/>
                </a:cubicBezTo>
                <a:lnTo>
                  <a:pt x="98099" y="195663"/>
                </a:lnTo>
                <a:cubicBezTo>
                  <a:pt x="88301" y="195663"/>
                  <a:pt x="81768" y="202182"/>
                  <a:pt x="81768" y="211959"/>
                </a:cubicBezTo>
                <a:cubicBezTo>
                  <a:pt x="81768" y="221737"/>
                  <a:pt x="88301" y="228256"/>
                  <a:pt x="98099" y="228256"/>
                </a:cubicBezTo>
                <a:lnTo>
                  <a:pt x="163422" y="228256"/>
                </a:lnTo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5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4" name="任意多边形: 形状 23"/>
          <p:cNvSpPr/>
          <p:nvPr>
            <p:custDataLst>
              <p:tags r:id="rId13"/>
            </p:custDataLst>
          </p:nvPr>
        </p:nvSpPr>
        <p:spPr>
          <a:xfrm>
            <a:off x="9865158" y="4246116"/>
            <a:ext cx="186729" cy="186377"/>
          </a:xfrm>
          <a:custGeom>
            <a:avLst/>
            <a:gdLst>
              <a:gd name="connsiteX0" fmla="*/ 163507 w 283269"/>
              <a:gd name="connsiteY0" fmla="*/ 160395 h 282735"/>
              <a:gd name="connsiteX1" fmla="*/ 247406 w 283269"/>
              <a:gd name="connsiteY1" fmla="*/ 160395 h 282735"/>
              <a:gd name="connsiteX2" fmla="*/ 267091 w 283269"/>
              <a:gd name="connsiteY2" fmla="*/ 179932 h 282735"/>
              <a:gd name="connsiteX3" fmla="*/ 267091 w 283269"/>
              <a:gd name="connsiteY3" fmla="*/ 263198 h 282735"/>
              <a:gd name="connsiteX4" fmla="*/ 247406 w 283269"/>
              <a:gd name="connsiteY4" fmla="*/ 282735 h 282735"/>
              <a:gd name="connsiteX5" fmla="*/ 163507 w 283269"/>
              <a:gd name="connsiteY5" fmla="*/ 282735 h 282735"/>
              <a:gd name="connsiteX6" fmla="*/ 143822 w 283269"/>
              <a:gd name="connsiteY6" fmla="*/ 263198 h 282735"/>
              <a:gd name="connsiteX7" fmla="*/ 143822 w 283269"/>
              <a:gd name="connsiteY7" fmla="*/ 179932 h 282735"/>
              <a:gd name="connsiteX8" fmla="*/ 163507 w 283269"/>
              <a:gd name="connsiteY8" fmla="*/ 160395 h 282735"/>
              <a:gd name="connsiteX9" fmla="*/ 19685 w 283269"/>
              <a:gd name="connsiteY9" fmla="*/ 160395 h 282735"/>
              <a:gd name="connsiteX10" fmla="*/ 103584 w 283269"/>
              <a:gd name="connsiteY10" fmla="*/ 160395 h 282735"/>
              <a:gd name="connsiteX11" fmla="*/ 123269 w 283269"/>
              <a:gd name="connsiteY11" fmla="*/ 179932 h 282735"/>
              <a:gd name="connsiteX12" fmla="*/ 123269 w 283269"/>
              <a:gd name="connsiteY12" fmla="*/ 263198 h 282735"/>
              <a:gd name="connsiteX13" fmla="*/ 103584 w 283269"/>
              <a:gd name="connsiteY13" fmla="*/ 282735 h 282735"/>
              <a:gd name="connsiteX14" fmla="*/ 19685 w 283269"/>
              <a:gd name="connsiteY14" fmla="*/ 282735 h 282735"/>
              <a:gd name="connsiteX15" fmla="*/ 0 w 283269"/>
              <a:gd name="connsiteY15" fmla="*/ 263198 h 282735"/>
              <a:gd name="connsiteX16" fmla="*/ 0 w 283269"/>
              <a:gd name="connsiteY16" fmla="*/ 179932 h 282735"/>
              <a:gd name="connsiteX17" fmla="*/ 19685 w 283269"/>
              <a:gd name="connsiteY17" fmla="*/ 160395 h 282735"/>
              <a:gd name="connsiteX18" fmla="*/ 207898 w 283269"/>
              <a:gd name="connsiteY18" fmla="*/ 47157 h 282735"/>
              <a:gd name="connsiteX19" fmla="*/ 180063 w 283269"/>
              <a:gd name="connsiteY19" fmla="*/ 74783 h 282735"/>
              <a:gd name="connsiteX20" fmla="*/ 207898 w 283269"/>
              <a:gd name="connsiteY20" fmla="*/ 102408 h 282735"/>
              <a:gd name="connsiteX21" fmla="*/ 235733 w 283269"/>
              <a:gd name="connsiteY21" fmla="*/ 74783 h 282735"/>
              <a:gd name="connsiteX22" fmla="*/ 19685 w 283269"/>
              <a:gd name="connsiteY22" fmla="*/ 17658 h 282735"/>
              <a:gd name="connsiteX23" fmla="*/ 103584 w 283269"/>
              <a:gd name="connsiteY23" fmla="*/ 17658 h 282735"/>
              <a:gd name="connsiteX24" fmla="*/ 123269 w 283269"/>
              <a:gd name="connsiteY24" fmla="*/ 37195 h 282735"/>
              <a:gd name="connsiteX25" fmla="*/ 123269 w 283269"/>
              <a:gd name="connsiteY25" fmla="*/ 120462 h 282735"/>
              <a:gd name="connsiteX26" fmla="*/ 103584 w 283269"/>
              <a:gd name="connsiteY26" fmla="*/ 139999 h 282735"/>
              <a:gd name="connsiteX27" fmla="*/ 19685 w 283269"/>
              <a:gd name="connsiteY27" fmla="*/ 139999 h 282735"/>
              <a:gd name="connsiteX28" fmla="*/ 0 w 283269"/>
              <a:gd name="connsiteY28" fmla="*/ 120462 h 282735"/>
              <a:gd name="connsiteX29" fmla="*/ 0 w 283269"/>
              <a:gd name="connsiteY29" fmla="*/ 37195 h 282735"/>
              <a:gd name="connsiteX30" fmla="*/ 19685 w 283269"/>
              <a:gd name="connsiteY30" fmla="*/ 17658 h 282735"/>
              <a:gd name="connsiteX31" fmla="*/ 207879 w 283269"/>
              <a:gd name="connsiteY31" fmla="*/ 0 h 282735"/>
              <a:gd name="connsiteX32" fmla="*/ 221796 w 283269"/>
              <a:gd name="connsiteY32" fmla="*/ 5720 h 282735"/>
              <a:gd name="connsiteX33" fmla="*/ 221815 w 283269"/>
              <a:gd name="connsiteY33" fmla="*/ 5720 h 282735"/>
              <a:gd name="connsiteX34" fmla="*/ 277506 w 283269"/>
              <a:gd name="connsiteY34" fmla="*/ 60970 h 282735"/>
              <a:gd name="connsiteX35" fmla="*/ 277506 w 283269"/>
              <a:gd name="connsiteY35" fmla="*/ 88595 h 282735"/>
              <a:gd name="connsiteX36" fmla="*/ 221815 w 283269"/>
              <a:gd name="connsiteY36" fmla="*/ 143865 h 282735"/>
              <a:gd name="connsiteX37" fmla="*/ 193980 w 283269"/>
              <a:gd name="connsiteY37" fmla="*/ 143865 h 282735"/>
              <a:gd name="connsiteX38" fmla="*/ 138309 w 283269"/>
              <a:gd name="connsiteY38" fmla="*/ 88595 h 282735"/>
              <a:gd name="connsiteX39" fmla="*/ 138309 w 283269"/>
              <a:gd name="connsiteY39" fmla="*/ 60970 h 282735"/>
              <a:gd name="connsiteX40" fmla="*/ 193961 w 283269"/>
              <a:gd name="connsiteY40" fmla="*/ 5720 h 282735"/>
              <a:gd name="connsiteX41" fmla="*/ 207879 w 283269"/>
              <a:gd name="connsiteY41" fmla="*/ 0 h 2827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</a:cxnLst>
            <a:rect l="l" t="t" r="r" b="b"/>
            <a:pathLst>
              <a:path w="283269" h="282735">
                <a:moveTo>
                  <a:pt x="163507" y="160395"/>
                </a:moveTo>
                <a:lnTo>
                  <a:pt x="247406" y="160395"/>
                </a:lnTo>
                <a:cubicBezTo>
                  <a:pt x="258278" y="160395"/>
                  <a:pt x="267091" y="169142"/>
                  <a:pt x="267091" y="179932"/>
                </a:cubicBezTo>
                <a:lnTo>
                  <a:pt x="267091" y="263198"/>
                </a:lnTo>
                <a:cubicBezTo>
                  <a:pt x="267091" y="273989"/>
                  <a:pt x="258278" y="282735"/>
                  <a:pt x="247406" y="282735"/>
                </a:cubicBezTo>
                <a:lnTo>
                  <a:pt x="163507" y="282735"/>
                </a:lnTo>
                <a:cubicBezTo>
                  <a:pt x="152635" y="282735"/>
                  <a:pt x="143822" y="273989"/>
                  <a:pt x="143822" y="263198"/>
                </a:cubicBezTo>
                <a:lnTo>
                  <a:pt x="143822" y="179932"/>
                </a:lnTo>
                <a:cubicBezTo>
                  <a:pt x="143822" y="169142"/>
                  <a:pt x="152635" y="160395"/>
                  <a:pt x="163507" y="160395"/>
                </a:cubicBezTo>
                <a:close/>
                <a:moveTo>
                  <a:pt x="19685" y="160395"/>
                </a:moveTo>
                <a:lnTo>
                  <a:pt x="103584" y="160395"/>
                </a:lnTo>
                <a:cubicBezTo>
                  <a:pt x="114456" y="160395"/>
                  <a:pt x="123269" y="169142"/>
                  <a:pt x="123269" y="179932"/>
                </a:cubicBezTo>
                <a:lnTo>
                  <a:pt x="123269" y="263198"/>
                </a:lnTo>
                <a:cubicBezTo>
                  <a:pt x="123269" y="273989"/>
                  <a:pt x="114456" y="282735"/>
                  <a:pt x="103584" y="282735"/>
                </a:cubicBezTo>
                <a:lnTo>
                  <a:pt x="19685" y="282735"/>
                </a:lnTo>
                <a:cubicBezTo>
                  <a:pt x="8813" y="282735"/>
                  <a:pt x="0" y="273989"/>
                  <a:pt x="0" y="263198"/>
                </a:cubicBezTo>
                <a:lnTo>
                  <a:pt x="0" y="179932"/>
                </a:lnTo>
                <a:cubicBezTo>
                  <a:pt x="0" y="169142"/>
                  <a:pt x="8813" y="160395"/>
                  <a:pt x="19685" y="160395"/>
                </a:cubicBezTo>
                <a:close/>
                <a:moveTo>
                  <a:pt x="207898" y="47157"/>
                </a:moveTo>
                <a:lnTo>
                  <a:pt x="180063" y="74783"/>
                </a:lnTo>
                <a:lnTo>
                  <a:pt x="207898" y="102408"/>
                </a:lnTo>
                <a:lnTo>
                  <a:pt x="235733" y="74783"/>
                </a:lnTo>
                <a:close/>
                <a:moveTo>
                  <a:pt x="19685" y="17658"/>
                </a:moveTo>
                <a:lnTo>
                  <a:pt x="103584" y="17658"/>
                </a:lnTo>
                <a:cubicBezTo>
                  <a:pt x="114456" y="17658"/>
                  <a:pt x="123269" y="26405"/>
                  <a:pt x="123269" y="37195"/>
                </a:cubicBezTo>
                <a:lnTo>
                  <a:pt x="123269" y="120462"/>
                </a:lnTo>
                <a:cubicBezTo>
                  <a:pt x="123269" y="131251"/>
                  <a:pt x="114456" y="139999"/>
                  <a:pt x="103584" y="139999"/>
                </a:cubicBezTo>
                <a:lnTo>
                  <a:pt x="19685" y="139999"/>
                </a:lnTo>
                <a:cubicBezTo>
                  <a:pt x="8813" y="139999"/>
                  <a:pt x="0" y="131251"/>
                  <a:pt x="0" y="120462"/>
                </a:cubicBezTo>
                <a:lnTo>
                  <a:pt x="0" y="37195"/>
                </a:lnTo>
                <a:cubicBezTo>
                  <a:pt x="0" y="26405"/>
                  <a:pt x="8813" y="17658"/>
                  <a:pt x="19685" y="17658"/>
                </a:cubicBezTo>
                <a:close/>
                <a:moveTo>
                  <a:pt x="207879" y="0"/>
                </a:moveTo>
                <a:cubicBezTo>
                  <a:pt x="212916" y="0"/>
                  <a:pt x="217953" y="1907"/>
                  <a:pt x="221796" y="5720"/>
                </a:cubicBezTo>
                <a:lnTo>
                  <a:pt x="221815" y="5720"/>
                </a:lnTo>
                <a:lnTo>
                  <a:pt x="277506" y="60970"/>
                </a:lnTo>
                <a:cubicBezTo>
                  <a:pt x="285190" y="68599"/>
                  <a:pt x="285190" y="80966"/>
                  <a:pt x="277506" y="88595"/>
                </a:cubicBezTo>
                <a:lnTo>
                  <a:pt x="221815" y="143865"/>
                </a:lnTo>
                <a:cubicBezTo>
                  <a:pt x="214128" y="151492"/>
                  <a:pt x="201667" y="151492"/>
                  <a:pt x="193980" y="143865"/>
                </a:cubicBezTo>
                <a:lnTo>
                  <a:pt x="138309" y="88595"/>
                </a:lnTo>
                <a:cubicBezTo>
                  <a:pt x="130625" y="80966"/>
                  <a:pt x="130625" y="68599"/>
                  <a:pt x="138309" y="60970"/>
                </a:cubicBezTo>
                <a:lnTo>
                  <a:pt x="193961" y="5720"/>
                </a:lnTo>
                <a:cubicBezTo>
                  <a:pt x="197805" y="1907"/>
                  <a:pt x="202842" y="0"/>
                  <a:pt x="207879" y="0"/>
                </a:cubicBezTo>
                <a:close/>
              </a:path>
            </a:pathLst>
          </a:custGeom>
          <a:gradFill>
            <a:gsLst>
              <a:gs pos="0">
                <a:srgbClr val="FFFFFF"/>
              </a:gs>
              <a:gs pos="99999">
                <a:srgbClr val="FFFFFF">
                  <a:alpha val="60000"/>
                </a:srgbClr>
              </a:gs>
            </a:gsLst>
            <a:lin ang="5400000" scaled="1"/>
          </a:gradFill>
          <a:ln w="9868" cap="flat">
            <a:noFill/>
            <a:prstDash val="solid"/>
            <a:miter/>
          </a:ln>
        </p:spPr>
        <p:txBody>
          <a:bodyPr rtlCol="0" anchor="ctr"/>
          <a:lstStyle/>
          <a:p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1163564" y="3327205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实现方式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162685" y="4902835"/>
            <a:ext cx="6714490" cy="650240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pc_video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：视频爬取和下载。</a:t>
            </a:r>
            <a:endParaRPr lang="zh-CN" altLang="en-US" sz="14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PyQt6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：</a:t>
            </a:r>
            <a:r>
              <a:rPr lang="en-US" altLang="zh-CN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GUI</a:t>
            </a:r>
            <a:r>
              <a:rPr lang="zh-CN" altLang="en-US" sz="14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界面和提示框。</a:t>
            </a:r>
            <a:endParaRPr lang="zh-CN" altLang="en-US" sz="1400" dirty="0">
              <a:solidFill>
                <a:schemeClr val="tx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163564" y="4573710"/>
            <a:ext cx="2117624" cy="3956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</a:pPr>
            <a:r>
              <a:rPr lang="zh-CN" altLang="en-US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技术栈</a:t>
            </a:r>
            <a:endParaRPr lang="zh-CN" altLang="en-US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" name="组合 1"/>
          <p:cNvGrpSpPr/>
          <p:nvPr/>
        </p:nvGrpSpPr>
        <p:grpSpPr>
          <a:xfrm>
            <a:off x="2872934" y="3661544"/>
            <a:ext cx="6402302" cy="612217"/>
            <a:chOff x="2858337" y="3886428"/>
            <a:chExt cx="6402302" cy="612217"/>
          </a:xfrm>
        </p:grpSpPr>
        <p:sp>
          <p:nvSpPr>
            <p:cNvPr id="4" name="矩形: 圆角 3"/>
            <p:cNvSpPr/>
            <p:nvPr/>
          </p:nvSpPr>
          <p:spPr>
            <a:xfrm>
              <a:off x="2858337" y="3886428"/>
              <a:ext cx="6402302" cy="61221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2910045" y="3929446"/>
              <a:ext cx="3859500" cy="52618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黑体" panose="0201060906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2966" y="1761134"/>
            <a:ext cx="8126069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项目展示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5114" y="3736820"/>
            <a:ext cx="1957426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  <a:cs typeface="黑体" panose="02010609060101010101" charset="-122"/>
              </a:rPr>
              <a:t>Part Six</a:t>
            </a:r>
            <a:endParaRPr lang="en-US" altLang="zh-CN" sz="24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789229" y="4916981"/>
            <a:ext cx="251901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278858" y="3799010"/>
            <a:ext cx="3497664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Project Display</a:t>
            </a:r>
            <a:endParaRPr lang="en-US" altLang="zh-CN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247265" y="5744210"/>
            <a:ext cx="7701915" cy="411480"/>
            <a:chOff x="4418" y="9660"/>
            <a:chExt cx="12129" cy="648"/>
          </a:xfrm>
        </p:grpSpPr>
        <p:grpSp>
          <p:nvGrpSpPr>
            <p:cNvPr id="52" name="组合 51"/>
            <p:cNvGrpSpPr/>
            <p:nvPr/>
          </p:nvGrpSpPr>
          <p:grpSpPr>
            <a:xfrm>
              <a:off x="11395" y="9660"/>
              <a:ext cx="5152" cy="648"/>
              <a:chOff x="4237960" y="6000847"/>
              <a:chExt cx="3271483" cy="411488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557309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05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5754254" y="6000847"/>
                <a:ext cx="558245" cy="39882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2000" dirty="0">
                    <a:solidFill>
                      <a:schemeClr val="accent1"/>
                    </a:solidFill>
                    <a:cs typeface="黑体" panose="02010609060101010101" charset="-122"/>
                  </a:rPr>
                  <a:t>06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6951198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07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418" y="9660"/>
              <a:ext cx="6534" cy="640"/>
              <a:chOff x="3360366" y="6007162"/>
              <a:chExt cx="4149077" cy="40654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3360366" y="6075211"/>
                <a:ext cx="558245" cy="33730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01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557309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02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5754254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03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6951198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04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662270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项目展示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2269" y="1140346"/>
            <a:ext cx="4102476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Project Display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图片 2" descr="D:/桌面/实训/a.pnga"/>
          <p:cNvPicPr>
            <a:picLocks noChangeAspect="1"/>
          </p:cNvPicPr>
          <p:nvPr/>
        </p:nvPicPr>
        <p:blipFill>
          <a:blip r:embed="rId2"/>
          <a:srcRect t="310" b="310"/>
          <a:stretch>
            <a:fillRect/>
          </a:stretch>
        </p:blipFill>
        <p:spPr>
          <a:xfrm>
            <a:off x="776605" y="1819275"/>
            <a:ext cx="5121910" cy="3636645"/>
          </a:xfrm>
          <a:prstGeom prst="rect">
            <a:avLst/>
          </a:prstGeom>
        </p:spPr>
      </p:pic>
      <p:pic>
        <p:nvPicPr>
          <p:cNvPr id="4" name="图片 3" descr="D:/桌面/实训/b.pngb"/>
          <p:cNvPicPr>
            <a:picLocks noChangeAspect="1"/>
          </p:cNvPicPr>
          <p:nvPr/>
        </p:nvPicPr>
        <p:blipFill>
          <a:blip r:embed="rId3"/>
          <a:srcRect t="644" b="644"/>
          <a:stretch>
            <a:fillRect/>
          </a:stretch>
        </p:blipFill>
        <p:spPr>
          <a:xfrm>
            <a:off x="6258560" y="1811020"/>
            <a:ext cx="5175885" cy="36449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031530" y="5570312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单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图像检测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40790" y="5570312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摄像头实时检测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662270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项目展示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2269" y="1140346"/>
            <a:ext cx="4102476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Project Display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图片 2" descr="D:/桌面/实训/c.pngc"/>
          <p:cNvPicPr>
            <a:picLocks noChangeAspect="1"/>
          </p:cNvPicPr>
          <p:nvPr/>
        </p:nvPicPr>
        <p:blipFill>
          <a:blip r:embed="rId2"/>
          <a:srcRect l="1187" r="1187"/>
          <a:stretch>
            <a:fillRect/>
          </a:stretch>
        </p:blipFill>
        <p:spPr>
          <a:xfrm>
            <a:off x="776605" y="1819275"/>
            <a:ext cx="5121910" cy="3636645"/>
          </a:xfrm>
          <a:prstGeom prst="rect">
            <a:avLst/>
          </a:prstGeom>
        </p:spPr>
      </p:pic>
      <p:pic>
        <p:nvPicPr>
          <p:cNvPr id="4" name="图片 3" descr="D:/桌面/实训/d.pngd"/>
          <p:cNvPicPr>
            <a:picLocks noChangeAspect="1"/>
          </p:cNvPicPr>
          <p:nvPr/>
        </p:nvPicPr>
        <p:blipFill>
          <a:blip r:embed="rId3"/>
          <a:srcRect l="296" r="296"/>
          <a:stretch>
            <a:fillRect/>
          </a:stretch>
        </p:blipFill>
        <p:spPr>
          <a:xfrm>
            <a:off x="6258560" y="1811020"/>
            <a:ext cx="5175885" cy="36449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031530" y="5570312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网页视频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获取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40790" y="5570312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模型选择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662270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项目展示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2269" y="1140346"/>
            <a:ext cx="4102476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Project Display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3" name="图片 2" descr="D:/桌面/实训/f.pngf"/>
          <p:cNvPicPr>
            <a:picLocks noChangeAspect="1"/>
          </p:cNvPicPr>
          <p:nvPr/>
        </p:nvPicPr>
        <p:blipFill>
          <a:blip r:embed="rId2"/>
          <a:srcRect l="5622" r="5622"/>
          <a:stretch>
            <a:fillRect/>
          </a:stretch>
        </p:blipFill>
        <p:spPr>
          <a:xfrm>
            <a:off x="776605" y="1819275"/>
            <a:ext cx="5121910" cy="3636645"/>
          </a:xfrm>
          <a:prstGeom prst="rect">
            <a:avLst/>
          </a:prstGeom>
        </p:spPr>
      </p:pic>
      <p:pic>
        <p:nvPicPr>
          <p:cNvPr id="4" name="图片 3" descr="D:/桌面/实训/g.pngg"/>
          <p:cNvPicPr>
            <a:picLocks noChangeAspect="1"/>
          </p:cNvPicPr>
          <p:nvPr/>
        </p:nvPicPr>
        <p:blipFill>
          <a:blip r:embed="rId3"/>
          <a:srcRect l="3998" r="3998"/>
          <a:stretch>
            <a:fillRect/>
          </a:stretch>
        </p:blipFill>
        <p:spPr>
          <a:xfrm>
            <a:off x="6258560" y="1811020"/>
            <a:ext cx="5175885" cy="3644900"/>
          </a:xfrm>
          <a:prstGeom prst="rect">
            <a:avLst/>
          </a:prstGeom>
        </p:spPr>
      </p:pic>
      <p:sp>
        <p:nvSpPr>
          <p:cNvPr id="18" name="矩形 17"/>
          <p:cNvSpPr/>
          <p:nvPr/>
        </p:nvSpPr>
        <p:spPr>
          <a:xfrm>
            <a:off x="1031530" y="5570312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</a:rPr>
              <a:t>视频</a:t>
            </a: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检测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40790" y="5570312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10000"/>
              </a:lnSpc>
            </a:pPr>
            <a:r>
              <a:rPr lang="zh-CN" altLang="en-US" sz="2400" dirty="0">
                <a:solidFill>
                  <a:schemeClr val="tx2">
                    <a:lumMod val="75000"/>
                  </a:schemeClr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检测结果显示</a:t>
            </a:r>
            <a:endParaRPr lang="zh-CN" altLang="en-US" sz="2400" dirty="0">
              <a:solidFill>
                <a:schemeClr val="tx2">
                  <a:lumMod val="75000"/>
                </a:schemeClr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662270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主要代码展示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2269" y="1140346"/>
            <a:ext cx="4102476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MainCode Display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7" name="图片 6" descr="8e5d31b5-98ed-41df-a8f5-6dd4ecaafafb"/>
          <p:cNvPicPr>
            <a:picLocks noChangeAspect="1"/>
          </p:cNvPicPr>
          <p:nvPr/>
        </p:nvPicPr>
        <p:blipFill>
          <a:blip r:embed="rId2"/>
          <a:srcRect r="43644" b="-356"/>
          <a:stretch>
            <a:fillRect/>
          </a:stretch>
        </p:blipFill>
        <p:spPr>
          <a:xfrm>
            <a:off x="763270" y="1652270"/>
            <a:ext cx="5216525" cy="441579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3"/>
          <a:srcRect t="3054" r="38840"/>
          <a:stretch>
            <a:fillRect/>
          </a:stretch>
        </p:blipFill>
        <p:spPr>
          <a:xfrm>
            <a:off x="6275705" y="795655"/>
            <a:ext cx="5166360" cy="4323715"/>
          </a:xfrm>
          <a:prstGeom prst="rect">
            <a:avLst/>
          </a:prstGeom>
        </p:spPr>
      </p:pic>
      <p:pic>
        <p:nvPicPr>
          <p:cNvPr id="10" name="图片 9"/>
          <p:cNvPicPr/>
          <p:nvPr/>
        </p:nvPicPr>
        <p:blipFill>
          <a:blip r:embed="rId4"/>
          <a:srcRect r="36645"/>
          <a:stretch>
            <a:fillRect/>
          </a:stretch>
        </p:blipFill>
        <p:spPr>
          <a:xfrm>
            <a:off x="6275705" y="5119370"/>
            <a:ext cx="5166360" cy="94869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grpSp>
        <p:nvGrpSpPr>
          <p:cNvPr id="2" name="组合 1"/>
          <p:cNvGrpSpPr/>
          <p:nvPr/>
        </p:nvGrpSpPr>
        <p:grpSpPr>
          <a:xfrm>
            <a:off x="2872934" y="3661544"/>
            <a:ext cx="6402302" cy="612217"/>
            <a:chOff x="2858337" y="3886428"/>
            <a:chExt cx="6402302" cy="612217"/>
          </a:xfrm>
        </p:grpSpPr>
        <p:sp>
          <p:nvSpPr>
            <p:cNvPr id="4" name="矩形: 圆角 3"/>
            <p:cNvSpPr/>
            <p:nvPr/>
          </p:nvSpPr>
          <p:spPr>
            <a:xfrm>
              <a:off x="2858337" y="3886428"/>
              <a:ext cx="6402302" cy="612217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2910045" y="3929446"/>
              <a:ext cx="3859500" cy="526181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cs typeface="黑体" panose="02010609060101010101" charset="-122"/>
              </a:endParaRPr>
            </a:p>
          </p:txBody>
        </p:sp>
      </p:grpSp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2032966" y="1761134"/>
            <a:ext cx="8126069" cy="1531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</a:rPr>
              <a:t>总结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935114" y="3736820"/>
            <a:ext cx="1957426" cy="4603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r>
              <a:rPr lang="en-US" altLang="zh-CN" sz="2400" dirty="0">
                <a:solidFill>
                  <a:schemeClr val="bg1"/>
                </a:solidFill>
                <a:cs typeface="黑体" panose="02010609060101010101" charset="-122"/>
              </a:rPr>
              <a:t>Part Seven</a:t>
            </a:r>
            <a:endParaRPr lang="en-US" altLang="zh-CN" sz="24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cxnSp>
        <p:nvCxnSpPr>
          <p:cNvPr id="28" name="直接箭头连接符 27"/>
          <p:cNvCxnSpPr/>
          <p:nvPr/>
        </p:nvCxnSpPr>
        <p:spPr>
          <a:xfrm>
            <a:off x="8789229" y="4916981"/>
            <a:ext cx="251901" cy="0"/>
          </a:xfrm>
          <a:prstGeom prst="straightConnector1">
            <a:avLst/>
          </a:prstGeom>
          <a:ln>
            <a:solidFill>
              <a:schemeClr val="bg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3278858" y="3799010"/>
            <a:ext cx="3497664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90000"/>
                  </a:schemeClr>
                </a:solidFill>
              </a:rPr>
              <a:t>Summary</a:t>
            </a:r>
            <a:endParaRPr lang="en-US" altLang="zh-CN" dirty="0">
              <a:solidFill>
                <a:schemeClr val="bg2">
                  <a:lumMod val="90000"/>
                </a:schemeClr>
              </a:solidFill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247265" y="5744210"/>
            <a:ext cx="7701915" cy="411487"/>
            <a:chOff x="4418" y="9660"/>
            <a:chExt cx="12129" cy="648"/>
          </a:xfrm>
        </p:grpSpPr>
        <p:grpSp>
          <p:nvGrpSpPr>
            <p:cNvPr id="52" name="组合 51"/>
            <p:cNvGrpSpPr/>
            <p:nvPr/>
          </p:nvGrpSpPr>
          <p:grpSpPr>
            <a:xfrm>
              <a:off x="11395" y="9670"/>
              <a:ext cx="5152" cy="638"/>
              <a:chOff x="4237960" y="6007162"/>
              <a:chExt cx="3271483" cy="405180"/>
            </a:xfrm>
          </p:grpSpPr>
          <p:sp>
            <p:nvSpPr>
              <p:cNvPr id="46" name="文本框 45"/>
              <p:cNvSpPr txBox="1"/>
              <p:nvPr/>
            </p:nvSpPr>
            <p:spPr>
              <a:xfrm>
                <a:off x="4557309" y="6075150"/>
                <a:ext cx="558245" cy="337185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05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7" name="直接连接符 46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8" name="文本框 47"/>
              <p:cNvSpPr txBox="1"/>
              <p:nvPr/>
            </p:nvSpPr>
            <p:spPr>
              <a:xfrm>
                <a:off x="5754254" y="6075143"/>
                <a:ext cx="558245" cy="337192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06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49" name="直接连接符 48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文本框 49"/>
              <p:cNvSpPr txBox="1"/>
              <p:nvPr/>
            </p:nvSpPr>
            <p:spPr>
              <a:xfrm>
                <a:off x="6951198" y="6013554"/>
                <a:ext cx="558245" cy="398788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2000" dirty="0">
                    <a:solidFill>
                      <a:schemeClr val="accent1"/>
                    </a:solidFill>
                    <a:cs typeface="黑体" panose="02010609060101010101" charset="-122"/>
                  </a:rPr>
                  <a:t>07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51" name="直接连接符 50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组合 6"/>
            <p:cNvGrpSpPr/>
            <p:nvPr/>
          </p:nvGrpSpPr>
          <p:grpSpPr>
            <a:xfrm>
              <a:off x="4418" y="9660"/>
              <a:ext cx="6534" cy="640"/>
              <a:chOff x="3360366" y="6007162"/>
              <a:chExt cx="4149077" cy="406542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3360366" y="6075211"/>
                <a:ext cx="558245" cy="337303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01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4557309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02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0" name="直接连接符 9"/>
              <p:cNvCxnSpPr/>
              <p:nvPr/>
            </p:nvCxnSpPr>
            <p:spPr>
              <a:xfrm>
                <a:off x="4237960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文本框 10"/>
              <p:cNvSpPr txBox="1"/>
              <p:nvPr/>
            </p:nvSpPr>
            <p:spPr>
              <a:xfrm>
                <a:off x="5754254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03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2" name="直接连接符 11"/>
              <p:cNvCxnSpPr/>
              <p:nvPr/>
            </p:nvCxnSpPr>
            <p:spPr>
              <a:xfrm>
                <a:off x="5434904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文本框 12"/>
              <p:cNvSpPr txBox="1"/>
              <p:nvPr/>
            </p:nvSpPr>
            <p:spPr>
              <a:xfrm>
                <a:off x="6951198" y="6075150"/>
                <a:ext cx="558245" cy="338554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>
                <a:defPPr>
                  <a:defRPr lang="zh-CN"/>
                </a:defPPr>
                <a:lvl1pPr>
                  <a:defRPr sz="1400">
                    <a:solidFill>
                      <a:srgbClr val="DDBC6C"/>
                    </a:solidFill>
                    <a:latin typeface="+mj-lt"/>
                    <a:ea typeface="+mj-ea"/>
                  </a:defRPr>
                </a:lvl1pPr>
              </a:lstStyle>
              <a:p>
                <a:pPr algn="ctr"/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cs typeface="黑体" panose="02010609060101010101" charset="-122"/>
                  </a:rPr>
                  <a:t>04</a:t>
                </a:r>
                <a:endParaRPr lang="zh-CN" altLang="en-US" sz="1600" dirty="0">
                  <a:solidFill>
                    <a:schemeClr val="bg2">
                      <a:lumMod val="25000"/>
                    </a:schemeClr>
                  </a:solidFill>
                  <a:cs typeface="黑体" panose="02010609060101010101" charset="-122"/>
                </a:endParaRPr>
              </a:p>
            </p:txBody>
          </p:sp>
          <p:cxnSp>
            <p:nvCxnSpPr>
              <p:cNvPr id="14" name="直接连接符 13"/>
              <p:cNvCxnSpPr/>
              <p:nvPr/>
            </p:nvCxnSpPr>
            <p:spPr>
              <a:xfrm>
                <a:off x="6631849" y="6007162"/>
                <a:ext cx="0" cy="382495"/>
              </a:xfrm>
              <a:prstGeom prst="line">
                <a:avLst/>
              </a:prstGeom>
              <a:ln>
                <a:solidFill>
                  <a:schemeClr val="tx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6" name="弧形 15"/>
          <p:cNvSpPr/>
          <p:nvPr/>
        </p:nvSpPr>
        <p:spPr>
          <a:xfrm>
            <a:off x="-1511578" y="2163466"/>
            <a:ext cx="3390361" cy="3390361"/>
          </a:xfrm>
          <a:prstGeom prst="arc">
            <a:avLst>
              <a:gd name="adj1" fmla="val 16280164"/>
              <a:gd name="adj2" fmla="val 5418474"/>
            </a:avLst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19" name="椭圆 18"/>
          <p:cNvSpPr/>
          <p:nvPr>
            <p:custDataLst>
              <p:tags r:id="rId2"/>
            </p:custDataLst>
          </p:nvPr>
        </p:nvSpPr>
        <p:spPr>
          <a:xfrm>
            <a:off x="1529408" y="2883983"/>
            <a:ext cx="236584" cy="236584"/>
          </a:xfrm>
          <a:prstGeom prst="ellipse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20" name="椭圆 19"/>
          <p:cNvSpPr/>
          <p:nvPr>
            <p:custDataLst>
              <p:tags r:id="rId3"/>
            </p:custDataLst>
          </p:nvPr>
        </p:nvSpPr>
        <p:spPr>
          <a:xfrm>
            <a:off x="1529408" y="4544238"/>
            <a:ext cx="236584" cy="236584"/>
          </a:xfrm>
          <a:prstGeom prst="ellipse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815816" y="2190110"/>
            <a:ext cx="236584" cy="236584"/>
          </a:xfrm>
          <a:prstGeom prst="ellipse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23" name="椭圆 22"/>
          <p:cNvSpPr/>
          <p:nvPr>
            <p:custDataLst>
              <p:tags r:id="rId5"/>
            </p:custDataLst>
          </p:nvPr>
        </p:nvSpPr>
        <p:spPr>
          <a:xfrm>
            <a:off x="815816" y="5225410"/>
            <a:ext cx="236584" cy="236584"/>
          </a:xfrm>
          <a:prstGeom prst="ellipse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31" name="矩形 30"/>
          <p:cNvSpPr/>
          <p:nvPr>
            <p:custDataLst>
              <p:tags r:id="rId6"/>
            </p:custDataLst>
          </p:nvPr>
        </p:nvSpPr>
        <p:spPr>
          <a:xfrm>
            <a:off x="1203732" y="1929941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</a:pPr>
            <a:r>
              <a:rPr lang="zh-CN" altLang="en-US" sz="2400" dirty="0">
                <a:solidFill>
                  <a:srgbClr val="3B3838"/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目标检测技术的学习</a:t>
            </a:r>
            <a:endParaRPr lang="zh-CN" altLang="en-US" sz="2400" dirty="0">
              <a:solidFill>
                <a:srgbClr val="3B3838"/>
              </a:solidFill>
              <a:latin typeface="+mj-ea"/>
              <a:ea typeface="+mj-ea"/>
              <a:cs typeface="黑体" panose="02010609060101010101" charset="-122"/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7"/>
            </p:custDataLst>
          </p:nvPr>
        </p:nvSpPr>
        <p:spPr>
          <a:xfrm>
            <a:off x="4406900" y="1710055"/>
            <a:ext cx="6308725" cy="730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通过学习和应用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YOLOv5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等深度学习目标检测算法，我们更加深入地理解了如何在不同的输入数据（图片、视频等）中实现实时目标检测。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8"/>
            </p:custDataLst>
          </p:nvPr>
        </p:nvSpPr>
        <p:spPr>
          <a:xfrm>
            <a:off x="676406" y="2199636"/>
            <a:ext cx="505466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bg1"/>
                </a:solidFill>
                <a:cs typeface="黑体" panose="02010609060101010101" charset="-122"/>
              </a:rPr>
              <a:t>01</a:t>
            </a:r>
            <a:endParaRPr lang="en-US" altLang="zh-CN" sz="8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9"/>
            </p:custDataLst>
          </p:nvPr>
        </p:nvSpPr>
        <p:spPr>
          <a:xfrm>
            <a:off x="676406" y="5242575"/>
            <a:ext cx="505466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bg1"/>
                </a:solidFill>
                <a:cs typeface="黑体" panose="02010609060101010101" charset="-122"/>
              </a:rPr>
              <a:t>05</a:t>
            </a:r>
            <a:endParaRPr lang="en-US" altLang="zh-CN" sz="8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0"/>
            </p:custDataLst>
          </p:nvPr>
        </p:nvSpPr>
        <p:spPr>
          <a:xfrm>
            <a:off x="1394967" y="4556536"/>
            <a:ext cx="505466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bg1"/>
                </a:solidFill>
                <a:cs typeface="黑体" panose="02010609060101010101" charset="-122"/>
              </a:rPr>
              <a:t>04</a:t>
            </a:r>
            <a:endParaRPr lang="en-US" altLang="zh-CN" sz="8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11"/>
            </p:custDataLst>
          </p:nvPr>
        </p:nvSpPr>
        <p:spPr>
          <a:xfrm>
            <a:off x="1394967" y="2898272"/>
            <a:ext cx="505466" cy="21544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bg1"/>
                </a:solidFill>
                <a:cs typeface="黑体" panose="02010609060101010101" charset="-122"/>
              </a:rPr>
              <a:t>02</a:t>
            </a:r>
            <a:endParaRPr lang="en-US" altLang="zh-CN" sz="8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662270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收获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2269" y="1140346"/>
            <a:ext cx="4102476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Gains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椭圆 3"/>
          <p:cNvSpPr/>
          <p:nvPr>
            <p:custDataLst>
              <p:tags r:id="rId12"/>
            </p:custDataLst>
          </p:nvPr>
        </p:nvSpPr>
        <p:spPr>
          <a:xfrm>
            <a:off x="1765776" y="3713475"/>
            <a:ext cx="236584" cy="236584"/>
          </a:xfrm>
          <a:prstGeom prst="ellipse">
            <a:avLst/>
          </a:prstGeom>
          <a:solidFill>
            <a:schemeClr val="accent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1626366" y="3723001"/>
            <a:ext cx="505466" cy="21399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800" dirty="0">
                <a:solidFill>
                  <a:schemeClr val="bg1"/>
                </a:solidFill>
                <a:cs typeface="黑体" panose="02010609060101010101" charset="-122"/>
              </a:rPr>
              <a:t>03</a:t>
            </a:r>
            <a:endParaRPr lang="en-US" altLang="zh-CN" sz="800" dirty="0">
              <a:solidFill>
                <a:schemeClr val="bg1"/>
              </a:solidFill>
              <a:cs typeface="黑体" panose="02010609060101010101" charset="-122"/>
            </a:endParaRPr>
          </a:p>
        </p:txBody>
      </p:sp>
      <p:sp>
        <p:nvSpPr>
          <p:cNvPr id="6" name="矩形 5"/>
          <p:cNvSpPr/>
          <p:nvPr>
            <p:custDataLst>
              <p:tags r:id="rId14"/>
            </p:custDataLst>
          </p:nvPr>
        </p:nvSpPr>
        <p:spPr>
          <a:xfrm>
            <a:off x="2001927" y="2784651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  <a:buClrTx/>
              <a:buSzTx/>
              <a:buFontTx/>
            </a:pPr>
            <a:r>
              <a:rPr lang="zh-CN" altLang="en-US" sz="2400" dirty="0">
                <a:solidFill>
                  <a:srgbClr val="3B3838"/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多种输入方式集成的掌握</a:t>
            </a:r>
            <a:endParaRPr lang="zh-CN" altLang="en-US" sz="2400" dirty="0">
              <a:solidFill>
                <a:srgbClr val="3B3838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7" name="矩形 6"/>
          <p:cNvSpPr/>
          <p:nvPr>
            <p:custDataLst>
              <p:tags r:id="rId15"/>
            </p:custDataLst>
          </p:nvPr>
        </p:nvSpPr>
        <p:spPr>
          <a:xfrm>
            <a:off x="2131467" y="3588561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  <a:buClrTx/>
              <a:buSzTx/>
              <a:buFontTx/>
            </a:pPr>
            <a:r>
              <a:rPr lang="zh-CN" altLang="en-US" sz="2400" dirty="0">
                <a:solidFill>
                  <a:srgbClr val="3B3838"/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用户体验优化的训练</a:t>
            </a:r>
            <a:endParaRPr lang="zh-CN" altLang="en-US" sz="2400" dirty="0">
              <a:solidFill>
                <a:srgbClr val="3B3838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8" name="矩形 7"/>
          <p:cNvSpPr/>
          <p:nvPr>
            <p:custDataLst>
              <p:tags r:id="rId16"/>
            </p:custDataLst>
          </p:nvPr>
        </p:nvSpPr>
        <p:spPr>
          <a:xfrm>
            <a:off x="2001927" y="4411521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  <a:buClrTx/>
              <a:buSzTx/>
              <a:buFontTx/>
            </a:pPr>
            <a:r>
              <a:rPr lang="zh-CN" altLang="en-US" sz="2400" dirty="0">
                <a:solidFill>
                  <a:srgbClr val="3B3838"/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视频获取的应用</a:t>
            </a:r>
            <a:endParaRPr lang="zh-CN" altLang="en-US" sz="2400" dirty="0">
              <a:solidFill>
                <a:srgbClr val="3B3838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9" name="矩形 8"/>
          <p:cNvSpPr/>
          <p:nvPr>
            <p:custDataLst>
              <p:tags r:id="rId17"/>
            </p:custDataLst>
          </p:nvPr>
        </p:nvSpPr>
        <p:spPr>
          <a:xfrm>
            <a:off x="1326922" y="5233211"/>
            <a:ext cx="4612350" cy="49720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10000"/>
              </a:lnSpc>
              <a:buClrTx/>
              <a:buSzTx/>
              <a:buFontTx/>
            </a:pPr>
            <a:r>
              <a:rPr lang="zh-CN" altLang="en-US" sz="2400" dirty="0">
                <a:solidFill>
                  <a:srgbClr val="3B3838"/>
                </a:solidFill>
                <a:latin typeface="+mj-ea"/>
                <a:ea typeface="+mj-ea"/>
                <a:cs typeface="黑体" panose="02010609060101010101" charset="-122"/>
                <a:sym typeface="+mn-ea"/>
              </a:rPr>
              <a:t>综合编程能力的提升</a:t>
            </a:r>
            <a:endParaRPr lang="zh-CN" altLang="en-US" sz="2400" dirty="0">
              <a:solidFill>
                <a:srgbClr val="3B3838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10" name="矩形 9"/>
          <p:cNvSpPr/>
          <p:nvPr>
            <p:custDataLst>
              <p:tags r:id="rId18"/>
            </p:custDataLst>
          </p:nvPr>
        </p:nvSpPr>
        <p:spPr>
          <a:xfrm>
            <a:off x="5615940" y="2531745"/>
            <a:ext cx="630936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结合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OpenCV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与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PySide6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，我们成功地将图像、摄像头视频、以及视频的检测功能结合在一个应用程序中，提高了项目的灵活性与适应性。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19"/>
            </p:custDataLst>
          </p:nvPr>
        </p:nvSpPr>
        <p:spPr>
          <a:xfrm>
            <a:off x="5273675" y="3515995"/>
            <a:ext cx="630936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通过精心设计的用户界面，用户能够轻松选择不同的检测模式，并实时查看结果，提升了系统的可用性与交互性。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20"/>
            </p:custDataLst>
          </p:nvPr>
        </p:nvSpPr>
        <p:spPr>
          <a:xfrm>
            <a:off x="4940300" y="4392295"/>
            <a:ext cx="630936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通过爬虫技术实现了从网页（如</a:t>
            </a:r>
            <a:r>
              <a:rPr lang="en-US" altLang="zh-CN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B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站）获取视频的功能，这为后续视频数据的处理和分析提供了更广泛的应用场景。</a:t>
            </a:r>
            <a:endParaRPr lang="zh-CN" altLang="en-US" sz="1600" dirty="0">
              <a:solidFill>
                <a:schemeClr val="bg2">
                  <a:lumMod val="50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14" name="矩形 13"/>
          <p:cNvSpPr/>
          <p:nvPr>
            <p:custDataLst>
              <p:tags r:id="rId21"/>
            </p:custDataLst>
          </p:nvPr>
        </p:nvSpPr>
        <p:spPr>
          <a:xfrm>
            <a:off x="4533900" y="5268595"/>
            <a:ext cx="6309360" cy="730885"/>
          </a:xfrm>
          <a:prstGeom prst="rect">
            <a:avLst/>
          </a:prstGeom>
        </p:spPr>
        <p:txBody>
          <a:bodyPr wrap="square">
            <a:spAutoFit/>
          </a:bodyPr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通过尝试不同的参数传输与数据转换，应用</a:t>
            </a:r>
            <a:r>
              <a:rPr lang="zh-CN" altLang="en-US" sz="16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图像处理、视频分析、网络爬虫等多领域知识，培养开发者的跨学科的知识应用能力。</a:t>
            </a:r>
            <a:endParaRPr lang="zh-CN" altLang="en-US" sz="1600" dirty="0">
              <a:latin typeface="华文细黑" panose="02010600040101010101" pitchFamily="2" charset="-122"/>
              <a:ea typeface="华文细黑" panose="0201060004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图片 20" descr="背景图案&#10;&#10;描述已自动生成"/>
          <p:cNvPicPr>
            <a:picLocks noChangeAspect="1"/>
          </p:cNvPicPr>
          <p:nvPr/>
        </p:nvPicPr>
        <p:blipFill>
          <a:blip r:embed="rId1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7" t="46" r="1417" b="46"/>
          <a:stretch>
            <a:fillRect/>
          </a:stretch>
        </p:blipFill>
        <p:spPr>
          <a:xfrm flipV="1"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6858000 h 6858000"/>
              <a:gd name="connsiteX1" fmla="*/ 12192000 w 12192000"/>
              <a:gd name="connsiteY1" fmla="*/ 6858000 h 6858000"/>
              <a:gd name="connsiteX2" fmla="*/ 12192000 w 12192000"/>
              <a:gd name="connsiteY2" fmla="*/ 0 h 6858000"/>
              <a:gd name="connsiteX3" fmla="*/ 0 w 121920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6858000"/>
                </a:moveTo>
                <a:lnTo>
                  <a:pt x="12192000" y="6858000"/>
                </a:lnTo>
                <a:lnTo>
                  <a:pt x="12192000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9" name="矩形 18"/>
          <p:cNvSpPr/>
          <p:nvPr/>
        </p:nvSpPr>
        <p:spPr>
          <a:xfrm>
            <a:off x="515620" y="1804035"/>
            <a:ext cx="11161395" cy="4256405"/>
          </a:xfrm>
          <a:prstGeom prst="rect">
            <a:avLst/>
          </a:prstGeom>
          <a:solidFill>
            <a:schemeClr val="bg1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黑体" panose="02010609060101010101" charset="-122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662305" y="2085975"/>
            <a:ext cx="10769600" cy="3692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      </a:t>
            </a:r>
            <a:r>
              <a: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这个项目的开发过程充满了挑战，也让我们学到了很多关于图像处理、深度学习、爬虫技术以及用户界面设计的知识。我们深感人工智能和计算机视觉领域的前景广阔，而这次的经历让我们更加坚定了深入研究和开发的决心。</a:t>
            </a:r>
            <a:endParaRPr lang="zh-CN" altLang="en-US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      </a:t>
            </a:r>
            <a:r>
              <a: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感谢每一个在这个项目中帮助过我们的人，尤其是提供了模型训练资源的开发者和提供了技术支持的老师。尽管在开发过程中遇到了不少问题，但每一个问题的解决都让我们有了更深的理解与收获。</a:t>
            </a:r>
            <a:endParaRPr lang="zh-CN" altLang="en-US" sz="2000" dirty="0">
              <a:solidFill>
                <a:schemeClr val="tx1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en-US" altLang="zh-CN" sz="2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       </a:t>
            </a:r>
            <a:r>
              <a:rPr lang="zh-CN" altLang="en-US" sz="2000" dirty="0">
                <a:latin typeface="华文细黑" panose="02010600040101010101" pitchFamily="2" charset="-122"/>
                <a:ea typeface="华文细黑" panose="02010600040101010101" pitchFamily="2" charset="-122"/>
                <a:sym typeface="+mn-ea"/>
              </a:rPr>
              <a:t>未来，我们希望能够继续优化这个项目，提升其准确性和效率，并且将更多创新性的功能整合到系统中。人工智能的应用还远不止于此，智能分拣、自动识别、智慧物流等领域将成为未来发展的重要方向，而我们也将不断学习和努力，推动这些技术的实践与应用。</a:t>
            </a:r>
            <a:endParaRPr lang="zh-CN" altLang="en-US" sz="2000" dirty="0">
              <a:solidFill>
                <a:schemeClr val="bg2">
                  <a:lumMod val="75000"/>
                </a:schemeClr>
              </a:solidFill>
              <a:latin typeface="华文细黑" panose="02010600040101010101" pitchFamily="2" charset="-122"/>
              <a:ea typeface="华文细黑" panose="02010600040101010101" pitchFamily="2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62270" y="390076"/>
            <a:ext cx="3744792" cy="8115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3600" dirty="0">
                <a:solidFill>
                  <a:schemeClr val="accent1"/>
                </a:solidFill>
                <a:latin typeface="+mj-ea"/>
                <a:ea typeface="+mj-ea"/>
              </a:rPr>
              <a:t>感言</a:t>
            </a:r>
            <a:endParaRPr kumimoji="1" lang="zh-CN" altLang="en-US" sz="3600" dirty="0">
              <a:solidFill>
                <a:schemeClr val="accent1"/>
              </a:solidFill>
              <a:latin typeface="+mj-ea"/>
              <a:ea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2269" y="1140346"/>
            <a:ext cx="4102476" cy="33718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60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+mj-ea"/>
              </a:defRPr>
            </a:lvl1pPr>
          </a:lstStyle>
          <a:p>
            <a:r>
              <a:rPr lang="en-US" altLang="zh-CN" dirty="0">
                <a:solidFill>
                  <a:schemeClr val="bg2">
                    <a:lumMod val="25000"/>
                  </a:schemeClr>
                </a:solidFill>
              </a:rPr>
              <a:t>Testimonials</a:t>
            </a:r>
            <a:endParaRPr lang="en-US" altLang="zh-CN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 descr="背景图案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834" b="91"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矩形 1"/>
          <p:cNvSpPr/>
          <p:nvPr/>
        </p:nvSpPr>
        <p:spPr>
          <a:xfrm>
            <a:off x="1961528" y="2494410"/>
            <a:ext cx="8126069" cy="14082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kumimoji="1" lang="zh-CN" altLang="en-US" sz="7200" dirty="0">
                <a:solidFill>
                  <a:schemeClr val="accent1"/>
                </a:solidFill>
                <a:latin typeface="+mj-ea"/>
                <a:ea typeface="+mj-ea"/>
                <a:cs typeface="黑体" panose="02010609060101010101" charset="-122"/>
              </a:rPr>
              <a:t>感谢你的观看</a:t>
            </a:r>
            <a:endParaRPr kumimoji="1" lang="zh-CN" altLang="en-US" sz="7200" dirty="0">
              <a:solidFill>
                <a:schemeClr val="accent1"/>
              </a:solidFill>
              <a:latin typeface="+mj-ea"/>
              <a:ea typeface="+mj-ea"/>
              <a:cs typeface="黑体" panose="02010609060101010101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468254" y="1684987"/>
            <a:ext cx="5255492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>
            <a:defPPr>
              <a:defRPr lang="zh-CN"/>
            </a:defPPr>
            <a:lvl1pPr>
              <a:defRPr sz="1400">
                <a:solidFill>
                  <a:srgbClr val="DDBC6C"/>
                </a:solidFill>
                <a:latin typeface="+mj-lt"/>
                <a:ea typeface="+mj-ea"/>
              </a:defRPr>
            </a:lvl1pPr>
          </a:lstStyle>
          <a:p>
            <a:pPr algn="ctr"/>
            <a:r>
              <a:rPr lang="en-US" altLang="zh-CN" sz="5400" dirty="0">
                <a:solidFill>
                  <a:schemeClr val="bg2">
                    <a:lumMod val="25000"/>
                  </a:schemeClr>
                </a:solidFill>
                <a:cs typeface="黑体" panose="02010609060101010101" charset="-122"/>
              </a:rPr>
              <a:t>Thank You</a:t>
            </a:r>
            <a:endParaRPr lang="zh-CN" altLang="en-US" sz="5400" dirty="0">
              <a:solidFill>
                <a:schemeClr val="bg2">
                  <a:lumMod val="25000"/>
                </a:schemeClr>
              </a:solidFill>
              <a:cs typeface="黑体" panose="02010609060101010101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9618692" y="474733"/>
            <a:ext cx="236668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PRESENTATION</a:t>
            </a:r>
            <a:endParaRPr lang="en-US" altLang="zh-CN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  <a:p>
            <a:pPr algn="r"/>
            <a:r>
              <a:rPr lang="en-US" altLang="zh-CN" sz="1400" dirty="0">
                <a:solidFill>
                  <a:schemeClr val="accent1"/>
                </a:solidFill>
                <a:latin typeface="+mj-lt"/>
                <a:cs typeface="黑体" panose="02010609060101010101" charset="-122"/>
              </a:rPr>
              <a:t>//SLIDE</a:t>
            </a:r>
            <a:endParaRPr lang="zh-CN" altLang="en-US" sz="1400" dirty="0">
              <a:solidFill>
                <a:schemeClr val="accent1"/>
              </a:solidFill>
              <a:latin typeface="+mj-lt"/>
              <a:cs typeface="黑体" panose="02010609060101010101" charset="-122"/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2858135" y="4407535"/>
            <a:ext cx="6402070" cy="612140"/>
            <a:chOff x="4501" y="6120"/>
            <a:chExt cx="10082" cy="964"/>
          </a:xfrm>
        </p:grpSpPr>
        <p:sp>
          <p:nvSpPr>
            <p:cNvPr id="24" name="矩形: 圆角 3"/>
            <p:cNvSpPr/>
            <p:nvPr/>
          </p:nvSpPr>
          <p:spPr>
            <a:xfrm>
              <a:off x="4501" y="6120"/>
              <a:ext cx="10082" cy="964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25" name="矩形: 圆角 4"/>
            <p:cNvSpPr/>
            <p:nvPr/>
          </p:nvSpPr>
          <p:spPr>
            <a:xfrm>
              <a:off x="9890" y="6241"/>
              <a:ext cx="4127" cy="72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黑体" panose="02010609060101010101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5200" y="6287"/>
              <a:ext cx="2768" cy="628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>
              <a:defPPr>
                <a:defRPr lang="zh-CN"/>
              </a:defPPr>
              <a:lvl1pPr>
                <a:defRPr sz="1600">
                  <a:solidFill>
                    <a:schemeClr val="tx2">
                      <a:lumMod val="60000"/>
                      <a:lumOff val="40000"/>
                    </a:schemeClr>
                  </a:solidFill>
                  <a:latin typeface="+mj-lt"/>
                  <a:ea typeface="+mj-ea"/>
                </a:defRPr>
              </a:lvl1pPr>
            </a:lstStyle>
            <a:p>
              <a:r>
                <a:rPr lang="zh-CN" altLang="en-US" sz="2000" dirty="0">
                  <a:solidFill>
                    <a:schemeClr val="bg1"/>
                  </a:solidFill>
                  <a:cs typeface="黑体" panose="02010609060101010101" charset="-122"/>
                </a:rPr>
                <a:t>第</a:t>
              </a:r>
              <a:r>
                <a:rPr lang="en-US" altLang="zh-CN" sz="2000" dirty="0">
                  <a:solidFill>
                    <a:schemeClr val="bg1"/>
                  </a:solidFill>
                  <a:cs typeface="黑体" panose="02010609060101010101" charset="-122"/>
                </a:rPr>
                <a:t>11</a:t>
              </a:r>
              <a:r>
                <a:rPr lang="zh-CN" altLang="en-US" sz="2000" dirty="0">
                  <a:solidFill>
                    <a:schemeClr val="bg1"/>
                  </a:solidFill>
                  <a:cs typeface="黑体" panose="02010609060101010101" charset="-122"/>
                </a:rPr>
                <a:t>组</a:t>
              </a:r>
              <a:endParaRPr lang="zh-CN" altLang="en-US" sz="2000" dirty="0">
                <a:solidFill>
                  <a:schemeClr val="bg1"/>
                </a:solidFill>
                <a:cs typeface="黑体" panose="02010609060101010101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2"/>
              </p:custDataLst>
            </p:nvPr>
          </p:nvSpPr>
          <p:spPr>
            <a:xfrm>
              <a:off x="10681" y="6360"/>
              <a:ext cx="2545" cy="5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ctr"/>
              <a:r>
                <a:rPr lang="en-US" altLang="zh-CN" sz="1600" dirty="0">
                  <a:solidFill>
                    <a:srgbClr val="3333FF"/>
                  </a:solidFill>
                  <a:latin typeface="+mj-lt"/>
                  <a:ea typeface="+mj-ea"/>
                  <a:cs typeface="黑体" panose="02010609060101010101" charset="-122"/>
                </a:rPr>
                <a:t>The End</a:t>
              </a:r>
              <a:endParaRPr lang="en-US" altLang="zh-CN" sz="1600" dirty="0">
                <a:solidFill>
                  <a:srgbClr val="3333FF"/>
                </a:solidFill>
                <a:latin typeface="+mj-lt"/>
                <a:ea typeface="+mj-ea"/>
                <a:cs typeface="黑体" panose="02010609060101010101" charset="-122"/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 flipV="1">
              <a:off x="7498" y="6606"/>
              <a:ext cx="1326" cy="1"/>
            </a:xfrm>
            <a:prstGeom prst="straightConnector1">
              <a:avLst/>
            </a:prstGeom>
            <a:ln>
              <a:solidFill>
                <a:schemeClr val="bg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PA" val="v5.2.10"/>
</p:tagLst>
</file>

<file path=ppt/tags/tag2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3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4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5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6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7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8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9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10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11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12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13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14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15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16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17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18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19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20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21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22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23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24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25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26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27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28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29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30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31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32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33.xml><?xml version="1.0" encoding="utf-8"?>
<p:tagLst xmlns:p="http://schemas.openxmlformats.org/presentationml/2006/main">
  <p:tag name="KSO_WM_DIAGRAM_VIRTUALLY_FRAME" val="{&quot;height&quot;:138.00937007874012,&quot;left&quot;:72.47133858267716,&quot;top&quot;:258.75992125984254,&quot;width&quot;:825.0565354330708}"/>
</p:tagLst>
</file>

<file path=ppt/tags/tag34.xml><?xml version="1.0" encoding="utf-8"?>
<p:tagLst xmlns:p="http://schemas.openxmlformats.org/presentationml/2006/main">
  <p:tag name="KSO_WM_DIAGRAM_VIRTUALLY_FRAME" val="{&quot;height&quot;:86.60393700787404,&quot;left&quot;:106.3,&quot;top&quot;:238.2,&quot;width&quot;:828.45}"/>
</p:tagLst>
</file>

<file path=ppt/tags/tag35.xml><?xml version="1.0" encoding="utf-8"?>
<p:tagLst xmlns:p="http://schemas.openxmlformats.org/presentationml/2006/main">
  <p:tag name="PA" val="v5.2.10"/>
</p:tagLst>
</file>

<file path=ppt/tags/tag36.xml><?xml version="1.0" encoding="utf-8"?>
<p:tagLst xmlns:p="http://schemas.openxmlformats.org/presentationml/2006/main">
  <p:tag name="PA" val="v5.2.10"/>
</p:tagLst>
</file>

<file path=ppt/tags/tag37.xml><?xml version="1.0" encoding="utf-8"?>
<p:tagLst xmlns:p="http://schemas.openxmlformats.org/presentationml/2006/main">
  <p:tag name="PA" val="v5.2.10"/>
</p:tagLst>
</file>

<file path=ppt/tags/tag38.xml><?xml version="1.0" encoding="utf-8"?>
<p:tagLst xmlns:p="http://schemas.openxmlformats.org/presentationml/2006/main">
  <p:tag name="PA" val="v5.2.10"/>
</p:tagLst>
</file>

<file path=ppt/tags/tag39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40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41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42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43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44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45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46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47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48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49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50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51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52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53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54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55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56.xml><?xml version="1.0" encoding="utf-8"?>
<p:tagLst xmlns:p="http://schemas.openxmlformats.org/presentationml/2006/main">
  <p:tag name="KSO_WM_DIAGRAM_VIRTUALLY_FRAME" val="{&quot;height&quot;:231.77622047244094,&quot;left&quot;:61.66921259842521,&quot;top&quot;:318.4503937007874,&quot;width&quot;:863.5945669291337}"/>
</p:tagLst>
</file>

<file path=ppt/tags/tag57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58.xml><?xml version="1.0" encoding="utf-8"?>
<p:tagLst xmlns:p="http://schemas.openxmlformats.org/presentationml/2006/main">
  <p:tag name="PA" val="v5.2.10"/>
  <p:tag name="KSO_WM_DIAGRAM_VIRTUALLY_FRAME" val="{&quot;height&quot;:231.77622047244094,&quot;left&quot;:61.66921259842521,&quot;top&quot;:318.4503937007874,&quot;width&quot;:863.5945669291337}"/>
</p:tagLst>
</file>

<file path=ppt/tags/tag59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0.xml><?xml version="1.0" encoding="utf-8"?>
<p:tagLst xmlns:p="http://schemas.openxmlformats.org/presentationml/2006/main">
  <p:tag name="KSO_WM_DIAGRAM_VIRTUALLY_FRAME" val="{&quot;height&quot;:304.4408661417323,&quot;left&quot;:51.4903937007874,&quot;top&quot;:188.99811023622047,&quot;width&quot;:853.3776377952756}"/>
</p:tagLst>
</file>

<file path=ppt/tags/tag61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2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3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4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5.xml><?xml version="1.0" encoding="utf-8"?>
<p:tagLst xmlns:p="http://schemas.openxmlformats.org/presentationml/2006/main">
  <p:tag name="KSO_WM_DIAGRAM_VIRTUALLY_FRAME" val="{&quot;height&quot;:304.4408661417323,&quot;left&quot;:51.4903937007874,&quot;top&quot;:188.99811023622047,&quot;width&quot;:853.3776377952756}"/>
</p:tagLst>
</file>

<file path=ppt/tags/tag66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7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8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69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0.xml><?xml version="1.0" encoding="utf-8"?>
<p:tagLst xmlns:p="http://schemas.openxmlformats.org/presentationml/2006/main">
  <p:tag name="KSO_WM_DIAGRAM_VIRTUALLY_FRAME" val="{&quot;height&quot;:304.4408661417323,&quot;left&quot;:51.4903937007874,&quot;top&quot;:188.99811023622047,&quot;width&quot;:853.3776377952756}"/>
</p:tagLst>
</file>

<file path=ppt/tags/tag71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2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3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4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5.xml><?xml version="1.0" encoding="utf-8"?>
<p:tagLst xmlns:p="http://schemas.openxmlformats.org/presentationml/2006/main">
  <p:tag name="KSO_WM_DIAGRAM_VIRTUALLY_FRAME" val="{&quot;height&quot;:304.4408661417323,&quot;left&quot;:51.4903937007874,&quot;top&quot;:188.99811023622047,&quot;width&quot;:853.3776377952756}"/>
</p:tagLst>
</file>

<file path=ppt/tags/tag76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7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8.xml><?xml version="1.0" encoding="utf-8"?>
<p:tagLst xmlns:p="http://schemas.openxmlformats.org/presentationml/2006/main">
  <p:tag name="KSO_WM_DIAGRAM_VIRTUALLY_FRAME" val="{&quot;height&quot;:372.27850393700794,&quot;left&quot;:55.1,&quot;top&quot;:177.94811023622043,&quot;width&quot;:870.163779527559}"/>
</p:tagLst>
</file>

<file path=ppt/tags/tag79.xml><?xml version="1.0" encoding="utf-8"?>
<p:tagLst xmlns:p="http://schemas.openxmlformats.org/presentationml/2006/main">
  <p:tag name="PA" val="v5.2.10"/>
  <p:tag name="KSO_WM_DIAGRAM_VIRTUALLY_FRAME" val="{&quot;height&quot;:372.27850393700794,&quot;left&quot;:55.1,&quot;top&quot;:177.94811023622043,&quot;width&quot;:870.163779527559}"/>
</p:tagLst>
</file>

<file path=ppt/tags/tag80.xml><?xml version="1.0" encoding="utf-8"?>
<p:tagLst xmlns:p="http://schemas.openxmlformats.org/presentationml/2006/main">
  <p:tag name="PA" val="v5.2.10"/>
  <p:tag name="KSO_WM_DIAGRAM_VIRTUALLY_FRAME" val="{&quot;height&quot;:372.27850393700794,&quot;left&quot;:55.1,&quot;top&quot;:177.94811023622043,&quot;width&quot;:870.163779527559}"/>
</p:tagLst>
</file>

<file path=ppt/tags/tag81.xml><?xml version="1.0" encoding="utf-8"?>
<p:tagLst xmlns:p="http://schemas.openxmlformats.org/presentationml/2006/main">
  <p:tag name="PA" val="v5.2.10"/>
  <p:tag name="KSO_WM_DIAGRAM_VIRTUALLY_FRAME" val="{&quot;height&quot;:372.27850393700794,&quot;left&quot;:55.1,&quot;top&quot;:177.94811023622043,&quot;width&quot;:870.163779527559}"/>
</p:tagLst>
</file>

<file path=ppt/tags/tag82.xml><?xml version="1.0" encoding="utf-8"?>
<p:tagLst xmlns:p="http://schemas.openxmlformats.org/presentationml/2006/main">
  <p:tag name="PA" val="v5.2.10"/>
  <p:tag name="KSO_WM_DIAGRAM_VIRTUALLY_FRAME" val="{&quot;height&quot;:372.27850393700794,&quot;left&quot;:55.1,&quot;top&quot;:177.94811023622043,&quot;width&quot;:870.163779527559}"/>
</p:tagLst>
</file>

<file path=ppt/tags/tag83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84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85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86.xml><?xml version="1.0" encoding="utf-8"?>
<p:tagLst xmlns:p="http://schemas.openxmlformats.org/presentationml/2006/main">
  <p:tag name="KSO_WM_DIAGRAM_VIRTUALLY_FRAME" val="{&quot;height&quot;:307.61551181102357,&quot;left&quot;:26.683622047244093,&quot;top&quot;:127.69559055118108,&quot;width&quot;:946.5089763779526}"/>
</p:tagLst>
</file>

<file path=ppt/tags/tag87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88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89.xml><?xml version="1.0" encoding="utf-8"?>
<p:tagLst xmlns:p="http://schemas.openxmlformats.org/presentationml/2006/main">
  <p:tag name="KSO_WM_DIAGRAM_VIRTUALLY_FRAME" val="{&quot;height&quot;:307.61551181102357,&quot;left&quot;:26.683622047244093,&quot;top&quot;:127.69559055118108,&quot;width&quot;:946.5089763779526}"/>
</p:tagLst>
</file>

<file path=ppt/tags/tag90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91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92.xml><?xml version="1.0" encoding="utf-8"?>
<p:tagLst xmlns:p="http://schemas.openxmlformats.org/presentationml/2006/main">
  <p:tag name="KSO_WM_DIAGRAM_VIRTUALLY_FRAME" val="{&quot;height&quot;:307.61551181102357,&quot;left&quot;:26.683622047244093,&quot;top&quot;:127.69559055118108,&quot;width&quot;:946.5089763779526}"/>
</p:tagLst>
</file>

<file path=ppt/tags/tag93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94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95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96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97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98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99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00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01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02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03.xml><?xml version="1.0" encoding="utf-8"?>
<p:tagLst xmlns:p="http://schemas.openxmlformats.org/presentationml/2006/main">
  <p:tag name="KSO_WM_DIAGRAM_VIRTUALLY_FRAME" val="{&quot;height&quot;:307.61551181102357,&quot;left&quot;:26.683622047244093,&quot;top&quot;:127.69559055118108,&quot;width&quot;:946.5089763779526}"/>
</p:tagLst>
</file>

<file path=ppt/tags/tag104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105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106.xml><?xml version="1.0" encoding="utf-8"?>
<p:tagLst xmlns:p="http://schemas.openxmlformats.org/presentationml/2006/main">
  <p:tag name="KSO_WM_DIAGRAM_VIRTUALLY_FRAME" val="{&quot;height&quot;:307.61551181102357,&quot;left&quot;:26.683622047244093,&quot;top&quot;:127.69559055118108,&quot;width&quot;:946.5089763779526}"/>
</p:tagLst>
</file>

<file path=ppt/tags/tag107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108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109.xml><?xml version="1.0" encoding="utf-8"?>
<p:tagLst xmlns:p="http://schemas.openxmlformats.org/presentationml/2006/main">
  <p:tag name="KSO_WM_DIAGRAM_VIRTUALLY_FRAME" val="{&quot;height&quot;:307.61551181102357,&quot;left&quot;:26.683622047244093,&quot;top&quot;:127.69559055118108,&quot;width&quot;:946.5089763779526}"/>
</p:tagLst>
</file>

<file path=ppt/tags/tag110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111.xml><?xml version="1.0" encoding="utf-8"?>
<p:tagLst xmlns:p="http://schemas.openxmlformats.org/presentationml/2006/main">
  <p:tag name="PA" val="v5.2.10"/>
  <p:tag name="KSO_WM_DIAGRAM_VIRTUALLY_FRAME" val="{&quot;height&quot;:383.4000639114577,&quot;left&quot;:25.53362204724408,&quot;top&quot;:107.6,&quot;width&quot;:944.5164000123095}"/>
</p:tagLst>
</file>

<file path=ppt/tags/tag112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13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14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15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16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17.xml><?xml version="1.0" encoding="utf-8"?>
<p:tagLst xmlns:p="http://schemas.openxmlformats.org/presentationml/2006/main">
  <p:tag name="KSO_WM_DIAGRAM_VIRTUALLY_FRAME" val="{&quot;height&quot;:383.4000639114577,&quot;left&quot;:25.53362204724408,&quot;top&quot;:107.6,&quot;width&quot;:944.5164000123095}"/>
</p:tagLst>
</file>

<file path=ppt/tags/tag11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1080_1*q_h_i*1_1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5,&quot;pos&quot;:0.25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1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1080_1*q_h_i*1_2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6,&quot;pos&quot;:0.25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2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1080_1*q_h_i*1_3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7,&quot;pos&quot;:0.25,&quot;transparency&quot;:0},{&quot;brightness&quot;:0,&quot;colorType&quot;:1,&quot;foreColorIndex&quot;:7,&quot;pos&quot;:0.8999999761581421,&quot;transparency&quot;:0}],&quot;type&quot;:3},&quot;glow&quot;:{&quot;colorType&quot;:0},&quot;line&quot;:{&quot;type&quot;:0},&quot;shadow&quot;:{&quot;brightness&quot;:0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2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1080_1*q_h_i*1_1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900000214576721,&quot;transparency&quot;:1},{&quot;brightness&quot;:0,&quot;colorType&quot;:1,&quot;foreColorIndex&quot;:5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2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1080_1*q_h_i*1_2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6,&quot;pos&quot;:0.7900000214576721,&quot;transparency&quot;:1},{&quot;brightness&quot;:0,&quot;colorType&quot;:1,&quot;foreColorIndex&quot;:6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2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1080_1*q_h_i*1_3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7,&quot;pos&quot;:0.7900000214576721,&quot;transparency&quot;:1},{&quot;brightness&quot;:0,&quot;colorType&quot;:1,&quot;foreColorIndex&quot;:7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2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1*q_h_a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UNIT_PLACING_PICTURE_USER_VIEWPORT" val="{&quot;height&quot;:1133.8582677165355,&quot;width&quot;:4423}"/>
  <p:tag name="KSO_WM_UNIT_VALUE" val="1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2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2_1"/>
  <p:tag name="KSO_WM_UNIT_ID" val="diagram20231080_1*q_h_a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2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3_1"/>
  <p:tag name="KSO_WM_UNIT_ID" val="diagram20231080_1*q_h_a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27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1080_1*q_h_x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28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3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3_1"/>
  <p:tag name="KSO_WM_UNIT_ID" val="diagram20231080_1*q_h_x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29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8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2_1"/>
  <p:tag name="KSO_WM_UNIT_ID" val="diagram20231080_1*q_h_x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30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1080_1*q_h_i*1_1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5,&quot;pos&quot;:0.25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31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1080_1*q_h_i*1_2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6,&quot;pos&quot;:0.25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3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1080_1*q_h_i*1_3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7,&quot;pos&quot;:0.25,&quot;transparency&quot;:0},{&quot;brightness&quot;:0,&quot;colorType&quot;:1,&quot;foreColorIndex&quot;:7,&quot;pos&quot;:0.8999999761581421,&quot;transparency&quot;:0}],&quot;type&quot;:3},&quot;glow&quot;:{&quot;colorType&quot;:0},&quot;line&quot;:{&quot;type&quot;:0},&quot;shadow&quot;:{&quot;brightness&quot;:0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3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1080_1*q_h_i*1_1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900000214576721,&quot;transparency&quot;:1},{&quot;brightness&quot;:0,&quot;colorType&quot;:1,&quot;foreColorIndex&quot;:5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3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1080_1*q_h_i*1_2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6,&quot;pos&quot;:0.7900000214576721,&quot;transparency&quot;:1},{&quot;brightness&quot;:0,&quot;colorType&quot;:1,&quot;foreColorIndex&quot;:6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3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1080_1*q_h_i*1_3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7,&quot;pos&quot;:0.7900000214576721,&quot;transparency&quot;:1},{&quot;brightness&quot;:0,&quot;colorType&quot;:1,&quot;foreColorIndex&quot;:7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3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1*q_h_a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UNIT_PLACING_PICTURE_USER_VIEWPORT" val="{&quot;height&quot;:1133.8582677165355,&quot;width&quot;:4423}"/>
  <p:tag name="KSO_WM_UNIT_VALUE" val="1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3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2_1"/>
  <p:tag name="KSO_WM_UNIT_ID" val="diagram20231080_1*q_h_a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3_1"/>
  <p:tag name="KSO_WM_UNIT_ID" val="diagram20231080_1*q_h_a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39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1080_1*q_h_x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40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3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3_1"/>
  <p:tag name="KSO_WM_UNIT_ID" val="diagram20231080_1*q_h_x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41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8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2_1"/>
  <p:tag name="KSO_WM_UNIT_ID" val="diagram20231080_1*q_h_x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42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1080_1*q_h_i*1_1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5,&quot;pos&quot;:0.25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43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1080_1*q_h_i*1_2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6,&quot;pos&quot;:0.25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4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1080_1*q_h_i*1_3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7,&quot;pos&quot;:0.25,&quot;transparency&quot;:0},{&quot;brightness&quot;:0,&quot;colorType&quot;:1,&quot;foreColorIndex&quot;:7,&quot;pos&quot;:0.8999999761581421,&quot;transparency&quot;:0}],&quot;type&quot;:3},&quot;glow&quot;:{&quot;colorType&quot;:0},&quot;line&quot;:{&quot;type&quot;:0},&quot;shadow&quot;:{&quot;brightness&quot;:0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4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1080_1*q_h_i*1_1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900000214576721,&quot;transparency&quot;:1},{&quot;brightness&quot;:0,&quot;colorType&quot;:1,&quot;foreColorIndex&quot;:5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4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1080_1*q_h_i*1_2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6,&quot;pos&quot;:0.7900000214576721,&quot;transparency&quot;:1},{&quot;brightness&quot;:0,&quot;colorType&quot;:1,&quot;foreColorIndex&quot;:6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4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1080_1*q_h_i*1_3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7,&quot;pos&quot;:0.7900000214576721,&quot;transparency&quot;:1},{&quot;brightness&quot;:0,&quot;colorType&quot;:1,&quot;foreColorIndex&quot;:7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4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1*q_h_a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UNIT_PLACING_PICTURE_USER_VIEWPORT" val="{&quot;height&quot;:1133.8582677165355,&quot;width&quot;:4423}"/>
  <p:tag name="KSO_WM_UNIT_VALUE" val="1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4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2_1"/>
  <p:tag name="KSO_WM_UNIT_ID" val="diagram20231080_1*q_h_a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3_1"/>
  <p:tag name="KSO_WM_UNIT_ID" val="diagram20231080_1*q_h_a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51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1080_1*q_h_x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52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3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3_1"/>
  <p:tag name="KSO_WM_UNIT_ID" val="diagram20231080_1*q_h_x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53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8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2_1"/>
  <p:tag name="KSO_WM_UNIT_ID" val="diagram20231080_1*q_h_x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54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1080_1*q_h_i*1_1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5,&quot;pos&quot;:0.25,&quot;transparency&quot;:0},{&quot;brightness&quot;:0,&quot;colorType&quot;:1,&quot;foreColorIndex&quot;:5,&quot;pos&quot;:0.8999999761581421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55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1080_1*q_h_i*1_2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6,&quot;pos&quot;:0.25,&quot;transparency&quot;:0},{&quot;brightness&quot;:0,&quot;colorType&quot;:1,&quot;foreColorIndex&quot;:6,&quot;pos&quot;:0.8999999761581421,&quot;transparency&quot;:0}],&quot;type&quot;:3},&quot;glow&quot;:{&quot;colorType&quot;:0},&quot;line&quot;:{&quot;type&quot;:0},&quot;shadow&quot;:{&quot;brightness&quot;:0,&quot;colorType&quot;:1,&quot;foreColorIndex&quot;:6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56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1080_1*q_h_i*1_3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.4000000059604645,&quot;colorType&quot;:1,&quot;foreColorIndex&quot;:7,&quot;pos&quot;:0.25,&quot;transparency&quot;:0},{&quot;brightness&quot;:0,&quot;colorType&quot;:1,&quot;foreColorIndex&quot;:7,&quot;pos&quot;:0.8999999761581421,&quot;transparency&quot;:0}],&quot;type&quot;:3},&quot;glow&quot;:{&quot;colorType&quot;:0},&quot;line&quot;:{&quot;type&quot;:0},&quot;shadow&quot;:{&quot;brightness&quot;:0,&quot;colorType&quot;:1,&quot;foreColorIndex&quot;:7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3"/>
  <p:tag name="KSO_WM_DIAGRAM_USE_COLOR_VALUE" val="{&quot;color_scheme&quot;:1,&quot;theme_color_indexes&quot;:[9,10,9,10,9,10]}"/>
</p:tagLst>
</file>

<file path=ppt/tags/tag157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1080_1*q_h_i*1_1_1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7900000214576721,&quot;transparency&quot;:1},{&quot;brightness&quot;:0,&quot;colorType&quot;:1,&quot;foreColorIndex&quot;:5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58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1080_1*q_h_i*1_2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6,&quot;pos&quot;:0.7900000214576721,&quot;transparency&quot;:1},{&quot;brightness&quot;:0,&quot;colorType&quot;:1,&quot;foreColorIndex&quot;:6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59.xml><?xml version="1.0" encoding="utf-8"?>
<p:tagLst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1080_1*q_h_i*1_3_2"/>
  <p:tag name="KSO_WM_TEMPLATE_CATEGORY" val="diagram"/>
  <p:tag name="KSO_WM_TEMPLATE_INDEX" val="20231080"/>
  <p:tag name="KSO_WM_UNIT_LAYERLEVEL" val="1_1_1"/>
  <p:tag name="KSO_WM_TAG_VERSION" val="3.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gradient&quot;:[{&quot;brightness&quot;:0,&quot;colorType&quot;:1,&quot;foreColorIndex&quot;:7,&quot;pos&quot;:0.7900000214576721,&quot;transparency&quot;:1},{&quot;brightness&quot;:0,&quot;colorType&quot;:1,&quot;foreColorIndex&quot;:7,&quot;pos&quot;:0,&quot;transparency&quot;:0.5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6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a"/>
  <p:tag name="KSO_WM_UNIT_INDEX" val="1_1_1"/>
  <p:tag name="KSO_WM_UNIT_ID" val="diagram20231080_1*q_h_a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UNIT_PLACING_PICTURE_USER_VIEWPORT" val="{&quot;height&quot;:1133.8582677165355,&quot;width&quot;:4423}"/>
  <p:tag name="KSO_WM_UNIT_VALUE" val="10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6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2_1"/>
  <p:tag name="KSO_WM_UNIT_ID" val="diagram20231080_1*q_h_a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6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q_h_a"/>
  <p:tag name="KSO_WM_UNIT_INDEX" val="1_3_1"/>
  <p:tag name="KSO_WM_UNIT_ID" val="diagram20231080_1*q_h_a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GROUP_CODE" val="q1-1"/>
  <p:tag name="KSO_WM_DIAGRAM_VERSION" val="3"/>
  <p:tag name="KSO_WM_DIAGRAM_COLOR_TRICK" val="4"/>
  <p:tag name="KSO_WM_DIAGRAM_COLOR_TEXT_CAN_REMOVE" val="n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7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此处添加标题"/>
  <p:tag name="KSO_WM_UNIT_TEXT_FILL_FORE_SCHEMECOLOR_INDEX" val="1"/>
  <p:tag name="KSO_WM_UNIT_TEXT_FILL_TYPE" val="1"/>
  <p:tag name="KSO_WM_DIAGRAM_USE_COLOR_VALUE" val="{&quot;color_scheme&quot;:1,&quot;theme_color_indexes&quot;:[9,10,9,10,9,10]}"/>
</p:tagLst>
</file>

<file path=ppt/tags/tag163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1080_1*q_h_x*1_1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64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9*73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3_1"/>
  <p:tag name="KSO_WM_UNIT_ID" val="diagram20231080_1*q_h_x*1_3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65.xml><?xml version="1.0" encoding="utf-8"?>
<p:tagLst xmlns:p="http://schemas.openxmlformats.org/presentationml/2006/main">
  <p:tag name="KSO_WM_DIAGRAM_VERSION" val="3"/>
  <p:tag name="KSO_WM_DIAGRAM_COLOR_TRICK" val="4"/>
  <p:tag name="KSO_WM_DIAGRAM_COLOR_TEXT_CAN_REMOVE" val="n"/>
  <p:tag name="KSO_WM_UNIT_VALUE" val="78*79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2_1"/>
  <p:tag name="KSO_WM_UNIT_ID" val="diagram20231080_1*q_h_x*1_2_1"/>
  <p:tag name="KSO_WM_TEMPLATE_CATEGORY" val="diagram"/>
  <p:tag name="KSO_WM_TEMPLATE_INDEX" val="20231080"/>
  <p:tag name="KSO_WM_UNIT_LAYERLEVEL" val="1_1_1"/>
  <p:tag name="KSO_WM_TAG_VERSION" val="3.0"/>
  <p:tag name="KSO_WM_BEAUTIFY_FLAG" val="#wm#"/>
  <p:tag name="KSO_WM_DIAGRAM_MAX_ITEMCNT" val="6"/>
  <p:tag name="KSO_WM_DIAGRAM_MIN_ITEMCNT" val="3"/>
  <p:tag name="KSO_WM_DIAGRAM_VIRTUALLY_FRAME" val="{&quot;height&quot;:258.2723436279431,&quot;left&quot;:625.2077952755906,&quot;top&quot;:189.37765637205695,&quot;width&quot;:263.232125984252}"/>
  <p:tag name="KSO_WM_DIAGRAM_COLOR_MATCH_VALUE" val="{&quot;shape&quot;:{&quot;fill&quot;:{&quot;gradient&quot;:[{&quot;brightness&quot;:0,&quot;colorType&quot;:2,&quot;pos&quot;:0,&quot;rgb&quot;:&quot;#ffffff&quot;,&quot;transparency&quot;:0},{&quot;brightness&quot;:0,&quot;colorType&quot;:2,&quot;pos&quot;:0.9999899864196777,&quot;rgb&quot;:&quot;#ffffff&quot;,&quot;transparency&quot;:0.4000000059604645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theme_color_indexes&quot;:[9,10,9,10,9,10]}"/>
</p:tagLst>
</file>

<file path=ppt/tags/tag166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67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68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69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0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1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2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3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4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5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6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7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8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79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80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81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82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83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84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85.xml><?xml version="1.0" encoding="utf-8"?>
<p:tagLst xmlns:p="http://schemas.openxmlformats.org/presentationml/2006/main">
  <p:tag name="KSO_WM_DIAGRAM_VIRTUALLY_FRAME" val="{&quot;height&quot;:348.95,&quot;left&quot;:53.2603149606299,&quot;top&quot;:134.65,&quot;width&quot;:885.7396850393701}"/>
</p:tagLst>
</file>

<file path=ppt/tags/tag186.xml><?xml version="1.0" encoding="utf-8"?>
<p:tagLst xmlns:p="http://schemas.openxmlformats.org/presentationml/2006/main">
  <p:tag name="PA" val="v5.2.10"/>
</p:tagLst>
</file>

<file path=ppt/tags/tag187.xml><?xml version="1.0" encoding="utf-8"?>
<p:tagLst xmlns:p="http://schemas.openxmlformats.org/presentationml/2006/main">
  <p:tag name="KSO_WPP_MARK_KEY" val="f86d16d7-b050-40d9-82c6-0f0d41ff7c7b"/>
  <p:tag name="COMMONDATA" val="eyJoZGlkIjoiMjdiYmMzOTdlZTBjNjAyNzhkZmI3ZWE0MjE1NTk5ZmQifQ=="/>
  <p:tag name="resource_record_key" val="{&quot;13&quot;:[4364974]}"/>
  <p:tag name="commondata" val="eyJjb3VudCI6MSwiaGRpZCI6IjI2MGIzYWY4YjViYWYyMjk2YWQ0ZTM5MGI2MjYyY2MwIiwidXNlckNvdW50IjoxfQ=="/>
</p:tagLst>
</file>

<file path=ppt/theme/theme1.xml><?xml version="1.0" encoding="utf-8"?>
<a:theme xmlns:a="http://schemas.openxmlformats.org/drawingml/2006/main" name="Office 主题​​">
  <a:themeElements>
    <a:clrScheme name="Untouch Default">
      <a:dk1>
        <a:srgbClr val="000000"/>
      </a:dk1>
      <a:lt1>
        <a:srgbClr val="FFFFFF"/>
      </a:lt1>
      <a:dk2>
        <a:srgbClr val="303C4E"/>
      </a:dk2>
      <a:lt2>
        <a:srgbClr val="E7E6E6"/>
      </a:lt2>
      <a:accent1>
        <a:srgbClr val="3333FF"/>
      </a:accent1>
      <a:accent2>
        <a:srgbClr val="F7F7F7"/>
      </a:accent2>
      <a:accent3>
        <a:srgbClr val="01B2D4"/>
      </a:accent3>
      <a:accent4>
        <a:srgbClr val="ADCE25"/>
      </a:accent4>
      <a:accent5>
        <a:srgbClr val="8B409A"/>
      </a:accent5>
      <a:accent6>
        <a:srgbClr val="937863"/>
      </a:accent6>
      <a:hlink>
        <a:srgbClr val="0563C1"/>
      </a:hlink>
      <a:folHlink>
        <a:srgbClr val="954F72"/>
      </a:folHlink>
    </a:clrScheme>
    <a:fontScheme name="稻壳儿-黑体常规4">
      <a:majorFont>
        <a:latin typeface="Montserrat ExtraBold"/>
        <a:ea typeface="MiSans Heavy"/>
        <a:cs typeface=""/>
      </a:majorFont>
      <a:minorFont>
        <a:latin typeface="Montserrat"/>
        <a:ea typeface="MiSans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00CC99"/>
        </a:solidFill>
        <a:ln>
          <a:noFill/>
          <a:prstDash val="dash"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黑体"/>
        <a:font script="Hebr" typeface="黑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黑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黑体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黑体"/>
        <a:font script="Hebr" typeface="黑体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黑体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touch Default">
    <a:dk1>
      <a:srgbClr val="000000"/>
    </a:dk1>
    <a:lt1>
      <a:srgbClr val="FFFFFF"/>
    </a:lt1>
    <a:dk2>
      <a:srgbClr val="303C4E"/>
    </a:dk2>
    <a:lt2>
      <a:srgbClr val="E7E6E6"/>
    </a:lt2>
    <a:accent1>
      <a:srgbClr val="3333FF"/>
    </a:accent1>
    <a:accent2>
      <a:srgbClr val="F7F7F7"/>
    </a:accent2>
    <a:accent3>
      <a:srgbClr val="01B2D4"/>
    </a:accent3>
    <a:accent4>
      <a:srgbClr val="ADCE25"/>
    </a:accent4>
    <a:accent5>
      <a:srgbClr val="8B409A"/>
    </a:accent5>
    <a:accent6>
      <a:srgbClr val="937863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3574</Words>
  <Application>WPS 演示</Application>
  <PresentationFormat>宽屏</PresentationFormat>
  <Paragraphs>536</Paragraphs>
  <Slides>26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8" baseType="lpstr">
      <vt:lpstr>Arial</vt:lpstr>
      <vt:lpstr>宋体</vt:lpstr>
      <vt:lpstr>Wingdings</vt:lpstr>
      <vt:lpstr>黑体</vt:lpstr>
      <vt:lpstr>Montserrat</vt:lpstr>
      <vt:lpstr>MiSans Light</vt:lpstr>
      <vt:lpstr>MiSans Heavy</vt:lpstr>
      <vt:lpstr>Montserrat ExtraBold</vt:lpstr>
      <vt:lpstr>微软雅黑</vt:lpstr>
      <vt:lpstr>Arial Unicode MS</vt:lpstr>
      <vt:lpstr>华文细黑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 ming</dc:creator>
  <cp:lastModifiedBy>马欣锐</cp:lastModifiedBy>
  <cp:revision>68</cp:revision>
  <dcterms:created xsi:type="dcterms:W3CDTF">2022-06-27T07:27:00Z</dcterms:created>
  <dcterms:modified xsi:type="dcterms:W3CDTF">2025-09-25T11:30:46Z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464DD68C693F42F68CCCE27242148D01_13</vt:lpwstr>
  </property>
  <property fmtid="{D5CDD505-2E9C-101B-9397-08002B2CF9AE}" pid="3" name="KSOProductBuildVer">
    <vt:lpwstr>2052-12.1.0.16120</vt:lpwstr>
  </property>
  <property fmtid="{D5CDD505-2E9C-101B-9397-08002B2CF9AE}" pid="4" name="KSOTemplateUUID">
    <vt:lpwstr>v1.0_mb_S2Fr+SG0piWknKIjb94Oiw==</vt:lpwstr>
  </property>
</Properties>
</file>